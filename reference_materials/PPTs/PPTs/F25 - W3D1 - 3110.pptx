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2"/>
  </p:notesMasterIdLst>
  <p:handoutMasterIdLst>
    <p:handoutMasterId r:id="rId33"/>
  </p:handoutMasterIdLst>
  <p:sldIdLst>
    <p:sldId id="270" r:id="rId3"/>
    <p:sldId id="271" r:id="rId4"/>
    <p:sldId id="371" r:id="rId5"/>
    <p:sldId id="459" r:id="rId6"/>
    <p:sldId id="473" r:id="rId7"/>
    <p:sldId id="475" r:id="rId8"/>
    <p:sldId id="474" r:id="rId9"/>
    <p:sldId id="460" r:id="rId10"/>
    <p:sldId id="477" r:id="rId11"/>
    <p:sldId id="435" r:id="rId12"/>
    <p:sldId id="478" r:id="rId13"/>
    <p:sldId id="461" r:id="rId14"/>
    <p:sldId id="436" r:id="rId15"/>
    <p:sldId id="480" r:id="rId16"/>
    <p:sldId id="463" r:id="rId17"/>
    <p:sldId id="438" r:id="rId18"/>
    <p:sldId id="464" r:id="rId19"/>
    <p:sldId id="481" r:id="rId20"/>
    <p:sldId id="439" r:id="rId21"/>
    <p:sldId id="456" r:id="rId22"/>
    <p:sldId id="446" r:id="rId23"/>
    <p:sldId id="458" r:id="rId24"/>
    <p:sldId id="479" r:id="rId25"/>
    <p:sldId id="442" r:id="rId26"/>
    <p:sldId id="457" r:id="rId27"/>
    <p:sldId id="472" r:id="rId28"/>
    <p:sldId id="476" r:id="rId29"/>
    <p:sldId id="470" r:id="rId30"/>
    <p:sldId id="40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9F4B14-AE05-407A-BF78-06AE86D6F608}" v="3" dt="2025-09-08T20:45:06.926"/>
    <p1510:client id="{70438A03-823C-4A30-9DD4-1ACC9DB1330B}" v="2" dt="2025-09-08T15:58:38.081"/>
    <p1510:client id="{E74AE87A-960C-4D46-89F6-78CF814FC625}" v="2" dt="2025-09-08T20:22:19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erlitz.com/blog/english-prepositions-place-time-locatio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351112"/>
            <a:ext cx="10476826" cy="504030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things to do while everyone gets here.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Canvas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Course Schedule</a:t>
            </a: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over the Syllabus</a:t>
            </a:r>
            <a:endParaRPr lang="en-US" dirty="0"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buFont typeface="+mj-lt"/>
              <a:buAutoNum type="alphaLcPeriod"/>
            </a:pP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the “Resources” on the front page of Canvas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Be Patient!</a:t>
            </a:r>
          </a:p>
        </p:txBody>
      </p:sp>
    </p:spTree>
    <p:extLst>
      <p:ext uri="{BB962C8B-B14F-4D97-AF65-F5344CB8AC3E}">
        <p14:creationId xmlns:p14="http://schemas.microsoft.com/office/powerpoint/2010/main" val="154495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/>
              <a:t>How is the homework going? </a:t>
            </a:r>
          </a:p>
          <a:p>
            <a:pPr lvl="1">
              <a:lnSpc>
                <a:spcPct val="150000"/>
              </a:lnSpc>
            </a:pPr>
            <a:r>
              <a:rPr lang="en-US" sz="2400" b="0" dirty="0"/>
              <a:t>How long is it taking you?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How is </a:t>
            </a:r>
            <a:r>
              <a:rPr lang="en-US" sz="2400" b="0" i="1" dirty="0"/>
              <a:t>Rhetorical Grammar </a:t>
            </a:r>
            <a:r>
              <a:rPr lang="en-US" sz="2400" b="0" dirty="0"/>
              <a:t>compared to </a:t>
            </a:r>
            <a:r>
              <a:rPr lang="en-US" sz="2400" b="0" i="1" dirty="0"/>
              <a:t>Essentials of Linguistics</a:t>
            </a:r>
            <a:r>
              <a:rPr lang="en-US" sz="2400" b="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Answer Key Posted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Sometimes display weirdly in Canvas. It can be helpful to download them.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Group Notes File Posted</a:t>
            </a:r>
          </a:p>
          <a:p>
            <a:pPr lvl="1">
              <a:lnSpc>
                <a:spcPct val="150000"/>
              </a:lnSpc>
            </a:pPr>
            <a:endParaRPr lang="en-US" sz="2000" b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House Keeping</a:t>
            </a:r>
          </a:p>
        </p:txBody>
      </p:sp>
    </p:spTree>
    <p:extLst>
      <p:ext uri="{BB962C8B-B14F-4D97-AF65-F5344CB8AC3E}">
        <p14:creationId xmlns:p14="http://schemas.microsoft.com/office/powerpoint/2010/main" val="73829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/>
              <a:t>Bonus Opportunity for Class Scribes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Physical Scribe (draw diagrams on board)</a:t>
            </a:r>
          </a:p>
          <a:p>
            <a:pPr lvl="1">
              <a:lnSpc>
                <a:spcPct val="150000"/>
              </a:lnSpc>
            </a:pPr>
            <a:r>
              <a:rPr lang="en-US" b="0" dirty="0"/>
              <a:t>Digital Scribe (add to and edit “Course Notes”)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2 points of bonus each day you fill the role. </a:t>
            </a:r>
          </a:p>
          <a:p>
            <a:pPr lvl="1">
              <a:lnSpc>
                <a:spcPct val="150000"/>
              </a:lnSpc>
            </a:pPr>
            <a:r>
              <a:rPr lang="en-US" i="1" dirty="0"/>
              <a:t>Submit a comment to the relevant Bonus Assignment to earn points.</a:t>
            </a:r>
            <a:endParaRPr lang="en-US" b="0" i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House Keeping</a:t>
            </a:r>
          </a:p>
        </p:txBody>
      </p:sp>
    </p:spTree>
    <p:extLst>
      <p:ext uri="{BB962C8B-B14F-4D97-AF65-F5344CB8AC3E}">
        <p14:creationId xmlns:p14="http://schemas.microsoft.com/office/powerpoint/2010/main" val="116747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1A455-2412-2A88-FF96-C2246647B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648B43-52B3-8A5D-3C92-E6B1637D2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0" i="1" dirty="0"/>
              <a:t>Last night I shot an elephant in my pajamas.</a:t>
            </a:r>
          </a:p>
          <a:p>
            <a:pPr>
              <a:lnSpc>
                <a:spcPct val="150000"/>
              </a:lnSpc>
            </a:pPr>
            <a:r>
              <a:rPr lang="en-US" sz="4000" b="0" i="1" dirty="0"/>
              <a:t>How he got in my pajamas, I will never know.</a:t>
            </a:r>
          </a:p>
          <a:p>
            <a:pPr lvl="1">
              <a:lnSpc>
                <a:spcPct val="150000"/>
              </a:lnSpc>
            </a:pPr>
            <a:r>
              <a:rPr lang="en-US" sz="3000" dirty="0"/>
              <a:t>The sentence changes meaning based on “in my pajamas”</a:t>
            </a:r>
          </a:p>
          <a:p>
            <a:pPr lvl="2">
              <a:lnSpc>
                <a:spcPct val="150000"/>
              </a:lnSpc>
            </a:pPr>
            <a:r>
              <a:rPr lang="en-US" sz="2800" b="0" dirty="0"/>
              <a:t>Adjectival – the elephant is in the pajamas</a:t>
            </a:r>
          </a:p>
          <a:p>
            <a:pPr lvl="2">
              <a:lnSpc>
                <a:spcPct val="150000"/>
              </a:lnSpc>
            </a:pPr>
            <a:r>
              <a:rPr lang="en-US" sz="2800" i="1" dirty="0"/>
              <a:t>Adverbial – the speaker is in the pajamas</a:t>
            </a:r>
            <a:endParaRPr lang="en-US" sz="2800" b="0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1F909B-4D57-9AB1-51FA-CAC39B69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Ambiguity</a:t>
            </a:r>
          </a:p>
        </p:txBody>
      </p:sp>
    </p:spTree>
    <p:extLst>
      <p:ext uri="{BB962C8B-B14F-4D97-AF65-F5344CB8AC3E}">
        <p14:creationId xmlns:p14="http://schemas.microsoft.com/office/powerpoint/2010/main" val="240719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AC87-6404-FCAA-67E8-85EBFE73F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98C182-7E6E-3AC1-E7A2-C05117CD7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4000" b="0" dirty="0"/>
              <a:t>Form = Morphology</a:t>
            </a:r>
          </a:p>
          <a:p>
            <a:pPr lvl="1">
              <a:lnSpc>
                <a:spcPct val="150000"/>
              </a:lnSpc>
            </a:pPr>
            <a:r>
              <a:rPr lang="en-US" sz="3200" b="0" i="1" dirty="0"/>
              <a:t>The structural changes of a word (affixes)</a:t>
            </a:r>
          </a:p>
          <a:p>
            <a:pPr>
              <a:lnSpc>
                <a:spcPct val="150000"/>
              </a:lnSpc>
            </a:pPr>
            <a:r>
              <a:rPr lang="en-US" sz="4000" b="0" dirty="0"/>
              <a:t>Function = Syntax</a:t>
            </a:r>
          </a:p>
          <a:p>
            <a:pPr lvl="1">
              <a:lnSpc>
                <a:spcPct val="150000"/>
              </a:lnSpc>
            </a:pPr>
            <a:r>
              <a:rPr lang="en-US" sz="3000" i="1" dirty="0"/>
              <a:t>The position of the word in a sentence</a:t>
            </a:r>
          </a:p>
          <a:p>
            <a:pPr>
              <a:lnSpc>
                <a:spcPct val="150000"/>
              </a:lnSpc>
            </a:pPr>
            <a:r>
              <a:rPr lang="en-US" sz="3400" b="0" dirty="0"/>
              <a:t>Meaning = Semantics</a:t>
            </a:r>
          </a:p>
          <a:p>
            <a:pPr lvl="1">
              <a:lnSpc>
                <a:spcPct val="150000"/>
              </a:lnSpc>
            </a:pPr>
            <a:r>
              <a:rPr lang="en-US" sz="3000" i="1" dirty="0"/>
              <a:t>The meaning or ideas expressed by a word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C3FF5-6D6F-10B0-6376-0F0C500E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 vs Function</a:t>
            </a:r>
          </a:p>
        </p:txBody>
      </p:sp>
    </p:spTree>
    <p:extLst>
      <p:ext uri="{BB962C8B-B14F-4D97-AF65-F5344CB8AC3E}">
        <p14:creationId xmlns:p14="http://schemas.microsoft.com/office/powerpoint/2010/main" val="72624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9D859-4FC3-3024-3B47-42F767FAD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E22B2-6F97-A784-912E-3D401A08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0" i="1" dirty="0"/>
              <a:t>Doom scrolling adds up super quick.</a:t>
            </a:r>
          </a:p>
          <a:p>
            <a:pPr>
              <a:lnSpc>
                <a:spcPct val="150000"/>
              </a:lnSpc>
            </a:pPr>
            <a:endParaRPr lang="en-US" sz="2800" b="0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86E05E-3017-FC28-BD82-BA45BDFEF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 vs Function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09990A-205B-FE88-10E2-729DB412C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05352"/>
              </p:ext>
            </p:extLst>
          </p:nvPr>
        </p:nvGraphicFramePr>
        <p:xfrm>
          <a:off x="1560996" y="2483224"/>
          <a:ext cx="10476825" cy="2966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5890">
                  <a:extLst>
                    <a:ext uri="{9D8B030D-6E8A-4147-A177-3AD203B41FA5}">
                      <a16:colId xmlns:a16="http://schemas.microsoft.com/office/drawing/2014/main" val="3587778758"/>
                    </a:ext>
                  </a:extLst>
                </a:gridCol>
                <a:gridCol w="1495890">
                  <a:extLst>
                    <a:ext uri="{9D8B030D-6E8A-4147-A177-3AD203B41FA5}">
                      <a16:colId xmlns:a16="http://schemas.microsoft.com/office/drawing/2014/main" val="1490038126"/>
                    </a:ext>
                  </a:extLst>
                </a:gridCol>
                <a:gridCol w="1497009">
                  <a:extLst>
                    <a:ext uri="{9D8B030D-6E8A-4147-A177-3AD203B41FA5}">
                      <a16:colId xmlns:a16="http://schemas.microsoft.com/office/drawing/2014/main" val="1944193088"/>
                    </a:ext>
                  </a:extLst>
                </a:gridCol>
                <a:gridCol w="1277772">
                  <a:extLst>
                    <a:ext uri="{9D8B030D-6E8A-4147-A177-3AD203B41FA5}">
                      <a16:colId xmlns:a16="http://schemas.microsoft.com/office/drawing/2014/main" val="188447226"/>
                    </a:ext>
                  </a:extLst>
                </a:gridCol>
                <a:gridCol w="1716246">
                  <a:extLst>
                    <a:ext uri="{9D8B030D-6E8A-4147-A177-3AD203B41FA5}">
                      <a16:colId xmlns:a16="http://schemas.microsoft.com/office/drawing/2014/main" val="1156350549"/>
                    </a:ext>
                  </a:extLst>
                </a:gridCol>
                <a:gridCol w="1497009">
                  <a:extLst>
                    <a:ext uri="{9D8B030D-6E8A-4147-A177-3AD203B41FA5}">
                      <a16:colId xmlns:a16="http://schemas.microsoft.com/office/drawing/2014/main" val="3418817345"/>
                    </a:ext>
                  </a:extLst>
                </a:gridCol>
                <a:gridCol w="1497009">
                  <a:extLst>
                    <a:ext uri="{9D8B030D-6E8A-4147-A177-3AD203B41FA5}">
                      <a16:colId xmlns:a16="http://schemas.microsoft.com/office/drawing/2014/main" val="1260709291"/>
                    </a:ext>
                  </a:extLst>
                </a:gridCol>
              </a:tblGrid>
              <a:tr h="7415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806177"/>
                  </a:ext>
                </a:extLst>
              </a:tr>
              <a:tr h="7415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 dirty="0">
                          <a:effectLst/>
                          <a:latin typeface="Arial Narrow" panose="020B0606020202030204" pitchFamily="34" charset="0"/>
                        </a:rPr>
                        <a:t>Doom</a:t>
                      </a:r>
                      <a:endParaRPr lang="en-US" sz="3000" b="1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 dirty="0">
                          <a:effectLst/>
                          <a:latin typeface="Arial Narrow" panose="020B0606020202030204" pitchFamily="34" charset="0"/>
                        </a:rPr>
                        <a:t>scrolling</a:t>
                      </a:r>
                      <a:endParaRPr lang="en-US" sz="3000" b="1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>
                          <a:effectLst/>
                          <a:latin typeface="Arial Narrow" panose="020B0606020202030204" pitchFamily="34" charset="0"/>
                        </a:rPr>
                        <a:t>adds</a:t>
                      </a:r>
                      <a:endParaRPr lang="en-US" sz="3000" b="1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 dirty="0">
                          <a:effectLst/>
                          <a:latin typeface="Arial Narrow" panose="020B0606020202030204" pitchFamily="34" charset="0"/>
                        </a:rPr>
                        <a:t>up</a:t>
                      </a:r>
                      <a:endParaRPr lang="en-US" sz="3000" b="1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 dirty="0">
                          <a:effectLst/>
                          <a:latin typeface="Arial Narrow" panose="020B0606020202030204" pitchFamily="34" charset="0"/>
                        </a:rPr>
                        <a:t>super</a:t>
                      </a:r>
                      <a:endParaRPr lang="en-US" sz="3000" b="1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b="1" kern="100" dirty="0">
                          <a:effectLst/>
                          <a:latin typeface="Arial Narrow" panose="020B0606020202030204" pitchFamily="34" charset="0"/>
                        </a:rPr>
                        <a:t>quick.</a:t>
                      </a:r>
                      <a:endParaRPr lang="en-US" sz="3000" b="1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2634614"/>
                  </a:ext>
                </a:extLst>
              </a:tr>
              <a:tr h="7415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Form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Noun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Verb 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Verb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Preposition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Adjective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Adjective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156060"/>
                  </a:ext>
                </a:extLst>
              </a:tr>
              <a:tr h="7415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Function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Adjectival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>
                          <a:effectLst/>
                          <a:latin typeface="Arial Narrow" panose="020B0606020202030204" pitchFamily="34" charset="0"/>
                        </a:rPr>
                        <a:t>Noun</a:t>
                      </a:r>
                      <a:endParaRPr lang="en-US" sz="3000" kern="10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Verb (phrasal verb)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Adverb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3000" kern="100" dirty="0">
                          <a:effectLst/>
                          <a:latin typeface="Arial Narrow" panose="020B0606020202030204" pitchFamily="34" charset="0"/>
                        </a:rPr>
                        <a:t>Adverb</a:t>
                      </a:r>
                      <a:endParaRPr lang="en-US" sz="3000" kern="100" dirty="0">
                        <a:effectLst/>
                        <a:latin typeface="Arial Narrow" panose="020B0606020202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9631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84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9DFD-DD1D-8387-9D3A-7ADBBD96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F235F-362B-7C9D-AF1D-3270AF32F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Nouns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Give an example of a noun in a sentence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Morphology Tests (FORM)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nouns through their form?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Syntax (Function)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nouns through their function?</a:t>
            </a:r>
            <a:endParaRPr lang="en-US" sz="3100" b="0" dirty="0"/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5EFFD-0258-F239-A4C6-3BF0C44E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56417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E8386-ADA9-C040-8E02-9DD73D62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DB80A4-19FF-C86C-C79E-9537218C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Nouns – Morphology Tests (FORM)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Most Nouns can be made Plural: Dog -- Dogs</a:t>
            </a:r>
          </a:p>
          <a:p>
            <a:pPr marL="1143000" lvl="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Note: The plurals of some abstract nouns can seem odd! Think outside the box to find contexts where they might naturally occur.</a:t>
            </a:r>
          </a:p>
          <a:p>
            <a:pPr marL="621792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b="0" dirty="0"/>
              <a:t>Most Nouns be made “possessive” – Bob – Bob’s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C5C478-0A37-700D-3DC3-655E6B3D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74157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Nouns – Syntax Tests (FUNCTION)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follow a determiner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As in: </a:t>
            </a:r>
            <a:r>
              <a:rPr lang="en-US" i="1" dirty="0"/>
              <a:t>an </a:t>
            </a:r>
            <a:r>
              <a:rPr lang="en-US" i="1" u="sng" dirty="0">
                <a:effectLst/>
              </a:rPr>
              <a:t>event</a:t>
            </a:r>
            <a:r>
              <a:rPr lang="en-US" dirty="0"/>
              <a:t> or </a:t>
            </a:r>
            <a:r>
              <a:rPr lang="en-US" i="1" dirty="0"/>
              <a:t>the</a:t>
            </a:r>
            <a:r>
              <a:rPr lang="en-US" dirty="0"/>
              <a:t> </a:t>
            </a:r>
            <a:r>
              <a:rPr lang="en-US" i="1" u="sng" dirty="0">
                <a:effectLst/>
              </a:rPr>
              <a:t>proposal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modified by adjectives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As in: </a:t>
            </a:r>
            <a:r>
              <a:rPr lang="en-US" i="1" dirty="0"/>
              <a:t>a happy </a:t>
            </a:r>
            <a:r>
              <a:rPr lang="en-US" i="1" u="sng" dirty="0">
                <a:effectLst/>
              </a:rPr>
              <a:t>event</a:t>
            </a:r>
            <a:r>
              <a:rPr lang="en-US" dirty="0"/>
              <a:t> or </a:t>
            </a:r>
            <a:r>
              <a:rPr lang="en-US" i="1" dirty="0"/>
              <a:t>the new </a:t>
            </a:r>
            <a:r>
              <a:rPr lang="en-US" i="1" u="sng" dirty="0">
                <a:effectLst/>
              </a:rPr>
              <a:t>proposal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the subject or object of a verb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As in: </a:t>
            </a:r>
            <a:r>
              <a:rPr lang="en-US" i="1" u="sng" dirty="0">
                <a:effectLst/>
              </a:rPr>
              <a:t>Events</a:t>
            </a:r>
            <a:r>
              <a:rPr lang="en-US" i="1" dirty="0"/>
              <a:t> occurred. </a:t>
            </a:r>
            <a:r>
              <a:rPr lang="en-US" dirty="0"/>
              <a:t>or </a:t>
            </a:r>
            <a:r>
              <a:rPr lang="en-US" i="1" dirty="0"/>
              <a:t>We made </a:t>
            </a:r>
            <a:r>
              <a:rPr lang="en-US" i="1" u="sng" dirty="0">
                <a:effectLst/>
              </a:rPr>
              <a:t>proposals</a:t>
            </a:r>
            <a:r>
              <a:rPr lang="en-US" i="1" dirty="0"/>
              <a:t>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replaced by a pronoun 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As in: </a:t>
            </a:r>
            <a:r>
              <a:rPr lang="en-US" i="1" u="sng" dirty="0">
                <a:effectLst/>
              </a:rPr>
              <a:t>Events</a:t>
            </a:r>
            <a:r>
              <a:rPr lang="en-US" i="1" dirty="0"/>
              <a:t> occurred. </a:t>
            </a:r>
            <a:r>
              <a:rPr lang="en-US" dirty="0"/>
              <a:t>→ </a:t>
            </a:r>
            <a:r>
              <a:rPr lang="en-US" i="1" u="sng" dirty="0">
                <a:effectLst/>
              </a:rPr>
              <a:t>They</a:t>
            </a:r>
            <a:r>
              <a:rPr lang="en-US" i="1" dirty="0"/>
              <a:t> occurred.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572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41F5-9DBF-F0A0-28CE-B4A42DC1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8C03C-FB64-5723-BD9C-9A546B921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Verbs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Give an example of a verb in a sentence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Morphology Tests (FORM)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verbs through their form?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Syntax (Function)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verbs through their function?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0AE42F-69AE-671D-DDA2-9153417B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33358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DF65F-7C84-2471-0F1B-BB9793F7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128303-6D1E-7589-8EE4-3A697AAD3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Verbs – Morphology Tests (FORM)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third person singular present tense form with </a:t>
            </a:r>
            <a:r>
              <a:rPr lang="en-US" sz="3200" i="1" dirty="0"/>
              <a:t>-s</a:t>
            </a:r>
            <a:r>
              <a:rPr lang="en-US" sz="3200" dirty="0"/>
              <a:t>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As in: (</a:t>
            </a:r>
            <a:r>
              <a:rPr lang="en-US" sz="3200" i="1" dirty="0"/>
              <a:t>she/he/it</a:t>
            </a:r>
            <a:r>
              <a:rPr lang="en-US" sz="3200" dirty="0"/>
              <a:t>) </a:t>
            </a:r>
            <a:r>
              <a:rPr lang="en-US" sz="3200" i="1" u="sng" dirty="0">
                <a:effectLst/>
              </a:rPr>
              <a:t>kicks</a:t>
            </a:r>
            <a:r>
              <a:rPr lang="en-US" sz="3200" dirty="0"/>
              <a:t>, </a:t>
            </a:r>
            <a:r>
              <a:rPr lang="en-US" sz="3200" i="1" u="sng" dirty="0">
                <a:effectLst/>
              </a:rPr>
              <a:t>goes</a:t>
            </a:r>
            <a:r>
              <a:rPr lang="en-US" sz="3200" dirty="0"/>
              <a:t>, </a:t>
            </a:r>
            <a:r>
              <a:rPr lang="en-US" sz="3200" i="1" u="sng" dirty="0">
                <a:effectLst/>
              </a:rPr>
              <a:t>remains</a:t>
            </a:r>
            <a:endParaRPr lang="en-US" sz="32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past tense form, usually (but not always) with </a:t>
            </a:r>
            <a:r>
              <a:rPr lang="en-US" sz="3200" i="1" dirty="0"/>
              <a:t>-ed</a:t>
            </a:r>
            <a:r>
              <a:rPr lang="en-US" sz="3200" dirty="0"/>
              <a:t>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As in: (</a:t>
            </a:r>
            <a:r>
              <a:rPr lang="en-US" sz="3200" i="1" dirty="0"/>
              <a:t>she/he/it</a:t>
            </a:r>
            <a:r>
              <a:rPr lang="en-US" sz="3200" dirty="0"/>
              <a:t>) </a:t>
            </a:r>
            <a:r>
              <a:rPr lang="en-US" sz="3200" i="1" u="sng" dirty="0">
                <a:effectLst/>
              </a:rPr>
              <a:t>kicked</a:t>
            </a:r>
            <a:r>
              <a:rPr lang="en-US" sz="3200" dirty="0"/>
              <a:t>, </a:t>
            </a:r>
            <a:r>
              <a:rPr lang="en-US" sz="3200" i="1" u="sng" dirty="0">
                <a:effectLst/>
              </a:rPr>
              <a:t>went</a:t>
            </a:r>
            <a:r>
              <a:rPr lang="en-US" sz="3200" dirty="0"/>
              <a:t>, </a:t>
            </a:r>
            <a:r>
              <a:rPr lang="en-US" sz="3200" i="1" u="sng" dirty="0">
                <a:effectLst/>
              </a:rPr>
              <a:t>remained</a:t>
            </a:r>
            <a:endParaRPr lang="en-US" sz="32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Have a progressive form with </a:t>
            </a:r>
            <a:r>
              <a:rPr lang="en-US" sz="3200" i="1" dirty="0"/>
              <a:t>-</a:t>
            </a:r>
            <a:r>
              <a:rPr lang="en-US" sz="3200" i="1" dirty="0" err="1"/>
              <a:t>ing</a:t>
            </a:r>
            <a:r>
              <a:rPr lang="en-US" sz="3200" dirty="0"/>
              <a:t>.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As in: </a:t>
            </a:r>
            <a:r>
              <a:rPr lang="en-US" sz="3200" i="1" u="sng" dirty="0">
                <a:effectLst/>
              </a:rPr>
              <a:t>kicking</a:t>
            </a:r>
            <a:r>
              <a:rPr lang="en-US" sz="3200" dirty="0"/>
              <a:t>, </a:t>
            </a:r>
            <a:r>
              <a:rPr lang="en-US" sz="3200" i="1" u="sng" dirty="0">
                <a:effectLst/>
              </a:rPr>
              <a:t>going</a:t>
            </a:r>
            <a:r>
              <a:rPr lang="en-US" sz="3200" dirty="0"/>
              <a:t>, </a:t>
            </a:r>
            <a:r>
              <a:rPr lang="en-US" sz="3200" i="1" u="sng" dirty="0">
                <a:effectLst/>
              </a:rPr>
              <a:t>remaining</a:t>
            </a:r>
            <a:endParaRPr lang="en-US" sz="3200" dirty="0"/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E2E30B-73CE-00B5-571B-85A881EA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3465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Verbs – Syntax Tests (FUNCTION)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combine with auxiliary verbs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</a:t>
            </a:r>
            <a:r>
              <a:rPr lang="en-US" sz="3000" i="1" dirty="0"/>
              <a:t>can </a:t>
            </a:r>
            <a:r>
              <a:rPr lang="en-US" sz="3000" i="1" u="sng" dirty="0">
                <a:effectLst/>
              </a:rPr>
              <a:t>remain</a:t>
            </a:r>
            <a:r>
              <a:rPr lang="en-US" sz="3000" dirty="0"/>
              <a:t>, </a:t>
            </a:r>
            <a:r>
              <a:rPr lang="en-US" sz="3000" i="1" dirty="0"/>
              <a:t>will </a:t>
            </a:r>
            <a:r>
              <a:rPr lang="en-US" sz="3000" i="1" u="sng" dirty="0">
                <a:effectLst/>
              </a:rPr>
              <a:t>know</a:t>
            </a:r>
            <a:r>
              <a:rPr lang="en-US" sz="3000" dirty="0"/>
              <a:t>, </a:t>
            </a:r>
            <a:r>
              <a:rPr lang="en-US" sz="3000" i="1" dirty="0"/>
              <a:t>have </a:t>
            </a:r>
            <a:r>
              <a:rPr lang="en-US" sz="3000" i="1" u="sng" dirty="0">
                <a:effectLst/>
              </a:rPr>
              <a:t>thought</a:t>
            </a:r>
            <a:r>
              <a:rPr lang="en-US" sz="3000" dirty="0"/>
              <a:t>, </a:t>
            </a:r>
            <a:r>
              <a:rPr lang="en-US" sz="3000" i="1" dirty="0"/>
              <a:t>be </a:t>
            </a:r>
            <a:r>
              <a:rPr lang="en-US" sz="3000" i="1" u="sng" dirty="0">
                <a:effectLst/>
              </a:rPr>
              <a:t>kicking</a:t>
            </a:r>
            <a:endParaRPr lang="en-US" sz="30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follow the infinitive marker </a:t>
            </a:r>
            <a:r>
              <a:rPr lang="en-US" sz="3000" i="1" dirty="0"/>
              <a:t>to</a:t>
            </a:r>
            <a:r>
              <a:rPr lang="en-US" sz="3000" dirty="0"/>
              <a:t>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</a:t>
            </a:r>
            <a:r>
              <a:rPr lang="en-US" sz="3000" i="1" dirty="0"/>
              <a:t>to </a:t>
            </a:r>
            <a:r>
              <a:rPr lang="en-US" sz="3000" i="1" u="sng" dirty="0"/>
              <a:t>kick</a:t>
            </a:r>
            <a:r>
              <a:rPr lang="en-US" sz="3000" dirty="0"/>
              <a:t>, </a:t>
            </a:r>
            <a:r>
              <a:rPr lang="en-US" sz="3000" i="1" dirty="0"/>
              <a:t>to </a:t>
            </a:r>
            <a:r>
              <a:rPr lang="en-US" sz="3000" i="1" u="sng" dirty="0"/>
              <a:t>think</a:t>
            </a:r>
            <a:r>
              <a:rPr lang="en-US" sz="3000" dirty="0"/>
              <a:t>, </a:t>
            </a:r>
            <a:r>
              <a:rPr lang="en-US" sz="3000" i="1" dirty="0"/>
              <a:t>to </a:t>
            </a:r>
            <a:r>
              <a:rPr lang="en-US" sz="3000" i="1" u="sng" dirty="0"/>
              <a:t>remain</a:t>
            </a:r>
            <a:r>
              <a:rPr lang="en-US" sz="3000" i="1" dirty="0"/>
              <a:t>, to </a:t>
            </a:r>
            <a:r>
              <a:rPr lang="en-US" sz="3000" i="1" u="sng" dirty="0">
                <a:effectLst/>
              </a:rPr>
              <a:t>know</a:t>
            </a:r>
            <a:endParaRPr lang="en-US" sz="3000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Can take an object (without a preposition): </a:t>
            </a:r>
          </a:p>
          <a:p>
            <a:pPr marL="989838" lvl="2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000" dirty="0"/>
              <a:t>As in: </a:t>
            </a:r>
            <a:r>
              <a:rPr lang="en-US" sz="3000" i="1" u="sng" dirty="0">
                <a:effectLst/>
              </a:rPr>
              <a:t>kick</a:t>
            </a:r>
            <a:r>
              <a:rPr lang="en-US" sz="3000" i="1" dirty="0"/>
              <a:t> the ball</a:t>
            </a:r>
            <a:r>
              <a:rPr lang="en-US" sz="3000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36943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F1ABA-16C2-F5EF-89E2-4F878FB8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EB5761-7956-948C-C13D-39B16378C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Adjectives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Give an example of an Adjective in a sentence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Morphology Tests (FORM)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Adjectives through their form?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Syntax (Function)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Adjectives through their function?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797FB8-F576-BAB3-69EB-EF085A27D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154684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A103A-2EC7-CAE6-5A8C-6E552958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8535F3-87BA-C2D7-03B1-76429B5F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Adjectives – Morphology Tests (FORM)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Can often be suffixed by </a:t>
            </a:r>
            <a:r>
              <a:rPr lang="en-US" i="1" dirty="0"/>
              <a:t>–</a:t>
            </a:r>
            <a:r>
              <a:rPr lang="en-US" i="1" dirty="0" err="1"/>
              <a:t>ish</a:t>
            </a:r>
            <a:endParaRPr lang="en-US" i="1" dirty="0"/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1" dirty="0"/>
              <a:t>Tall-</a:t>
            </a:r>
            <a:r>
              <a:rPr lang="en-US" sz="2800" i="1" dirty="0" err="1"/>
              <a:t>ish</a:t>
            </a:r>
            <a:r>
              <a:rPr lang="en-US" sz="2800" i="1" dirty="0"/>
              <a:t>, Wealthy-</a:t>
            </a:r>
            <a:r>
              <a:rPr lang="en-US" sz="2800" i="1" dirty="0" err="1"/>
              <a:t>ish</a:t>
            </a:r>
            <a:endParaRPr lang="en-US" sz="2800" i="1" dirty="0"/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i="1" dirty="0"/>
              <a:t>Can sometimes be </a:t>
            </a:r>
            <a:r>
              <a:rPr lang="en-US" i="1" u="sng" dirty="0"/>
              <a:t>changed</a:t>
            </a:r>
            <a:r>
              <a:rPr lang="en-US" i="1" dirty="0"/>
              <a:t> to an adverb with –</a:t>
            </a:r>
            <a:r>
              <a:rPr lang="en-US" i="1" dirty="0" err="1"/>
              <a:t>ly</a:t>
            </a:r>
            <a:endParaRPr lang="en-US" i="1" dirty="0"/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True -- Truly, Sad -- Sadly   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May have comparative and superlative forms (</a:t>
            </a:r>
            <a:r>
              <a:rPr lang="en-US" dirty="0" err="1"/>
              <a:t>gradeable</a:t>
            </a:r>
            <a:r>
              <a:rPr lang="en-US" dirty="0"/>
              <a:t>)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1" dirty="0"/>
              <a:t>Happi</a:t>
            </a:r>
            <a:r>
              <a:rPr lang="en-US" sz="2800" b="1" i="1" dirty="0"/>
              <a:t>er</a:t>
            </a:r>
            <a:r>
              <a:rPr lang="en-US" sz="2800" dirty="0"/>
              <a:t>, </a:t>
            </a:r>
            <a:r>
              <a:rPr lang="en-US" sz="2800" i="1" dirty="0"/>
              <a:t>Happie</a:t>
            </a:r>
            <a:r>
              <a:rPr lang="en-US" sz="2800" b="1" i="1" dirty="0"/>
              <a:t>st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i="0" dirty="0"/>
              <a:t>More spectacular, Most spectacular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AD1628-AC59-D3D1-E73A-7A174AA1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40469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Adjectives – Syntax Tests (FUNCTION)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Modify nouns (occur between determiner and noun) 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As in: </a:t>
            </a:r>
            <a:r>
              <a:rPr lang="en-US" sz="3400" i="1" dirty="0"/>
              <a:t>a </a:t>
            </a:r>
            <a:r>
              <a:rPr lang="en-US" sz="3400" i="1" u="sng" dirty="0">
                <a:effectLst/>
              </a:rPr>
              <a:t>happy</a:t>
            </a:r>
            <a:r>
              <a:rPr lang="en-US" sz="3400" i="1" dirty="0"/>
              <a:t> event</a:t>
            </a:r>
            <a:r>
              <a:rPr lang="en-US" sz="3400" dirty="0"/>
              <a:t> or </a:t>
            </a:r>
            <a:r>
              <a:rPr lang="en-US" sz="3400" i="1" dirty="0"/>
              <a:t>the </a:t>
            </a:r>
            <a:r>
              <a:rPr lang="en-US" sz="3400" i="1" u="sng" dirty="0">
                <a:effectLst/>
              </a:rPr>
              <a:t>new</a:t>
            </a:r>
            <a:r>
              <a:rPr lang="en-US" sz="3400" i="1" dirty="0"/>
              <a:t> proposal</a:t>
            </a:r>
            <a:endParaRPr lang="en-US" sz="34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Can be modified by “</a:t>
            </a:r>
            <a:r>
              <a:rPr lang="en-US" sz="3400" i="1" dirty="0"/>
              <a:t>very”</a:t>
            </a:r>
            <a:r>
              <a:rPr lang="en-US" sz="3400" dirty="0"/>
              <a:t> (but so can many adverbs!) 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/>
              <a:t>As in: </a:t>
            </a:r>
            <a:r>
              <a:rPr lang="en-US" sz="3400" i="1" dirty="0"/>
              <a:t>very </a:t>
            </a:r>
            <a:r>
              <a:rPr lang="en-US" sz="3400" i="1" u="sng" dirty="0">
                <a:effectLst/>
              </a:rPr>
              <a:t>happy</a:t>
            </a:r>
            <a:r>
              <a:rPr lang="en-US" sz="3400" i="1" dirty="0"/>
              <a:t>, very </a:t>
            </a:r>
            <a:r>
              <a:rPr lang="en-US" sz="3400" i="1" u="sng" dirty="0">
                <a:effectLst/>
              </a:rPr>
              <a:t>new</a:t>
            </a:r>
            <a:endParaRPr lang="en-US" sz="34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92530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291A-157A-9B9A-633A-5BCEADD4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0F11C8-2181-8ABF-F1C3-630D1D8B9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Adverbs – Morphology Tests (FORM)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Many (not all) adverbs end in </a:t>
            </a:r>
            <a:r>
              <a:rPr lang="en-US" sz="3500" i="1" dirty="0"/>
              <a:t>–</a:t>
            </a:r>
            <a:r>
              <a:rPr lang="en-US" sz="3500" i="1" dirty="0" err="1"/>
              <a:t>ly</a:t>
            </a:r>
            <a:endParaRPr lang="en-US" sz="3500" i="1" dirty="0"/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Slowly, Happily, Gladly, Usually, Deeply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Can often be changed to an Adjective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Slow, Happy, Glad, Usual, Deep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D155A7-1C24-BAE4-23E2-81D9B929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86208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799C-5A65-89B5-FA05-559FCC2F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67B30A-035A-ABDA-375E-05E56C08D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Adverbs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Give an example of a Adverb in a sentence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Morphology Tests (FORM)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Adverbs through their form?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/>
              <a:t>Syntax (Function)</a:t>
            </a:r>
          </a:p>
          <a:p>
            <a:pPr marL="989838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100" dirty="0"/>
              <a:t>How can we identify Adverbs through their function?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6D83A2-EB94-97DC-61DE-A31D74D3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37673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Adverbs – Syntax Tests (FUNCTION)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/>
              <a:t>Modify verbs, adjectives, adverbs, and whole sentences 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dirty="0"/>
              <a:t>Anything but nouns!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FF0000"/>
                </a:solidFill>
              </a:rPr>
              <a:t>Cannot</a:t>
            </a:r>
            <a:r>
              <a:rPr lang="en-US" sz="3000" dirty="0"/>
              <a:t> </a:t>
            </a:r>
            <a:r>
              <a:rPr lang="en-US" sz="3000" b="0" dirty="0"/>
              <a:t>appear alone between a determiner and a noun.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u="sng" dirty="0">
                <a:solidFill>
                  <a:srgbClr val="FF0000"/>
                </a:solidFill>
              </a:rPr>
              <a:t>slowly</a:t>
            </a:r>
            <a:r>
              <a:rPr lang="en-US" sz="2800" dirty="0"/>
              <a:t> man, an </a:t>
            </a:r>
            <a:r>
              <a:rPr lang="en-US" sz="2800" u="sng" dirty="0">
                <a:solidFill>
                  <a:srgbClr val="FF0000"/>
                </a:solidFill>
              </a:rPr>
              <a:t>often</a:t>
            </a:r>
            <a:r>
              <a:rPr lang="en-US" sz="2800" dirty="0"/>
              <a:t> problem</a:t>
            </a:r>
            <a:endParaRPr lang="en-US" sz="2800" b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000" dirty="0"/>
              <a:t>Adverbs are highly mobile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dirty="0"/>
              <a:t>Can </a:t>
            </a:r>
            <a:r>
              <a:rPr lang="en-US" sz="2400" u="sng" dirty="0"/>
              <a:t>usually</a:t>
            </a:r>
            <a:r>
              <a:rPr lang="en-US" sz="2400" dirty="0"/>
              <a:t> move </a:t>
            </a:r>
            <a:r>
              <a:rPr lang="en-US" sz="2400" u="sng" dirty="0"/>
              <a:t>easily</a:t>
            </a:r>
            <a:r>
              <a:rPr lang="en-US" sz="2400" dirty="0"/>
              <a:t> around the sentence.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u="sng" dirty="0"/>
              <a:t>Usually</a:t>
            </a:r>
            <a:r>
              <a:rPr lang="en-US" sz="2400" dirty="0"/>
              <a:t>, can move around the sentence </a:t>
            </a:r>
            <a:r>
              <a:rPr lang="en-US" sz="2400" u="sng" dirty="0"/>
              <a:t>easily</a:t>
            </a:r>
            <a:r>
              <a:rPr lang="en-US" sz="2400" dirty="0"/>
              <a:t>.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2400" b="0" dirty="0"/>
              <a:t>Can </a:t>
            </a:r>
            <a:r>
              <a:rPr lang="en-US" sz="2400" u="sng" dirty="0"/>
              <a:t>easily</a:t>
            </a:r>
            <a:r>
              <a:rPr lang="en-US" sz="2400" dirty="0"/>
              <a:t> move around the sentence, </a:t>
            </a:r>
            <a:r>
              <a:rPr lang="en-US" sz="2400" u="sng" dirty="0"/>
              <a:t>usually</a:t>
            </a:r>
            <a:r>
              <a:rPr lang="en-US" sz="2400" dirty="0"/>
              <a:t>.</a:t>
            </a:r>
            <a:endParaRPr lang="en-US" sz="2400" b="0" dirty="0"/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24887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60997" y="1265234"/>
            <a:ext cx="10476826" cy="5355485"/>
          </a:xfrm>
        </p:spPr>
        <p:txBody>
          <a:bodyPr>
            <a:normAutofit fontScale="77500" lnSpcReduction="2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Please open your homework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 will open the answer key on my computer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will walk through the homework together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will start by asking for students to volunteer answers.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Once I know you better, I may call on individuals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ever feel uncomfortable, just say “</a:t>
            </a:r>
            <a:r>
              <a:rPr lang="en-US" b="0" dirty="0" err="1">
                <a:ea typeface="Calibri" panose="020F0502020204030204" pitchFamily="34" charset="0"/>
                <a:cs typeface="Times New Roman" panose="02020603050405020304" pitchFamily="18" charset="0"/>
              </a:rPr>
              <a:t>Uhhhh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… Pass”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will create the answer key with you during class and post it to Canvas after class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 the “Answer Key” Module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You can always stop me and ask for more clarification about a question!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119088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i="0" dirty="0">
              <a:effectLst/>
              <a:latin typeface="Encode Sans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latin typeface="Encode Sans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0" i="0" dirty="0">
                <a:effectLst/>
                <a:latin typeface="Encode Sans"/>
              </a:rPr>
              <a:t>At least three students share </a:t>
            </a:r>
            <a:r>
              <a:rPr lang="en-US" b="0" dirty="0">
                <a:latin typeface="Encode Sans"/>
              </a:rPr>
              <a:t>the questions they asked in the </a:t>
            </a:r>
            <a:r>
              <a:rPr lang="en-US" b="0" i="0" dirty="0">
                <a:effectLst/>
                <a:latin typeface="Encode Sans"/>
              </a:rPr>
              <a:t>homework. Let’s have an enlightening discussion of them!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Review</a:t>
            </a:r>
          </a:p>
        </p:txBody>
      </p:sp>
    </p:spTree>
    <p:extLst>
      <p:ext uri="{BB962C8B-B14F-4D97-AF65-F5344CB8AC3E}">
        <p14:creationId xmlns:p14="http://schemas.microsoft.com/office/powerpoint/2010/main" val="181090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A19-45F3-561A-EE4C-9884D517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4B96FB-BC22-2267-3E6B-3E24C55A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a “closed class” that modify nouns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every noun phrase has a determiner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Articles (a, an, the)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Demonstratives (this, that, those)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Possessives (my, their, its)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Quantifiers (many, some, all)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Numbers (one, three, a hundred)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linguists classify numbers as their own separate closed class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B96C86-FA4A-422A-19C6-8B3C870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711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DDAC-5E04-CC60-0DDA-EA6E5A1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A4A0E-EC3F-4C7E-1B87-8A447702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What are some tricks to be able to tell apart a determiner and an adjective?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usually precede Adjectives.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b="0" i="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big, red, bouncy ball.</a:t>
            </a:r>
            <a:endParaRPr lang="en-US" b="0" i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nouns can only take one or two determiner but infinite pronouns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i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few </a:t>
            </a:r>
            <a:r>
              <a:rPr lang="en-US" sz="2200" i="0" dirty="0">
                <a:ea typeface="Calibri" panose="020F0502020204030204" pitchFamily="34" charset="0"/>
                <a:cs typeface="Times New Roman" panose="02020603050405020304" pitchFamily="18" charset="0"/>
              </a:rPr>
              <a:t>big, red, bouncy balls.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adjectives are “</a:t>
            </a:r>
            <a:r>
              <a:rPr lang="en-US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gradeable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” but most determiners are not.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lost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my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love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special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173A8E-CCB0-719A-A4FC-30864ED0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56288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Prepositions (Closed Class)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“Anywhere a cat can be”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In, On, Of, To, With, For, By, Near, Towards, </a:t>
            </a: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“Away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From”….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LIST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Phrases (P + NP)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Prepositions are usually followed by a Noun Phrase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A02F1-2BF9-7BA1-9C36-78F519334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73" y="4320240"/>
            <a:ext cx="2269241" cy="22238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0A9FD4-2257-526B-DACF-6B16B1072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023" y="4314644"/>
            <a:ext cx="1314209" cy="2195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E209D-EFD5-52B3-D4E6-03393641A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956" y="4314644"/>
            <a:ext cx="2168203" cy="222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0B69-EE1E-F293-B29A-CFC6EC90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AA391F-0B5F-0A43-9190-87B218F2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 Positions and Functions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 modifiers: The man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hat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Verb modifiers:   …swam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sea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Adjective Modifiers:  …high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on the mountain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Sentence modifiers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morning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shall perish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A090D0-A9E3-F885-383E-B45A9D58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198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E481-F152-E5F4-93B1-0E49A06D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B34CAE-C98D-84B7-C70B-7B7991B23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500" dirty="0"/>
              <a:t>Write three four-word sentences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00" dirty="0"/>
              <a:t>Choose words that match in </a:t>
            </a:r>
            <a:r>
              <a:rPr lang="en-US" sz="3100" b="1" dirty="0"/>
              <a:t>both</a:t>
            </a:r>
            <a:r>
              <a:rPr lang="en-US" sz="3100" dirty="0"/>
              <a:t> form and function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00" dirty="0"/>
              <a:t>Do not add any additional words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00" dirty="0"/>
              <a:t>Do not move the words from their order</a:t>
            </a:r>
          </a:p>
          <a:p>
            <a:pPr marL="402336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1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5D6DE-69FC-7180-155F-C4B1F875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F8CC08-6202-9F70-FA45-AC8EB9E9E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244138"/>
              </p:ext>
            </p:extLst>
          </p:nvPr>
        </p:nvGraphicFramePr>
        <p:xfrm>
          <a:off x="1814945" y="4349557"/>
          <a:ext cx="9899076" cy="223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769">
                  <a:extLst>
                    <a:ext uri="{9D8B030D-6E8A-4147-A177-3AD203B41FA5}">
                      <a16:colId xmlns:a16="http://schemas.microsoft.com/office/drawing/2014/main" val="3675909666"/>
                    </a:ext>
                  </a:extLst>
                </a:gridCol>
                <a:gridCol w="2474769">
                  <a:extLst>
                    <a:ext uri="{9D8B030D-6E8A-4147-A177-3AD203B41FA5}">
                      <a16:colId xmlns:a16="http://schemas.microsoft.com/office/drawing/2014/main" val="2149188072"/>
                    </a:ext>
                  </a:extLst>
                </a:gridCol>
                <a:gridCol w="2474769">
                  <a:extLst>
                    <a:ext uri="{9D8B030D-6E8A-4147-A177-3AD203B41FA5}">
                      <a16:colId xmlns:a16="http://schemas.microsoft.com/office/drawing/2014/main" val="1961494684"/>
                    </a:ext>
                  </a:extLst>
                </a:gridCol>
                <a:gridCol w="2474769">
                  <a:extLst>
                    <a:ext uri="{9D8B030D-6E8A-4147-A177-3AD203B41FA5}">
                      <a16:colId xmlns:a16="http://schemas.microsoft.com/office/drawing/2014/main" val="867517633"/>
                    </a:ext>
                  </a:extLst>
                </a:gridCol>
              </a:tblGrid>
              <a:tr h="55783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Adjective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Noun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Adverb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Verb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32133529"/>
                  </a:ext>
                </a:extLst>
              </a:tr>
              <a:tr h="55783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Fat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frogs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furiously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fall 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777127992"/>
                  </a:ext>
                </a:extLst>
              </a:tr>
              <a:tr h="55783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Dirty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dogs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diligently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dig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9906546"/>
                  </a:ext>
                </a:extLst>
              </a:tr>
              <a:tr h="55783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Heavy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hippos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hungrily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badi" panose="020B0604020104020204" pitchFamily="34" charset="0"/>
                        </a:rPr>
                        <a:t>heave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916685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2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0115-5AD5-5DC2-C0AE-169599E8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49CDA1-BCEF-A5AF-E158-A97D24E91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Open “Padlet” on the front page of Canvas</a:t>
            </a: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If you are shy, you can make a fake name in Padlet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dirty="0"/>
              <a:t>Just don’t be obscene or mean – keep it PG 13</a:t>
            </a:r>
            <a:endParaRPr lang="en-US" sz="3500" dirty="0"/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Share one of your sentences in </a:t>
            </a:r>
            <a:r>
              <a:rPr lang="en-US" sz="3500" dirty="0" err="1"/>
              <a:t>padlet</a:t>
            </a:r>
            <a:r>
              <a:rPr lang="en-US" sz="3500" dirty="0"/>
              <a:t>.</a:t>
            </a:r>
          </a:p>
          <a:p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dirty="0"/>
              <a:t>Following Phillip’s Instructions, edit your sentences.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31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EE2D1-17C4-C3B9-77AC-E23FC6952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Practice in Padlet</a:t>
            </a:r>
          </a:p>
        </p:txBody>
      </p:sp>
    </p:spTree>
    <p:extLst>
      <p:ext uri="{BB962C8B-B14F-4D97-AF65-F5344CB8AC3E}">
        <p14:creationId xmlns:p14="http://schemas.microsoft.com/office/powerpoint/2010/main" val="281415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088A-5670-9AFD-8D6D-A947CB59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F90DA2-E687-A072-B20B-B595152B1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Parts of Speech Continued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No new reading 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Consider reviewing the last two readings and videos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Study the six Parts of Speech on Unit One Exam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For each part of speech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Name a test for identifying it.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Spot three in a literary passage.</a:t>
            </a:r>
          </a:p>
          <a:p>
            <a:pPr marL="1428750" lvl="3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Create a sentence with two of them in it.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E94361-FD4C-7DD4-50EA-1BC06321C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PRE-view</a:t>
            </a:r>
          </a:p>
        </p:txBody>
      </p:sp>
    </p:spTree>
    <p:extLst>
      <p:ext uri="{BB962C8B-B14F-4D97-AF65-F5344CB8AC3E}">
        <p14:creationId xmlns:p14="http://schemas.microsoft.com/office/powerpoint/2010/main" val="163396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1425</Words>
  <Application>Microsoft Office PowerPoint</Application>
  <PresentationFormat>Widescreen</PresentationFormat>
  <Paragraphs>238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Abadi</vt:lpstr>
      <vt:lpstr>Arial</vt:lpstr>
      <vt:lpstr>Arial Narrow</vt:lpstr>
      <vt:lpstr>Calibri</vt:lpstr>
      <vt:lpstr>Century Gothic</vt:lpstr>
      <vt:lpstr>Encode Sans</vt:lpstr>
      <vt:lpstr>Palatino Linotype</vt:lpstr>
      <vt:lpstr>Sans Serif Collection</vt:lpstr>
      <vt:lpstr>Segoe UI</vt:lpstr>
      <vt:lpstr>Verdana</vt:lpstr>
      <vt:lpstr>Wingdings 2</vt:lpstr>
      <vt:lpstr>Dad's tie design template</vt:lpstr>
      <vt:lpstr>Course Introduction</vt:lpstr>
      <vt:lpstr>Please Be Patient!</vt:lpstr>
      <vt:lpstr>House Keeping</vt:lpstr>
      <vt:lpstr>House Keeping</vt:lpstr>
      <vt:lpstr>Ambiguity</vt:lpstr>
      <vt:lpstr>Form vs Function</vt:lpstr>
      <vt:lpstr>Form vs Function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Homework Review</vt:lpstr>
      <vt:lpstr>Homework Review</vt:lpstr>
      <vt:lpstr>Refresher</vt:lpstr>
      <vt:lpstr>Refresher</vt:lpstr>
      <vt:lpstr>Refresher</vt:lpstr>
      <vt:lpstr>Refresher</vt:lpstr>
      <vt:lpstr>Practice</vt:lpstr>
      <vt:lpstr>Practice in Padlet</vt:lpstr>
      <vt:lpstr>Homework PRE-view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2025-09-08T20:46:17Z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