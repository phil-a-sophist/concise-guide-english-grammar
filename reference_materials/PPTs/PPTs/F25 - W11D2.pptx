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21"/>
  </p:notesMasterIdLst>
  <p:handoutMasterIdLst>
    <p:handoutMasterId r:id="rId22"/>
  </p:handoutMasterIdLst>
  <p:sldIdLst>
    <p:sldId id="270" r:id="rId3"/>
    <p:sldId id="514" r:id="rId4"/>
    <p:sldId id="533" r:id="rId5"/>
    <p:sldId id="534" r:id="rId6"/>
    <p:sldId id="535" r:id="rId7"/>
    <p:sldId id="532" r:id="rId8"/>
    <p:sldId id="531" r:id="rId9"/>
    <p:sldId id="536" r:id="rId10"/>
    <p:sldId id="537" r:id="rId11"/>
    <p:sldId id="538" r:id="rId12"/>
    <p:sldId id="539" r:id="rId13"/>
    <p:sldId id="540" r:id="rId14"/>
    <p:sldId id="541" r:id="rId15"/>
    <p:sldId id="542" r:id="rId16"/>
    <p:sldId id="543" r:id="rId17"/>
    <p:sldId id="544" r:id="rId18"/>
    <p:sldId id="545" r:id="rId19"/>
    <p:sldId id="4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49350-5BDE-4D63-A4CB-20665DEC01BA}" v="7" dt="2025-04-10T18:31:40.8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4/10/2025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Identify these sentences as active voice or passive voice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 have been rejected by so many publishing firms.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My novel will be extremely popular with grandmas.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My novel had been about kittens by the way.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The premise has been recently changed to adult cats instead.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The grammar will be carefully edited prior to publication.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I </a:t>
            </a:r>
            <a:r>
              <a:rPr lang="en-US" b="1" dirty="0">
                <a:highlight>
                  <a:srgbClr val="F2F2F2"/>
                </a:highlight>
                <a:latin typeface="Arial" panose="020B0604020202020204" pitchFamily="34" charset="0"/>
              </a:rPr>
              <a:t>had the draft printed</a:t>
            </a: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, so I could hold it in my hands.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All the pages have been sticking together.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They were stuck together by spilled pancake syrup.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34968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D55E-BEB0-51F2-EDF5-79FD1193D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C89BDC-7C7A-C5F7-563A-9D6E6FC17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How is the Passive Voice Formed?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DA6A19-7481-980B-F6F5-F2325D14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49587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799D-FA0E-4011-4A91-2DBDC5D88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31B78D-2394-46DA-A22B-DCF26CD3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How is the Passive Voice Formed?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Make the object of the active voice sentence the subject.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Active: I threw </a:t>
            </a:r>
            <a:r>
              <a:rPr lang="en-US" b="1" u="sng" dirty="0">
                <a:highlight>
                  <a:srgbClr val="F2F2F2"/>
                </a:highlight>
                <a:latin typeface="Arial" panose="020B0604020202020204" pitchFamily="34" charset="0"/>
              </a:rPr>
              <a:t>the ball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Passive: </a:t>
            </a:r>
            <a:r>
              <a:rPr lang="en-US" b="1" u="sng" dirty="0">
                <a:highlight>
                  <a:srgbClr val="F2F2F2"/>
                </a:highlight>
                <a:latin typeface="Arial" panose="020B0604020202020204" pitchFamily="34" charset="0"/>
              </a:rPr>
              <a:t>The ball </a:t>
            </a: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was thrown (by me).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Add a “be” verb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The ball </a:t>
            </a:r>
            <a:r>
              <a:rPr lang="en-US" b="1" u="sng" dirty="0">
                <a:highlight>
                  <a:srgbClr val="F2F2F2"/>
                </a:highlight>
                <a:latin typeface="Arial" panose="020B0604020202020204" pitchFamily="34" charset="0"/>
              </a:rPr>
              <a:t>was</a:t>
            </a: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 thrown (by me).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Change the next word (after be) to the past participle form.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The ball was </a:t>
            </a:r>
            <a:r>
              <a:rPr lang="en-US" b="1" u="sng" dirty="0">
                <a:highlight>
                  <a:srgbClr val="F2F2F2"/>
                </a:highlight>
                <a:latin typeface="Arial" panose="020B0604020202020204" pitchFamily="34" charset="0"/>
              </a:rPr>
              <a:t>thrown </a:t>
            </a: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(by me).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C89F50-4ABD-65B5-6337-1F505D7CF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5378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FB9A-07B3-9957-3533-48977959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02468F-7444-B582-FD6D-34F28334C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highlight>
                  <a:srgbClr val="F2F2F2"/>
                </a:highlight>
                <a:latin typeface="Arial" panose="020B0604020202020204" pitchFamily="34" charset="0"/>
              </a:rPr>
              <a:t>Voice “stacks” with Aspect and Tense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3952E0-BE4A-7B32-5E0B-ACF0F334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8A191A7A-095E-A2EA-72B3-9875BC0D861E}"/>
              </a:ext>
            </a:extLst>
          </p:cNvPr>
          <p:cNvSpPr/>
          <p:nvPr/>
        </p:nvSpPr>
        <p:spPr>
          <a:xfrm>
            <a:off x="8439150" y="6137275"/>
            <a:ext cx="152400" cy="1000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389B212-CA3A-B90C-9DE2-CDA4DD54D40C}"/>
              </a:ext>
            </a:extLst>
          </p:cNvPr>
          <p:cNvSpPr/>
          <p:nvPr/>
        </p:nvSpPr>
        <p:spPr>
          <a:xfrm>
            <a:off x="9810750" y="6170613"/>
            <a:ext cx="15240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67ECF11-2D61-0195-0A95-402FF5A4B20C}"/>
              </a:ext>
            </a:extLst>
          </p:cNvPr>
          <p:cNvSpPr/>
          <p:nvPr/>
        </p:nvSpPr>
        <p:spPr>
          <a:xfrm>
            <a:off x="10939463" y="6148388"/>
            <a:ext cx="15240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77BFFC-16CD-99FA-5950-E8F44D116B95}"/>
              </a:ext>
            </a:extLst>
          </p:cNvPr>
          <p:cNvSpPr/>
          <p:nvPr/>
        </p:nvSpPr>
        <p:spPr>
          <a:xfrm>
            <a:off x="7123113" y="6162675"/>
            <a:ext cx="152400" cy="1000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B8E4B6-3C96-0FDA-83A8-6F29F6093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690355"/>
              </p:ext>
            </p:extLst>
          </p:nvPr>
        </p:nvGraphicFramePr>
        <p:xfrm>
          <a:off x="1560997" y="2139352"/>
          <a:ext cx="10461669" cy="4554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692">
                  <a:extLst>
                    <a:ext uri="{9D8B030D-6E8A-4147-A177-3AD203B41FA5}">
                      <a16:colId xmlns:a16="http://schemas.microsoft.com/office/drawing/2014/main" val="3275217501"/>
                    </a:ext>
                  </a:extLst>
                </a:gridCol>
                <a:gridCol w="1313094">
                  <a:extLst>
                    <a:ext uri="{9D8B030D-6E8A-4147-A177-3AD203B41FA5}">
                      <a16:colId xmlns:a16="http://schemas.microsoft.com/office/drawing/2014/main" val="1217585221"/>
                    </a:ext>
                  </a:extLst>
                </a:gridCol>
                <a:gridCol w="1514370">
                  <a:extLst>
                    <a:ext uri="{9D8B030D-6E8A-4147-A177-3AD203B41FA5}">
                      <a16:colId xmlns:a16="http://schemas.microsoft.com/office/drawing/2014/main" val="1558166130"/>
                    </a:ext>
                  </a:extLst>
                </a:gridCol>
                <a:gridCol w="1888172">
                  <a:extLst>
                    <a:ext uri="{9D8B030D-6E8A-4147-A177-3AD203B41FA5}">
                      <a16:colId xmlns:a16="http://schemas.microsoft.com/office/drawing/2014/main" val="530146490"/>
                    </a:ext>
                  </a:extLst>
                </a:gridCol>
                <a:gridCol w="1591048">
                  <a:extLst>
                    <a:ext uri="{9D8B030D-6E8A-4147-A177-3AD203B41FA5}">
                      <a16:colId xmlns:a16="http://schemas.microsoft.com/office/drawing/2014/main" val="1158648983"/>
                    </a:ext>
                  </a:extLst>
                </a:gridCol>
                <a:gridCol w="953293">
                  <a:extLst>
                    <a:ext uri="{9D8B030D-6E8A-4147-A177-3AD203B41FA5}">
                      <a16:colId xmlns:a16="http://schemas.microsoft.com/office/drawing/2014/main" val="2661223694"/>
                    </a:ext>
                  </a:extLst>
                </a:gridCol>
              </a:tblGrid>
              <a:tr h="3450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effectLst/>
                          <a:latin typeface="Arial Narrow" panose="020B0606020202030204" pitchFamily="34" charset="0"/>
                        </a:rPr>
                        <a:t>Past Tense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effectLst/>
                          <a:latin typeface="Arial Narrow" panose="020B0606020202030204" pitchFamily="34" charset="0"/>
                        </a:rPr>
                        <a:t>Perfect Aspect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effectLst/>
                          <a:latin typeface="Arial Narrow" panose="020B0606020202030204" pitchFamily="34" charset="0"/>
                        </a:rPr>
                        <a:t>Progressive Aspect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effectLst/>
                          <a:latin typeface="Arial Narrow" panose="020B0606020202030204" pitchFamily="34" charset="0"/>
                        </a:rPr>
                        <a:t>Passive Voice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effectLst/>
                        </a:rPr>
                        <a:t> 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19095791"/>
                  </a:ext>
                </a:extLst>
              </a:tr>
              <a:tr h="75912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effectLst/>
                          <a:latin typeface="Arial Narrow" panose="020B0606020202030204" pitchFamily="34" charset="0"/>
                        </a:rPr>
                        <a:t>(Past Tense) 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+ Have 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(Past Participle) 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+ Be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(Present Participle) 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 dirty="0">
                          <a:effectLst/>
                          <a:latin typeface="Arial Narrow" panose="020B0606020202030204" pitchFamily="34" charset="0"/>
                        </a:rPr>
                        <a:t>+ Be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(Past Participle) 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16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16289243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Arial Narrow" panose="020B0606020202030204" pitchFamily="34" charset="0"/>
                        </a:rPr>
                        <a:t>Present Simple Passive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1200" dirty="0">
                          <a:effectLst/>
                          <a:latin typeface="Arial Narrow" panose="020B0606020202030204" pitchFamily="34" charset="0"/>
                        </a:rPr>
                        <a:t>Present</a:t>
                      </a:r>
                      <a:endParaRPr lang="en-US" sz="1600" b="0" i="1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>
                          <a:effectLst/>
                          <a:latin typeface="Arial Narrow" panose="020B0606020202030204" pitchFamily="34" charset="0"/>
                        </a:rPr>
                        <a:t>Is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98572967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>
                          <a:effectLst/>
                          <a:latin typeface="Arial Narrow" panose="020B0606020202030204" pitchFamily="34" charset="0"/>
                        </a:rPr>
                        <a:t>Past Simple Passive</a:t>
                      </a:r>
                      <a:endParaRPr lang="en-US" sz="16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1200" dirty="0">
                          <a:effectLst/>
                          <a:latin typeface="Arial Narrow" panose="020B0606020202030204" pitchFamily="34" charset="0"/>
                        </a:rPr>
                        <a:t>Past</a:t>
                      </a:r>
                      <a:endParaRPr lang="en-US" sz="1600" b="0" i="1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>
                          <a:effectLst/>
                          <a:latin typeface="Arial Narrow" panose="020B0606020202030204" pitchFamily="34" charset="0"/>
                        </a:rPr>
                        <a:t>Was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5499066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 dirty="0">
                          <a:effectLst/>
                          <a:latin typeface="Arial Narrow" panose="020B0606020202030204" pitchFamily="34" charset="0"/>
                        </a:rPr>
                        <a:t>Present Progressive Passive</a:t>
                      </a:r>
                      <a:endParaRPr lang="en-US" sz="16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1200">
                          <a:effectLst/>
                          <a:latin typeface="Arial Narrow" panose="020B0606020202030204" pitchFamily="34" charset="0"/>
                        </a:rPr>
                        <a:t>Present</a:t>
                      </a:r>
                      <a:endParaRPr lang="en-US" sz="1600" b="0" i="1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Is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 dirty="0">
                          <a:ln>
                            <a:noFill/>
                          </a:ln>
                          <a:effectLst/>
                          <a:latin typeface="Arial Narrow" panose="020B0606020202030204" pitchFamily="34" charset="0"/>
                        </a:rPr>
                        <a:t>Being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45360189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>
                          <a:effectLst/>
                          <a:latin typeface="Arial Narrow" panose="020B0606020202030204" pitchFamily="34" charset="0"/>
                        </a:rPr>
                        <a:t>Past Progressive Passive</a:t>
                      </a:r>
                      <a:endParaRPr lang="en-US" sz="16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1200" dirty="0">
                          <a:effectLst/>
                          <a:latin typeface="Arial Narrow" panose="020B0606020202030204" pitchFamily="34" charset="0"/>
                        </a:rPr>
                        <a:t>Past</a:t>
                      </a:r>
                      <a:endParaRPr lang="en-US" sz="1600" b="0" i="1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Was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 dirty="0">
                          <a:ln>
                            <a:noFill/>
                          </a:ln>
                          <a:effectLst/>
                          <a:latin typeface="Arial Narrow" panose="020B0606020202030204" pitchFamily="34" charset="0"/>
                        </a:rPr>
                        <a:t>Being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59857826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>
                          <a:effectLst/>
                          <a:latin typeface="Arial Narrow" panose="020B0606020202030204" pitchFamily="34" charset="0"/>
                        </a:rPr>
                        <a:t>Present Perfect Passive</a:t>
                      </a:r>
                      <a:endParaRPr lang="en-US" sz="16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0">
                          <a:effectLst/>
                          <a:latin typeface="Arial Narrow" panose="020B0606020202030204" pitchFamily="34" charset="0"/>
                        </a:rPr>
                        <a:t>Present</a:t>
                      </a:r>
                      <a:endParaRPr lang="en-US" sz="1600" b="0" i="1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Has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 dirty="0">
                          <a:effectLst/>
                          <a:latin typeface="Arial Narrow" panose="020B0606020202030204" pitchFamily="34" charset="0"/>
                        </a:rPr>
                        <a:t>Been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76165559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>
                          <a:effectLst/>
                          <a:latin typeface="Arial Narrow" panose="020B0606020202030204" pitchFamily="34" charset="0"/>
                        </a:rPr>
                        <a:t>Past Perfect Passive</a:t>
                      </a:r>
                      <a:endParaRPr lang="en-US" sz="16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0" dirty="0">
                          <a:effectLst/>
                          <a:latin typeface="Arial Narrow" panose="020B0606020202030204" pitchFamily="34" charset="0"/>
                        </a:rPr>
                        <a:t>Past</a:t>
                      </a:r>
                      <a:endParaRPr lang="en-US" sz="1600" b="0" i="1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Had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---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 dirty="0">
                          <a:effectLst/>
                          <a:latin typeface="Arial Narrow" panose="020B0606020202030204" pitchFamily="34" charset="0"/>
                        </a:rPr>
                        <a:t>Been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5298573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>
                          <a:effectLst/>
                          <a:latin typeface="Arial Narrow" panose="020B0606020202030204" pitchFamily="34" charset="0"/>
                        </a:rPr>
                        <a:t>Present Perfect Progressive Passive</a:t>
                      </a:r>
                      <a:endParaRPr lang="en-US" sz="16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0" dirty="0">
                          <a:effectLst/>
                          <a:latin typeface="Arial Narrow" panose="020B0606020202030204" pitchFamily="34" charset="0"/>
                        </a:rPr>
                        <a:t>Present</a:t>
                      </a:r>
                      <a:endParaRPr lang="en-US" sz="1600" b="0" i="1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Has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Been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 dirty="0">
                          <a:effectLst/>
                          <a:latin typeface="Arial Narrow" panose="020B0606020202030204" pitchFamily="34" charset="0"/>
                        </a:rPr>
                        <a:t>Being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41382459"/>
                  </a:ext>
                </a:extLst>
              </a:tr>
              <a:tr h="431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200">
                          <a:effectLst/>
                          <a:latin typeface="Arial Narrow" panose="020B0606020202030204" pitchFamily="34" charset="0"/>
                        </a:rPr>
                        <a:t>Past Perfect Progressive Passive</a:t>
                      </a:r>
                      <a:endParaRPr lang="en-US" sz="16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1" u="none" kern="0" dirty="0">
                          <a:effectLst/>
                          <a:latin typeface="Arial Narrow" panose="020B0606020202030204" pitchFamily="34" charset="0"/>
                        </a:rPr>
                        <a:t>Past</a:t>
                      </a:r>
                      <a:endParaRPr lang="en-US" sz="1600" b="0" i="1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Had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>
                          <a:effectLst/>
                          <a:latin typeface="Arial Narrow" panose="020B0606020202030204" pitchFamily="34" charset="0"/>
                        </a:rPr>
                        <a:t>Been</a:t>
                      </a:r>
                      <a:endParaRPr lang="en-US" sz="1600" b="0" u="none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0" dirty="0">
                          <a:effectLst/>
                          <a:latin typeface="Arial Narrow" panose="020B0606020202030204" pitchFamily="34" charset="0"/>
                        </a:rPr>
                        <a:t>Being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u="none" kern="1200" dirty="0">
                          <a:effectLst/>
                          <a:latin typeface="Arial Narrow" panose="020B0606020202030204" pitchFamily="34" charset="0"/>
                        </a:rPr>
                        <a:t>Thrown</a:t>
                      </a:r>
                      <a:endParaRPr lang="en-US" sz="1600" b="0" u="none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13415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51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EFD89-991F-0BFB-F308-E734F4C2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E86E6E-218A-CC14-B1B8-FAE17B196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Homework Check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AC19E8-564A-9746-D47A-C8CDEDEF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306904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8A93-3AEC-1188-52F7-9157B4AA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FB5827-FC1D-9473-5972-A6E46026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How do Modals impact Conjugation?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modal always goes at the FRONT of the MVP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Could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have been being kicked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Would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have been being happy.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modal impacts the conjugation of the next verb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Always use the “base” form of a verb after the modal.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 tense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 agreement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“base” form is the one used in an “infinitive verb”</a:t>
            </a:r>
          </a:p>
          <a:p>
            <a:pPr marL="1572768" lvl="4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To be, To run, To sink, etc.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803EEF-9321-74A8-D366-A1E6FCB9C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Deepening</a:t>
            </a:r>
          </a:p>
        </p:txBody>
      </p:sp>
    </p:spTree>
    <p:extLst>
      <p:ext uri="{BB962C8B-B14F-4D97-AF65-F5344CB8AC3E}">
        <p14:creationId xmlns:p14="http://schemas.microsoft.com/office/powerpoint/2010/main" val="382307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E040-0383-BCC4-B8D2-06446D5D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D2F342-D421-75CF-2C6B-E16169DA3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How do Modals impact Conjugation?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modal always goes at the FRONT of the main verb phrase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Could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have been being kicked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Would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have been being happy.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modal impacts the conjugation of the next verb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Always use the “base” form of a verb after the modal.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 tense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 agreement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“base” form is the one used in an “infinitive verb”</a:t>
            </a:r>
          </a:p>
          <a:p>
            <a:pPr marL="1572768" lvl="4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To be, To run, To sink, etc.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57254D-1196-DA1A-B383-BEDBC1FD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Deepening</a:t>
            </a:r>
          </a:p>
        </p:txBody>
      </p:sp>
    </p:spTree>
    <p:extLst>
      <p:ext uri="{BB962C8B-B14F-4D97-AF65-F5344CB8AC3E}">
        <p14:creationId xmlns:p14="http://schemas.microsoft.com/office/powerpoint/2010/main" val="270665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87653-3E92-1F78-8EFA-DA73756A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713CE5-62F2-654E-807A-1CAA35045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Modal and Auxiliary Oddities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Modals and Auxiliaries can also serve as “main verbs”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a cold.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Can you play guitar? I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Modals and Auxiliaries are frequently contracted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Haven’t, Couldn’t, Don’t, Wasn’t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Adverbs often show up between pieces of the main verb phrase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could have done it.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could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have done it.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could have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never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done it.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D7E9C3-C459-394E-339A-D85FBFE7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Deepening</a:t>
            </a:r>
          </a:p>
        </p:txBody>
      </p:sp>
    </p:spTree>
    <p:extLst>
      <p:ext uri="{BB962C8B-B14F-4D97-AF65-F5344CB8AC3E}">
        <p14:creationId xmlns:p14="http://schemas.microsoft.com/office/powerpoint/2010/main" val="3548455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DC65-6099-5979-05AD-02F62F6B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51A9AB-779A-9DFF-64C8-9D924F35C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Modal and Auxiliary Oddities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Modals and Auxiliaries can also serve as “main verbs”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a cold.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Can you play guitar? I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Modals and Auxiliaries are frequently contracted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Haven’t, Couldn’t, Don’t, Wasn’t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Adverbs often show up between pieces of the main verb phrase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could have done it.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could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never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have done it.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could have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never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done it.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80C422-9276-444D-8904-8ACD1F42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Deepening</a:t>
            </a:r>
          </a:p>
        </p:txBody>
      </p:sp>
    </p:spTree>
    <p:extLst>
      <p:ext uri="{BB962C8B-B14F-4D97-AF65-F5344CB8AC3E}">
        <p14:creationId xmlns:p14="http://schemas.microsoft.com/office/powerpoint/2010/main" val="138092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8F70-742A-885A-B876-CD790D22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4412C9-E207-1981-E222-D42A84437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Participles (Past and Present) and Infinitives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often use verb phrases in other “roles” in the sentence.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Adjectivals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: I like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pickled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carrots. 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Base: To pickle.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Nominals (subjects):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Running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is my favorite. 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Base form: To run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Nominals (objects): I like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to run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Base form: To run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Adverbials: </a:t>
            </a:r>
            <a:r>
              <a:rPr lang="en-US" b="1" u="sng" dirty="0">
                <a:ea typeface="Calibri" panose="020F0502020204030204" pitchFamily="34" charset="0"/>
                <a:cs typeface="Times New Roman" panose="02020603050405020304" pitchFamily="18" charset="0"/>
              </a:rPr>
              <a:t>Sighing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to himself, John gave up.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Base form: To sigh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E5E13C-9C68-9DA9-6647-A1D6B676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294763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5325E-63EE-97FD-B2E6-5EC8F01B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9D651F-3E8E-C147-93F1-11BB383B8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Participles (Past and Present) and Infinitives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When verbs are in other roles, we usually use conjugated forms</a:t>
            </a:r>
          </a:p>
          <a:p>
            <a:pPr marL="1161288" lvl="2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Infinitive: To sleep, To dream, To throw</a:t>
            </a:r>
          </a:p>
          <a:p>
            <a:pPr marL="1161288" lvl="2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Present Participle: Sleeping, Dreaming, Throwing</a:t>
            </a:r>
          </a:p>
          <a:p>
            <a:pPr marL="1161288" lvl="2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Past Participle: Slept, Dreamed, Thrown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A1C8BA-8FE0-E847-F571-16EE8D9E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316751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4BAE9-80C1-D267-D24E-516680CAD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60924B-4F77-53E7-1A41-A2A8DD13D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Infinitives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Nominal (subject):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To sleep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is a mercy.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Nominal (object):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I love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to sleep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Adverbial: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To sleep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, John meditates each night.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5BA948-673F-D9B1-0313-E90D36F93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304247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8D6C-7601-957A-2403-AFD337F2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680622-EDC3-5DB3-0A89-D598E3BB1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Present Participles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Nominal (subject):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Sleeping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is the best.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Nominal (object):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I really love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sleeping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Adverbial: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Sleeping soundly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, John didn’t hear the bear.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Absolute Phrase: My fans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screaming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 my name, I took the stage.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FBD2DE-90CE-A43E-56B6-743D8E74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11125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6FBD-38C8-C055-0A97-191E3F9AA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A948E3-0982-7EF7-4D8B-2EC3F63C1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Past Participles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Adjectival: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Place the cookies in a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pre-heated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 oven. 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Adjectival (complement):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You look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worried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Adverbial: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Thrown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 for a loop, Severus re-assessed.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1A50C6-26E7-F9B4-F573-BD8AE03D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84413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4A18-BF16-6B02-E762-0310E90C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71F16C-50E5-2657-6CB5-F66F73A39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 fontScale="85000" lnSpcReduction="10000"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Verbs in these positions can do MOST of the verb-y stuff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Adverbs: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Read </a:t>
            </a:r>
            <a:r>
              <a:rPr lang="en-US" sz="3200" b="1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carefully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is important.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Prepositions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Reading carefully </a:t>
            </a:r>
            <a:r>
              <a:rPr lang="en-US" sz="3200" b="1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before class</a:t>
            </a:r>
            <a:r>
              <a:rPr lang="en-US" sz="32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is important.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Objects: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Reading </a:t>
            </a:r>
            <a:r>
              <a:rPr lang="en-US" sz="3200" b="1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your homework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before class 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is important.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Complements: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Feeling </a:t>
            </a:r>
            <a:r>
              <a:rPr lang="en-US" sz="3200" b="1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tired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, John skipped his homework. 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Perfect Aspect: </a:t>
            </a:r>
            <a:r>
              <a:rPr lang="en-US" sz="2800" b="1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Having</a:t>
            </a:r>
            <a:r>
              <a:rPr lang="en-US" sz="2800" i="1" dirty="0">
                <a:ea typeface="Calibri" panose="020F0502020204030204" pitchFamily="34" charset="0"/>
                <a:cs typeface="Times New Roman" panose="02020603050405020304" pitchFamily="18" charset="0"/>
              </a:rPr>
              <a:t> re</a:t>
            </a:r>
            <a:r>
              <a:rPr lang="en-US" sz="2800" b="1" i="1" dirty="0">
                <a:ea typeface="Calibri" panose="020F0502020204030204" pitchFamily="34" charset="0"/>
                <a:cs typeface="Times New Roman" panose="02020603050405020304" pitchFamily="18" charset="0"/>
              </a:rPr>
              <a:t>ad</a:t>
            </a:r>
            <a:r>
              <a:rPr lang="en-US" sz="2800" i="1" dirty="0">
                <a:ea typeface="Calibri" panose="020F0502020204030204" pitchFamily="34" charset="0"/>
                <a:cs typeface="Times New Roman" panose="02020603050405020304" pitchFamily="18" charset="0"/>
              </a:rPr>
              <a:t> your homework before class is important.</a:t>
            </a:r>
          </a:p>
          <a:p>
            <a:pPr marL="914400" lvl="1" indent="-457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200" dirty="0">
                <a:ea typeface="Calibri" panose="020F0502020204030204" pitchFamily="34" charset="0"/>
                <a:cs typeface="Times New Roman" panose="02020603050405020304" pitchFamily="18" charset="0"/>
              </a:rPr>
              <a:t>Passive Voice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200" b="1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Being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insult</a:t>
            </a:r>
            <a:r>
              <a:rPr lang="en-US" sz="3200" b="1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ed </a:t>
            </a:r>
            <a:r>
              <a:rPr lang="en-US" sz="3200" i="1" u="sng" dirty="0">
                <a:ea typeface="Calibri" panose="020F0502020204030204" pitchFamily="34" charset="0"/>
                <a:cs typeface="Times New Roman" panose="02020603050405020304" pitchFamily="18" charset="0"/>
              </a:rPr>
              <a:t>by your mother</a:t>
            </a:r>
            <a:r>
              <a:rPr lang="en-US" sz="3200" i="1" dirty="0">
                <a:ea typeface="Calibri" panose="020F0502020204030204" pitchFamily="34" charset="0"/>
                <a:cs typeface="Times New Roman" panose="02020603050405020304" pitchFamily="18" charset="0"/>
              </a:rPr>
              <a:t> is awful.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E8DB57-C7DB-7AE9-BEE6-2C8A7B36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Looking Ahead</a:t>
            </a:r>
          </a:p>
        </p:txBody>
      </p:sp>
    </p:spTree>
    <p:extLst>
      <p:ext uri="{BB962C8B-B14F-4D97-AF65-F5344CB8AC3E}">
        <p14:creationId xmlns:p14="http://schemas.microsoft.com/office/powerpoint/2010/main" val="86777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29D1-3C7D-5C22-B969-2BE0163E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548AE0-698F-E292-2BE8-672308834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Quiz on Sunday (4/13)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Study Guide for Exam Three on Tuesday (4/15)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Exam Three on Thursday (4/17)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Application Paper Three on Tuesday (4/22)</a:t>
            </a:r>
          </a:p>
          <a:p>
            <a:pPr marL="914400" lvl="1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Compare/Contrast a pair of texts</a:t>
            </a:r>
          </a:p>
          <a:p>
            <a:pPr marL="1161288" lvl="2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Will provide you three options to pick from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Creative Focus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Literary Focus</a:t>
            </a:r>
          </a:p>
          <a:p>
            <a:pPr marL="1371600" lvl="3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Classroom Focus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DFCCA0-E915-467E-6120-E1F373EE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</a:t>
            </a:r>
          </a:p>
        </p:txBody>
      </p:sp>
    </p:spTree>
    <p:extLst>
      <p:ext uri="{BB962C8B-B14F-4D97-AF65-F5344CB8AC3E}">
        <p14:creationId xmlns:p14="http://schemas.microsoft.com/office/powerpoint/2010/main" val="262024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979</Words>
  <Application>Microsoft Office PowerPoint</Application>
  <PresentationFormat>Widescreen</PresentationFormat>
  <Paragraphs>189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Abadi</vt:lpstr>
      <vt:lpstr>Aptos</vt:lpstr>
      <vt:lpstr>Arial</vt:lpstr>
      <vt:lpstr>Arial Narrow</vt:lpstr>
      <vt:lpstr>Calibri</vt:lpstr>
      <vt:lpstr>Century Gothic</vt:lpstr>
      <vt:lpstr>Palatino Linotype</vt:lpstr>
      <vt:lpstr>Verdana</vt:lpstr>
      <vt:lpstr>Wingdings 2</vt:lpstr>
      <vt:lpstr>Dad's tie design template</vt:lpstr>
      <vt:lpstr>Course Introduction</vt:lpstr>
      <vt:lpstr>Review</vt:lpstr>
      <vt:lpstr>Review</vt:lpstr>
      <vt:lpstr>Review</vt:lpstr>
      <vt:lpstr>Review</vt:lpstr>
      <vt:lpstr>Homework</vt:lpstr>
      <vt:lpstr>Deepening</vt:lpstr>
      <vt:lpstr>Deepening</vt:lpstr>
      <vt:lpstr>Deepening</vt:lpstr>
      <vt:lpstr>Deepening</vt:lpstr>
      <vt:lpstr>Looking Ahead</vt:lpstr>
      <vt:lpstr>Looking Ahead</vt:lpstr>
      <vt:lpstr>Looking Ahead</vt:lpstr>
      <vt:lpstr>Looking Ahead</vt:lpstr>
      <vt:lpstr>Looking Ahead</vt:lpstr>
      <vt:lpstr>Looking Ahead</vt:lpstr>
      <vt:lpstr>Homework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2025-04-10T21:08:26Z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