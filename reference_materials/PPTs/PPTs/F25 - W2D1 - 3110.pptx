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28"/>
  </p:notesMasterIdLst>
  <p:handoutMasterIdLst>
    <p:handoutMasterId r:id="rId29"/>
  </p:handoutMasterIdLst>
  <p:sldIdLst>
    <p:sldId id="270" r:id="rId3"/>
    <p:sldId id="271" r:id="rId4"/>
    <p:sldId id="459" r:id="rId5"/>
    <p:sldId id="420" r:id="rId6"/>
    <p:sldId id="456" r:id="rId7"/>
    <p:sldId id="446" r:id="rId8"/>
    <p:sldId id="465" r:id="rId9"/>
    <p:sldId id="470" r:id="rId10"/>
    <p:sldId id="467" r:id="rId11"/>
    <p:sldId id="468" r:id="rId12"/>
    <p:sldId id="466" r:id="rId13"/>
    <p:sldId id="475" r:id="rId14"/>
    <p:sldId id="474" r:id="rId15"/>
    <p:sldId id="476" r:id="rId16"/>
    <p:sldId id="477" r:id="rId17"/>
    <p:sldId id="435" r:id="rId18"/>
    <p:sldId id="460" r:id="rId19"/>
    <p:sldId id="436" r:id="rId20"/>
    <p:sldId id="461" r:id="rId21"/>
    <p:sldId id="438" r:id="rId22"/>
    <p:sldId id="463" r:id="rId23"/>
    <p:sldId id="439" r:id="rId24"/>
    <p:sldId id="464" r:id="rId25"/>
    <p:sldId id="433" r:id="rId26"/>
    <p:sldId id="40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19AD05-E3D3-4E1D-8B1F-8B55E2EB0BB6}" v="2" dt="2025-09-03T17:51:46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60997" y="1351112"/>
            <a:ext cx="10476826" cy="504030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things to do while everyone gets here.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Canvas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Course Schedule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over the Syllabus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the “Resources” on the front page of Canvas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Be Patient!</a:t>
            </a:r>
          </a:p>
        </p:txBody>
      </p:sp>
    </p:spTree>
    <p:extLst>
      <p:ext uri="{BB962C8B-B14F-4D97-AF65-F5344CB8AC3E}">
        <p14:creationId xmlns:p14="http://schemas.microsoft.com/office/powerpoint/2010/main" val="154495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Shared Notes?</a:t>
            </a:r>
          </a:p>
          <a:p>
            <a:pPr lvl="1">
              <a:lnSpc>
                <a:spcPct val="150000"/>
              </a:lnSpc>
            </a:pPr>
            <a:r>
              <a:rPr lang="en-US" sz="2400" b="0" dirty="0"/>
              <a:t>In class </a:t>
            </a:r>
            <a:r>
              <a:rPr lang="en-US" sz="2400" dirty="0"/>
              <a:t>on Monday, someone mentioned note taking.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Would you all like me to set up a “shared notes” space?</a:t>
            </a:r>
          </a:p>
          <a:p>
            <a:pPr lvl="1">
              <a:lnSpc>
                <a:spcPct val="150000"/>
              </a:lnSpc>
            </a:pPr>
            <a:r>
              <a:rPr lang="en-US" sz="2400" b="0" dirty="0"/>
              <a:t>Would anyone actually use it?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Study Sessions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Mondays after class for about an hour.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Stay in same room – don’t think anyone is in here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House Keeping</a:t>
            </a:r>
          </a:p>
        </p:txBody>
      </p:sp>
    </p:spTree>
    <p:extLst>
      <p:ext uri="{BB962C8B-B14F-4D97-AF65-F5344CB8AC3E}">
        <p14:creationId xmlns:p14="http://schemas.microsoft.com/office/powerpoint/2010/main" val="116747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Descriptive and Prescriptive Rules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How are they different?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Share some examples of each?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Why does this distinction matter?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63996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60997" y="1265234"/>
            <a:ext cx="10476826" cy="5355485"/>
          </a:xfrm>
        </p:spPr>
        <p:txBody>
          <a:bodyPr>
            <a:normAutofit fontScale="77500" lnSpcReduction="2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Please open your homework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 will open the answer key on my computer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will walk through the homework together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will start by asking for students to volunteer answers.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Once I know you better, I may call on individuals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ever feel uncomfortable, just say “</a:t>
            </a:r>
            <a:r>
              <a:rPr lang="en-US" b="0" dirty="0" err="1">
                <a:ea typeface="Calibri" panose="020F0502020204030204" pitchFamily="34" charset="0"/>
                <a:cs typeface="Times New Roman" panose="02020603050405020304" pitchFamily="18" charset="0"/>
              </a:rPr>
              <a:t>Uhhhh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… Pass”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will create the answer key during class and post to Canvas after class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 the “Answer Key” Module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You can always stop me and ask for more clarification about a question!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Review</a:t>
            </a:r>
          </a:p>
        </p:txBody>
      </p:sp>
    </p:spTree>
    <p:extLst>
      <p:ext uri="{BB962C8B-B14F-4D97-AF65-F5344CB8AC3E}">
        <p14:creationId xmlns:p14="http://schemas.microsoft.com/office/powerpoint/2010/main" val="119088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i="0" dirty="0">
              <a:effectLst/>
              <a:latin typeface="Encode Sans"/>
            </a:endParaRP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latin typeface="Encode Sans"/>
            </a:endParaRP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0" i="0" dirty="0">
                <a:effectLst/>
                <a:latin typeface="Encode Sans"/>
              </a:rPr>
              <a:t>At least three students share </a:t>
            </a:r>
            <a:r>
              <a:rPr lang="en-US" b="0" dirty="0">
                <a:latin typeface="Encode Sans"/>
              </a:rPr>
              <a:t>the questions they asked in the </a:t>
            </a:r>
            <a:r>
              <a:rPr lang="en-US" b="0" i="0" dirty="0">
                <a:effectLst/>
                <a:latin typeface="Encode Sans"/>
              </a:rPr>
              <a:t>homework. Let’s have an enlightening discussion of them!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Review</a:t>
            </a:r>
          </a:p>
        </p:txBody>
      </p:sp>
    </p:spTree>
    <p:extLst>
      <p:ext uri="{BB962C8B-B14F-4D97-AF65-F5344CB8AC3E}">
        <p14:creationId xmlns:p14="http://schemas.microsoft.com/office/powerpoint/2010/main" val="181090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9768D-B949-333E-EDA4-60A0239E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9A287-F4CB-49E5-F76E-3D59EFB9B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Morphemes = Sounds that express thoughts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Free = can stand alone as a word – boy, an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Ignore just spelling - “Fly” is a free morpheme in “Flies”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Bound = cannot stand alone – pre-, -ness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Again, don’t worry too much about spelling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Happy + ness = Happiness (is “</a:t>
            </a:r>
            <a:r>
              <a:rPr lang="en-US" dirty="0" err="1"/>
              <a:t>i</a:t>
            </a:r>
            <a:r>
              <a:rPr lang="en-US" dirty="0"/>
              <a:t>” part of the morpheme “–</a:t>
            </a:r>
            <a:r>
              <a:rPr lang="en-US" dirty="0" err="1"/>
              <a:t>iness</a:t>
            </a:r>
            <a:r>
              <a:rPr lang="en-US" dirty="0"/>
              <a:t>”?)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Answer = it doesn’t really matter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Affixes = Bound Morphemes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Generaly</a:t>
            </a:r>
            <a:r>
              <a:rPr lang="en-US" dirty="0"/>
              <a:t>, sound matters more than spelling in morphology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EAA7CB-55BD-CA0F-C97B-BF9D6EB5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60782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78EC-D4EC-7928-3F36-E2D80133E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9F77BF-BCEB-7C4F-D0C5-B82E8BAE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Bound Morphemes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tion</a:t>
            </a:r>
            <a:r>
              <a:rPr lang="en-US" dirty="0"/>
              <a:t>,  select – selection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-able, revers -- reversable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-ness, clever – cleverness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ity</a:t>
            </a:r>
            <a:r>
              <a:rPr lang="en-US" dirty="0"/>
              <a:t>, generous -- generosity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ize</a:t>
            </a:r>
            <a:r>
              <a:rPr lang="en-US" dirty="0"/>
              <a:t>, money – monetize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non-, starter -- non-starter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un-, able -- unable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Re-, build -- rebuild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6BFFC2-FF2B-7357-3B31-66517343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00583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F036-B812-13D8-70FB-1701D710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8B0BAF-04EF-CF30-2C89-86D6C5759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Bound Morphemes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Nouns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Number: singular vs. plural</a:t>
            </a: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Book – Book</a:t>
            </a:r>
            <a:r>
              <a:rPr lang="en-US" b="1" dirty="0"/>
              <a:t>s</a:t>
            </a:r>
            <a:r>
              <a:rPr lang="en-US" dirty="0"/>
              <a:t>, Bus – Buss</a:t>
            </a:r>
            <a:r>
              <a:rPr lang="en-US" b="1" dirty="0"/>
              <a:t>es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Pronouns (suppletion and end change)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Nominative: I, we, you, he, she, it, the</a:t>
            </a:r>
            <a:r>
              <a:rPr lang="en-US" b="1" dirty="0"/>
              <a:t>y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Accusative: me, us, you, h</a:t>
            </a:r>
            <a:r>
              <a:rPr lang="en-US" b="1" dirty="0"/>
              <a:t>im</a:t>
            </a:r>
            <a:r>
              <a:rPr lang="en-US" dirty="0"/>
              <a:t>, her, it, the</a:t>
            </a:r>
            <a:r>
              <a:rPr lang="en-US" b="1" dirty="0"/>
              <a:t>m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Possessive: my, our, your, h</a:t>
            </a:r>
            <a:r>
              <a:rPr lang="en-US" b="1" dirty="0"/>
              <a:t>is</a:t>
            </a:r>
            <a:r>
              <a:rPr lang="en-US" dirty="0"/>
              <a:t>, her, its, the</a:t>
            </a:r>
            <a:r>
              <a:rPr lang="en-US" b="1" dirty="0"/>
              <a:t>ir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4AFC97-94BC-7E65-226F-EDD51C2F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9269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A3A1-A20A-BF8D-D344-BDE02726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72612C-6A37-0C11-9F3B-61710C965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Bound Morphemes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Verbs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/>
              <a:t>Agreement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I run -- he run</a:t>
            </a:r>
            <a:r>
              <a:rPr lang="en-US" b="1" dirty="0"/>
              <a:t>s</a:t>
            </a:r>
            <a:r>
              <a:rPr lang="en-US" dirty="0"/>
              <a:t> </a:t>
            </a:r>
            <a:endParaRPr lang="en-US" b="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/>
              <a:t>Tense: Past vs. Present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Walk – walk</a:t>
            </a:r>
            <a:r>
              <a:rPr lang="en-US" b="1" dirty="0"/>
              <a:t>ed</a:t>
            </a:r>
            <a:r>
              <a:rPr lang="en-US" dirty="0"/>
              <a:t>,  run -- r</a:t>
            </a:r>
            <a:r>
              <a:rPr lang="en-US" b="1" dirty="0"/>
              <a:t>a</a:t>
            </a:r>
            <a:r>
              <a:rPr lang="en-US" dirty="0"/>
              <a:t>n</a:t>
            </a:r>
            <a:endParaRPr lang="en-US" b="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u="sng" dirty="0"/>
              <a:t>Aspect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b="0" dirty="0"/>
              <a:t>Perfect: -ed or -</a:t>
            </a:r>
            <a:r>
              <a:rPr lang="en-US" b="0" dirty="0" err="1"/>
              <a:t>en</a:t>
            </a:r>
            <a:endParaRPr lang="en-US" b="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US" b="0" dirty="0"/>
              <a:t>I have walk</a:t>
            </a:r>
            <a:r>
              <a:rPr lang="en-US" b="1" dirty="0"/>
              <a:t>ed</a:t>
            </a:r>
            <a:r>
              <a:rPr lang="en-US" b="0" dirty="0"/>
              <a:t>, I have eat</a:t>
            </a:r>
            <a:r>
              <a:rPr lang="en-US" b="1" dirty="0"/>
              <a:t>en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b="0" dirty="0"/>
              <a:t>Progressive: -</a:t>
            </a:r>
            <a:r>
              <a:rPr lang="en-US" b="0" dirty="0" err="1"/>
              <a:t>ing</a:t>
            </a:r>
            <a:endParaRPr lang="en-US" b="0" dirty="0"/>
          </a:p>
          <a:p>
            <a:pPr lvl="4">
              <a:buFont typeface="Arial" panose="020B0604020202020204" pitchFamily="34" charset="0"/>
              <a:buChar char="•"/>
            </a:pPr>
            <a:r>
              <a:rPr lang="en-US" dirty="0"/>
              <a:t>I am walk</a:t>
            </a:r>
            <a:r>
              <a:rPr lang="en-US" b="1" dirty="0"/>
              <a:t>ing, </a:t>
            </a:r>
            <a:r>
              <a:rPr lang="en-US" dirty="0"/>
              <a:t>she is climb</a:t>
            </a:r>
            <a:r>
              <a:rPr lang="en-US" b="1" dirty="0"/>
              <a:t>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DFABA4-BD7B-099F-C2DE-C1C709D0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77728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10E5-CA68-58F4-BFB2-09999550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EADD2C-CA55-4536-0F89-D5CF84AA0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Bound Morpheme Warnings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Do we Include Words that were Affixed in a foreign language?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our class, </a:t>
            </a:r>
            <a:r>
              <a:rPr lang="en-US" b="1" u="sng" dirty="0"/>
              <a:t>Do Not </a:t>
            </a:r>
            <a:r>
              <a:rPr lang="en-US" dirty="0"/>
              <a:t>consider these to be English Morphemes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</a:t>
            </a:r>
            <a:r>
              <a:rPr lang="en-US" dirty="0"/>
              <a:t>ceive -- </a:t>
            </a:r>
            <a:r>
              <a:rPr lang="en-US" dirty="0" err="1"/>
              <a:t>Cieve</a:t>
            </a:r>
            <a:r>
              <a:rPr lang="en-US" dirty="0"/>
              <a:t>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Over</a:t>
            </a:r>
            <a:r>
              <a:rPr lang="en-US" dirty="0"/>
              <a:t>whelmed – Whelmed?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Synthes</a:t>
            </a:r>
            <a:r>
              <a:rPr lang="en-US" b="1" dirty="0"/>
              <a:t>ize</a:t>
            </a:r>
            <a:r>
              <a:rPr lang="en-US" dirty="0"/>
              <a:t> – Synth?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Non</a:t>
            </a:r>
            <a:r>
              <a:rPr lang="en-US" dirty="0"/>
              <a:t>-plussed – Plussed?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Do</a:t>
            </a:r>
            <a:r>
              <a:rPr lang="en-US" dirty="0"/>
              <a:t> consider these as Morphemes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Received – Recogniz</a:t>
            </a:r>
            <a:r>
              <a:rPr lang="en-US" b="1" u="sng" dirty="0"/>
              <a:t>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Synthesize -- Synthesiz</a:t>
            </a:r>
            <a:r>
              <a:rPr lang="en-US" b="1" u="sng" dirty="0"/>
              <a:t>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677714-03FB-8A2F-7126-14444AD0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70774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8DC5-635E-D17C-377C-384BFE480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1BA822-AA5B-E706-C17A-EDCF03A5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our Exam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Identify morphemes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Classify as free or bound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 won’t add any borderline cases or trick questions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No “Overwhelmed” or “Understand”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C19A89-684B-05A1-4AA0-4B77A7F6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80008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1A16-1B6B-A538-09B6-2CAEA2F2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1BC7C7-BFFF-3E39-4C5F-082D3E325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Pause a Moment…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Any Question</a:t>
            </a:r>
            <a:r>
              <a:rPr lang="en-US" dirty="0"/>
              <a:t>s about Morphology?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Morphology questions on Quiz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Will return to answer more questions when we do the study guide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Next is Parts of Speech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Will Continue on Monday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5C7533-D773-3DAB-2B09-5F223C4C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73067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220C-20EE-11C6-CEDF-C89729AF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5CE09F-5521-3891-A5E8-F3D7287B9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vs 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Form = Morphology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Changes to the word structure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Boy –Boys, Try-Tried, Sudden - Suddenly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Function = Syntax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Placement and role in the sentence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I </a:t>
            </a:r>
            <a:r>
              <a:rPr lang="en-US" u="sng" dirty="0"/>
              <a:t>fly</a:t>
            </a:r>
            <a:r>
              <a:rPr lang="en-US" dirty="0"/>
              <a:t> gracefully around the room.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/>
              <a:t>There is a </a:t>
            </a:r>
            <a:r>
              <a:rPr lang="en-US" u="sng" dirty="0"/>
              <a:t>fly</a:t>
            </a:r>
            <a:r>
              <a:rPr lang="en-US" dirty="0"/>
              <a:t> in my room.</a:t>
            </a:r>
          </a:p>
          <a:p>
            <a:pPr marL="658368" lvl="2" indent="0">
              <a:buNone/>
            </a:pP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1E0A4C-6B4A-DC09-FA67-924071D4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CONCEP</a:t>
            </a:r>
          </a:p>
        </p:txBody>
      </p:sp>
    </p:spTree>
    <p:extLst>
      <p:ext uri="{BB962C8B-B14F-4D97-AF65-F5344CB8AC3E}">
        <p14:creationId xmlns:p14="http://schemas.microsoft.com/office/powerpoint/2010/main" val="341313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B39B3-CC6C-7C65-1083-1DEE1BEB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82CF48-3C64-DB3E-7321-804703214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Matching Form and 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 run very </a:t>
            </a:r>
            <a:r>
              <a:rPr lang="en-US" u="sng" dirty="0"/>
              <a:t>quickly</a:t>
            </a:r>
            <a:r>
              <a:rPr lang="en-US" dirty="0"/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Function: ADVERB - Quickly modifies the verb “run”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Form: ADVERB - Quickly can form an adjective by removing –</a:t>
            </a:r>
            <a:r>
              <a:rPr lang="en-US" dirty="0" err="1"/>
              <a:t>ly</a:t>
            </a:r>
            <a:r>
              <a:rPr lang="en-US" dirty="0"/>
              <a:t> (quick)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Clashing Form and Function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 run very </a:t>
            </a:r>
            <a:r>
              <a:rPr lang="en-US" u="sng" dirty="0"/>
              <a:t>fast</a:t>
            </a:r>
            <a:r>
              <a:rPr lang="en-US" dirty="0"/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Function: ADVERB - Quickly modifies the verb “run”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Form: ADJECTIVE – Fast has superlative form (faster)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EF97CE-3C98-17E8-F014-5E785126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CONCEP</a:t>
            </a:r>
          </a:p>
        </p:txBody>
      </p:sp>
    </p:spTree>
    <p:extLst>
      <p:ext uri="{BB962C8B-B14F-4D97-AF65-F5344CB8AC3E}">
        <p14:creationId xmlns:p14="http://schemas.microsoft.com/office/powerpoint/2010/main" val="93181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Nouns – Syntax/Function Tests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follow a determiner </a:t>
            </a:r>
          </a:p>
          <a:p>
            <a:pPr marL="1353312" lvl="3" indent="-228600">
              <a:buFont typeface="Arial" panose="020B0604020202020204" pitchFamily="34" charset="0"/>
              <a:buChar char="•"/>
            </a:pPr>
            <a:r>
              <a:rPr lang="en-US" i="1" dirty="0"/>
              <a:t>an </a:t>
            </a:r>
            <a:r>
              <a:rPr lang="en-US" i="1" u="sng" dirty="0">
                <a:effectLst/>
              </a:rPr>
              <a:t>event</a:t>
            </a:r>
            <a:r>
              <a:rPr lang="en-US" dirty="0"/>
              <a:t> or </a:t>
            </a:r>
            <a:r>
              <a:rPr lang="en-US" i="1" dirty="0"/>
              <a:t>the</a:t>
            </a:r>
            <a:r>
              <a:rPr lang="en-US" dirty="0"/>
              <a:t> </a:t>
            </a:r>
            <a:r>
              <a:rPr lang="en-US" i="1" u="sng" dirty="0">
                <a:effectLst/>
              </a:rPr>
              <a:t>proposal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modified by adjectives </a:t>
            </a:r>
          </a:p>
          <a:p>
            <a:pPr marL="1353312" lvl="3" indent="-228600">
              <a:buFont typeface="Arial" panose="020B0604020202020204" pitchFamily="34" charset="0"/>
              <a:buChar char="•"/>
            </a:pPr>
            <a:r>
              <a:rPr lang="en-US" i="1" dirty="0"/>
              <a:t>a happy </a:t>
            </a:r>
            <a:r>
              <a:rPr lang="en-US" i="1" u="sng" dirty="0">
                <a:effectLst/>
              </a:rPr>
              <a:t>event</a:t>
            </a:r>
            <a:r>
              <a:rPr lang="en-US" dirty="0"/>
              <a:t> or </a:t>
            </a:r>
            <a:r>
              <a:rPr lang="en-US" i="1" dirty="0"/>
              <a:t>the new </a:t>
            </a:r>
            <a:r>
              <a:rPr lang="en-US" i="1" u="sng" dirty="0">
                <a:effectLst/>
              </a:rPr>
              <a:t>proposal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the subject or object of a verb </a:t>
            </a:r>
          </a:p>
          <a:p>
            <a:pPr marL="1353312" lvl="3" indent="-228600">
              <a:buFont typeface="Arial" panose="020B0604020202020204" pitchFamily="34" charset="0"/>
              <a:buChar char="•"/>
            </a:pPr>
            <a:r>
              <a:rPr lang="en-US" i="1" u="sng" dirty="0">
                <a:effectLst/>
              </a:rPr>
              <a:t>Events</a:t>
            </a:r>
            <a:r>
              <a:rPr lang="en-US" i="1" dirty="0"/>
              <a:t> occurred. </a:t>
            </a:r>
            <a:r>
              <a:rPr lang="en-US" dirty="0"/>
              <a:t>or </a:t>
            </a:r>
            <a:r>
              <a:rPr lang="en-US" i="1" dirty="0"/>
              <a:t>We made </a:t>
            </a:r>
            <a:r>
              <a:rPr lang="en-US" i="1" u="sng" dirty="0">
                <a:effectLst/>
              </a:rPr>
              <a:t>proposals</a:t>
            </a:r>
            <a:r>
              <a:rPr lang="en-US" i="1" dirty="0"/>
              <a:t>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replaced by a pronoun </a:t>
            </a:r>
          </a:p>
          <a:p>
            <a:pPr marL="1353312" lvl="3" indent="-228600">
              <a:buFont typeface="Arial" panose="020B0604020202020204" pitchFamily="34" charset="0"/>
              <a:buChar char="•"/>
            </a:pPr>
            <a:r>
              <a:rPr lang="en-US" i="1" u="sng" dirty="0">
                <a:effectLst/>
              </a:rPr>
              <a:t>Events</a:t>
            </a:r>
            <a:r>
              <a:rPr lang="en-US" i="1" dirty="0"/>
              <a:t> occurred. </a:t>
            </a:r>
            <a:r>
              <a:rPr lang="en-US" dirty="0"/>
              <a:t>→ </a:t>
            </a:r>
            <a:r>
              <a:rPr lang="en-US" i="1" u="sng" dirty="0">
                <a:effectLst/>
              </a:rPr>
              <a:t>They</a:t>
            </a:r>
            <a:r>
              <a:rPr lang="en-US" i="1" dirty="0"/>
              <a:t> occurred.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572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9DFD-DD1D-8387-9D3A-7ADBBD96B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F235F-362B-7C9D-AF1D-3270AF3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Nouns – Morphology/Form Tests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Most Nouns can be made Plural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Have singular and plural forms: e.g. </a:t>
            </a:r>
            <a:r>
              <a:rPr lang="en-US" sz="3500" i="1" dirty="0"/>
              <a:t>books</a:t>
            </a:r>
            <a:r>
              <a:rPr lang="en-US" sz="3500" dirty="0"/>
              <a:t>, </a:t>
            </a:r>
            <a:r>
              <a:rPr lang="en-US" sz="3500" i="1" dirty="0"/>
              <a:t>governments</a:t>
            </a:r>
            <a:r>
              <a:rPr lang="en-US" sz="3500" dirty="0"/>
              <a:t>, </a:t>
            </a:r>
            <a:r>
              <a:rPr lang="en-US" sz="3500" i="1" dirty="0"/>
              <a:t>happinesses</a:t>
            </a:r>
            <a:r>
              <a:rPr lang="en-US" sz="3500" dirty="0"/>
              <a:t> 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Note: The plurals of some abstract nouns can seem odd! Think outside the box to find contexts where they might naturally occur.</a:t>
            </a: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B5EFFD-0258-F239-A4C6-3BF0C44E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56417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Verbs – Syntax/Function Tests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Can combine with auxiliary verbs 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As in: </a:t>
            </a:r>
            <a:r>
              <a:rPr lang="en-US" sz="2800" i="1" dirty="0"/>
              <a:t>can </a:t>
            </a:r>
            <a:r>
              <a:rPr lang="en-US" sz="2800" i="1" u="sng" dirty="0">
                <a:effectLst/>
              </a:rPr>
              <a:t>remain</a:t>
            </a:r>
            <a:r>
              <a:rPr lang="en-US" sz="2800" dirty="0"/>
              <a:t>, </a:t>
            </a:r>
            <a:r>
              <a:rPr lang="en-US" sz="2800" i="1" dirty="0"/>
              <a:t>will </a:t>
            </a:r>
            <a:r>
              <a:rPr lang="en-US" sz="2800" i="1" u="sng" dirty="0">
                <a:effectLst/>
              </a:rPr>
              <a:t>know</a:t>
            </a:r>
            <a:r>
              <a:rPr lang="en-US" sz="2800" dirty="0"/>
              <a:t>, </a:t>
            </a:r>
            <a:r>
              <a:rPr lang="en-US" sz="2800" i="1" dirty="0"/>
              <a:t>have </a:t>
            </a:r>
            <a:r>
              <a:rPr lang="en-US" sz="2800" i="1" u="sng" dirty="0">
                <a:effectLst/>
              </a:rPr>
              <a:t>thought</a:t>
            </a:r>
            <a:r>
              <a:rPr lang="en-US" sz="2800" dirty="0"/>
              <a:t>, </a:t>
            </a:r>
            <a:r>
              <a:rPr lang="en-US" sz="2800" i="1" dirty="0"/>
              <a:t>be </a:t>
            </a:r>
            <a:r>
              <a:rPr lang="en-US" sz="2800" i="1" u="sng" dirty="0">
                <a:effectLst/>
              </a:rPr>
              <a:t>kicking</a:t>
            </a:r>
            <a:endParaRPr lang="en-US" sz="28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Can follow the infinitive marker </a:t>
            </a:r>
            <a:r>
              <a:rPr lang="en-US" sz="3000" i="1" dirty="0"/>
              <a:t>to</a:t>
            </a:r>
            <a:r>
              <a:rPr lang="en-US" sz="3000" dirty="0"/>
              <a:t> 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As in: </a:t>
            </a:r>
            <a:r>
              <a:rPr lang="en-US" sz="2800" i="1" dirty="0"/>
              <a:t>to </a:t>
            </a:r>
            <a:r>
              <a:rPr lang="en-US" sz="2800" i="1" u="sng" dirty="0"/>
              <a:t>kick</a:t>
            </a:r>
            <a:r>
              <a:rPr lang="en-US" sz="2800" dirty="0"/>
              <a:t>, </a:t>
            </a:r>
            <a:r>
              <a:rPr lang="en-US" sz="2800" i="1" dirty="0"/>
              <a:t>to </a:t>
            </a:r>
            <a:r>
              <a:rPr lang="en-US" sz="2800" i="1" u="sng" dirty="0"/>
              <a:t>think</a:t>
            </a:r>
            <a:r>
              <a:rPr lang="en-US" sz="2800" dirty="0"/>
              <a:t>, </a:t>
            </a:r>
            <a:r>
              <a:rPr lang="en-US" sz="2800" i="1" dirty="0"/>
              <a:t>to </a:t>
            </a:r>
            <a:r>
              <a:rPr lang="en-US" sz="2800" i="1" u="sng" dirty="0"/>
              <a:t>remain</a:t>
            </a:r>
            <a:r>
              <a:rPr lang="en-US" sz="2800" i="1" dirty="0"/>
              <a:t>, to </a:t>
            </a:r>
            <a:r>
              <a:rPr lang="en-US" sz="2800" i="1" u="sng" dirty="0">
                <a:effectLst/>
              </a:rPr>
              <a:t>know</a:t>
            </a:r>
            <a:endParaRPr lang="en-US" sz="28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Can take an object (without a preposition): 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As in: </a:t>
            </a:r>
            <a:r>
              <a:rPr lang="en-US" sz="2800" i="1" u="sng" dirty="0">
                <a:effectLst/>
              </a:rPr>
              <a:t>kick</a:t>
            </a:r>
            <a:r>
              <a:rPr lang="en-US" sz="2800" i="1" dirty="0"/>
              <a:t> the ball</a:t>
            </a:r>
            <a:r>
              <a:rPr lang="en-US" sz="2800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36943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DF65F-7C84-2471-0F1B-BB9793F7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128303-6D1E-7589-8EE4-3A697AAD3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Verbs – Morphology/Form Tests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Have a third person singular present tense form with </a:t>
            </a:r>
            <a:r>
              <a:rPr lang="en-US" sz="3200" i="1" dirty="0"/>
              <a:t>-s</a:t>
            </a:r>
            <a:r>
              <a:rPr lang="en-US" sz="3200" dirty="0"/>
              <a:t> 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As in: (</a:t>
            </a:r>
            <a:r>
              <a:rPr lang="en-US" sz="3000" i="1" dirty="0"/>
              <a:t>she/he/it</a:t>
            </a:r>
            <a:r>
              <a:rPr lang="en-US" sz="3000" dirty="0"/>
              <a:t>) </a:t>
            </a:r>
            <a:r>
              <a:rPr lang="en-US" sz="3000" i="1" u="sng" dirty="0">
                <a:effectLst/>
              </a:rPr>
              <a:t>kicks</a:t>
            </a:r>
            <a:r>
              <a:rPr lang="en-US" sz="3000" dirty="0"/>
              <a:t>, </a:t>
            </a:r>
            <a:r>
              <a:rPr lang="en-US" sz="3000" i="1" u="sng" dirty="0">
                <a:effectLst/>
              </a:rPr>
              <a:t>goes</a:t>
            </a:r>
            <a:r>
              <a:rPr lang="en-US" sz="3000" dirty="0"/>
              <a:t>, </a:t>
            </a:r>
            <a:r>
              <a:rPr lang="en-US" sz="3000" i="1" u="sng" dirty="0">
                <a:effectLst/>
              </a:rPr>
              <a:t>remains</a:t>
            </a:r>
            <a:endParaRPr lang="en-US" sz="30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Have a past tense form, usually (but not always) with </a:t>
            </a:r>
            <a:r>
              <a:rPr lang="en-US" sz="3200" i="1" dirty="0"/>
              <a:t>-ed</a:t>
            </a:r>
            <a:r>
              <a:rPr lang="en-US" sz="3200" dirty="0"/>
              <a:t> 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As in: (</a:t>
            </a:r>
            <a:r>
              <a:rPr lang="en-US" sz="3000" i="1" dirty="0"/>
              <a:t>she/he/it</a:t>
            </a:r>
            <a:r>
              <a:rPr lang="en-US" sz="3000" dirty="0"/>
              <a:t>) </a:t>
            </a:r>
            <a:r>
              <a:rPr lang="en-US" sz="3000" i="1" u="sng" dirty="0">
                <a:effectLst/>
              </a:rPr>
              <a:t>kicked</a:t>
            </a:r>
            <a:r>
              <a:rPr lang="en-US" sz="3000" dirty="0"/>
              <a:t>, </a:t>
            </a:r>
            <a:r>
              <a:rPr lang="en-US" sz="3000" i="1" u="sng" dirty="0">
                <a:effectLst/>
              </a:rPr>
              <a:t>went</a:t>
            </a:r>
            <a:r>
              <a:rPr lang="en-US" sz="3000" dirty="0"/>
              <a:t>, </a:t>
            </a:r>
            <a:r>
              <a:rPr lang="en-US" sz="3000" i="1" u="sng" dirty="0">
                <a:effectLst/>
              </a:rPr>
              <a:t>remained</a:t>
            </a:r>
            <a:endParaRPr lang="en-US" sz="30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Have a progressive form with </a:t>
            </a:r>
            <a:r>
              <a:rPr lang="en-US" sz="3200" i="1" dirty="0"/>
              <a:t>-</a:t>
            </a:r>
            <a:r>
              <a:rPr lang="en-US" sz="3200" i="1" dirty="0" err="1"/>
              <a:t>ing</a:t>
            </a:r>
            <a:r>
              <a:rPr lang="en-US" sz="3200" dirty="0"/>
              <a:t>. 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As in: </a:t>
            </a:r>
            <a:r>
              <a:rPr lang="en-US" sz="3000" i="1" u="sng" dirty="0">
                <a:effectLst/>
              </a:rPr>
              <a:t>kicking</a:t>
            </a:r>
            <a:r>
              <a:rPr lang="en-US" sz="3000" dirty="0"/>
              <a:t>, </a:t>
            </a:r>
            <a:r>
              <a:rPr lang="en-US" sz="3000" i="1" u="sng" dirty="0">
                <a:effectLst/>
              </a:rPr>
              <a:t>going</a:t>
            </a:r>
            <a:r>
              <a:rPr lang="en-US" sz="3000" dirty="0"/>
              <a:t>, </a:t>
            </a:r>
            <a:r>
              <a:rPr lang="en-US" sz="3000" i="1" u="sng" dirty="0">
                <a:effectLst/>
              </a:rPr>
              <a:t>remaining</a:t>
            </a:r>
            <a:endParaRPr lang="en-US" sz="3000" dirty="0"/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E2E30B-73CE-00B5-571B-85A881EA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3465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Adjectives – Syntax/Function Tests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Modify nouns (occur between determiner and noun) </a:t>
            </a:r>
          </a:p>
          <a:p>
            <a:pPr marL="12001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As in: </a:t>
            </a:r>
            <a:r>
              <a:rPr lang="en-US" sz="3200" i="1" dirty="0"/>
              <a:t>a </a:t>
            </a:r>
            <a:r>
              <a:rPr lang="en-US" sz="3200" i="1" u="sng" dirty="0">
                <a:effectLst/>
              </a:rPr>
              <a:t>happy</a:t>
            </a:r>
            <a:r>
              <a:rPr lang="en-US" sz="3200" i="1" dirty="0"/>
              <a:t> event</a:t>
            </a:r>
            <a:r>
              <a:rPr lang="en-US" sz="3200" dirty="0"/>
              <a:t> or </a:t>
            </a:r>
            <a:r>
              <a:rPr lang="en-US" sz="3200" i="1" dirty="0"/>
              <a:t>the </a:t>
            </a:r>
            <a:r>
              <a:rPr lang="en-US" sz="3200" i="1" u="sng" dirty="0">
                <a:effectLst/>
              </a:rPr>
              <a:t>new</a:t>
            </a:r>
            <a:r>
              <a:rPr lang="en-US" sz="3200" i="1" dirty="0"/>
              <a:t> proposal</a:t>
            </a:r>
            <a:endParaRPr lang="en-US" sz="32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Can be modified by “</a:t>
            </a:r>
            <a:r>
              <a:rPr lang="en-US" sz="3400" i="1" dirty="0"/>
              <a:t>very”</a:t>
            </a:r>
            <a:r>
              <a:rPr lang="en-US" sz="3400" dirty="0"/>
              <a:t> (but so can many adverbs!) </a:t>
            </a:r>
          </a:p>
          <a:p>
            <a:pPr marL="12001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As in: </a:t>
            </a:r>
            <a:r>
              <a:rPr lang="en-US" sz="3200" i="1" dirty="0"/>
              <a:t>very </a:t>
            </a:r>
            <a:r>
              <a:rPr lang="en-US" sz="3200" i="1" u="sng" dirty="0">
                <a:effectLst/>
              </a:rPr>
              <a:t>happy</a:t>
            </a:r>
            <a:r>
              <a:rPr lang="en-US" sz="3200" i="1" dirty="0"/>
              <a:t>, very </a:t>
            </a:r>
            <a:r>
              <a:rPr lang="en-US" sz="3200" i="1" u="sng" dirty="0">
                <a:effectLst/>
              </a:rPr>
              <a:t>new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17766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A103A-2EC7-CAE6-5A8C-6E552958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8535F3-87BA-C2D7-03B1-76429B5F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Adjectives – Morphology/Form Tests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Can often be suffixed by </a:t>
            </a:r>
            <a:r>
              <a:rPr lang="en-US" i="1" dirty="0"/>
              <a:t>–</a:t>
            </a:r>
            <a:r>
              <a:rPr lang="en-US" i="1" dirty="0" err="1"/>
              <a:t>ish</a:t>
            </a:r>
            <a:endParaRPr lang="en-US" i="1" dirty="0"/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i="1" dirty="0"/>
              <a:t>Tall-</a:t>
            </a:r>
            <a:r>
              <a:rPr lang="en-US" sz="2600" i="1" dirty="0" err="1"/>
              <a:t>ish</a:t>
            </a:r>
            <a:r>
              <a:rPr lang="en-US" sz="2600" i="1" dirty="0"/>
              <a:t>, Wealthy-</a:t>
            </a:r>
            <a:r>
              <a:rPr lang="en-US" sz="2600" i="1" dirty="0" err="1"/>
              <a:t>ish</a:t>
            </a:r>
            <a:endParaRPr lang="en-US" sz="2600" i="1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i="1" dirty="0"/>
              <a:t>Can sometimes be </a:t>
            </a:r>
            <a:r>
              <a:rPr lang="en-US" i="1" u="sng" dirty="0"/>
              <a:t>changed</a:t>
            </a:r>
            <a:r>
              <a:rPr lang="en-US" i="1" dirty="0"/>
              <a:t> to an adverb with –</a:t>
            </a:r>
            <a:r>
              <a:rPr lang="en-US" i="1" dirty="0" err="1"/>
              <a:t>ly</a:t>
            </a:r>
            <a:endParaRPr lang="en-US" i="1" dirty="0"/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True -- Truly, Sad -- Sadly   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May have comparative and superlative forms (</a:t>
            </a:r>
            <a:r>
              <a:rPr lang="en-US" dirty="0" err="1"/>
              <a:t>gradeable</a:t>
            </a:r>
            <a:r>
              <a:rPr lang="en-US" dirty="0"/>
              <a:t>)</a:t>
            </a: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i="1" dirty="0"/>
              <a:t>Happi</a:t>
            </a:r>
            <a:r>
              <a:rPr lang="en-US" sz="2600" b="1" i="1" dirty="0"/>
              <a:t>er</a:t>
            </a:r>
            <a:r>
              <a:rPr lang="en-US" sz="2600" dirty="0"/>
              <a:t>, </a:t>
            </a:r>
            <a:r>
              <a:rPr lang="en-US" sz="2600" i="1" dirty="0"/>
              <a:t>Happie</a:t>
            </a:r>
            <a:r>
              <a:rPr lang="en-US" sz="2600" b="1" i="1" dirty="0"/>
              <a:t>st</a:t>
            </a: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i="0" dirty="0"/>
              <a:t>More spectacular, Most spectacular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AD1628-AC59-D3D1-E73A-7A174AA1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93012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Adverbs – Syntax/Function Tests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dirty="0"/>
              <a:t>Modify verbs, adjectives, adverbs, and whole sentences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800" dirty="0"/>
              <a:t>Anything but nouns!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FF0000"/>
                </a:solidFill>
              </a:rPr>
              <a:t>Cannot</a:t>
            </a:r>
            <a:r>
              <a:rPr lang="en-US" sz="3000" dirty="0"/>
              <a:t> </a:t>
            </a:r>
            <a:r>
              <a:rPr lang="en-US" sz="3000" b="0" dirty="0"/>
              <a:t>appear alone between a determiner and a noun.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slowly</a:t>
            </a:r>
            <a:r>
              <a:rPr lang="en-US" sz="2800" dirty="0"/>
              <a:t> man, an </a:t>
            </a:r>
            <a:r>
              <a:rPr lang="en-US" sz="2800" dirty="0">
                <a:solidFill>
                  <a:srgbClr val="FF0000"/>
                </a:solidFill>
              </a:rPr>
              <a:t>often</a:t>
            </a:r>
            <a:r>
              <a:rPr lang="en-US" sz="2800" dirty="0"/>
              <a:t> problem</a:t>
            </a:r>
            <a:endParaRPr lang="en-US" sz="2800" b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b="0" dirty="0"/>
              <a:t>Can be modified by </a:t>
            </a:r>
            <a:r>
              <a:rPr lang="en-US" sz="3000" b="0" i="1" dirty="0"/>
              <a:t>very</a:t>
            </a:r>
            <a:r>
              <a:rPr lang="en-US" sz="3000" b="0" dirty="0"/>
              <a:t> (but so can adjectives!)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800" dirty="0"/>
              <a:t>Very slowly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800" b="0" dirty="0"/>
              <a:t>Very often</a:t>
            </a: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77526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291A-157A-9B9A-633A-5BCEADD4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0F11C8-2181-8ABF-F1C3-630D1D8B9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997" y="1265234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Adverbs – Morphology/Form Tests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Many (not all) adverbs end in </a:t>
            </a:r>
            <a:r>
              <a:rPr lang="en-US" sz="3500" i="1" dirty="0"/>
              <a:t>–</a:t>
            </a:r>
            <a:r>
              <a:rPr lang="en-US" sz="3500" i="1" dirty="0" err="1"/>
              <a:t>ly</a:t>
            </a:r>
            <a:endParaRPr lang="en-US" sz="3500" i="1" dirty="0"/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300" dirty="0"/>
              <a:t>Slowly, Happily, Gladly, Usually, Deeply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Can often be changed to an Adjective</a:t>
            </a:r>
          </a:p>
          <a:p>
            <a: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300" dirty="0"/>
              <a:t>Slow, Happy, Glad, Usual, Deep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D155A7-1C24-BAE4-23E2-81D9B929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9830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>
                <a:ea typeface="Calibri" panose="020F0502020204030204" pitchFamily="34" charset="0"/>
                <a:cs typeface="Times New Roman" panose="02020603050405020304" pitchFamily="18" charset="0"/>
              </a:rPr>
              <a:t>For Monday 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Chapter 1 (Syntax) from Rhetorical Grammar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Has a video from me instead of PBS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PRE-view</a:t>
            </a:r>
          </a:p>
        </p:txBody>
      </p:sp>
    </p:spTree>
    <p:extLst>
      <p:ext uri="{BB962C8B-B14F-4D97-AF65-F5344CB8AC3E}">
        <p14:creationId xmlns:p14="http://schemas.microsoft.com/office/powerpoint/2010/main" val="142303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1209</Words>
  <Application>Microsoft Office PowerPoint</Application>
  <PresentationFormat>Widescreen</PresentationFormat>
  <Paragraphs>190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Abadi</vt:lpstr>
      <vt:lpstr>Arial</vt:lpstr>
      <vt:lpstr>Calibri</vt:lpstr>
      <vt:lpstr>Century Gothic</vt:lpstr>
      <vt:lpstr>Encode Sans</vt:lpstr>
      <vt:lpstr>Palatino Linotype</vt:lpstr>
      <vt:lpstr>Segoe UI</vt:lpstr>
      <vt:lpstr>Verdana</vt:lpstr>
      <vt:lpstr>Wingdings 2</vt:lpstr>
      <vt:lpstr>Dad's tie design template</vt:lpstr>
      <vt:lpstr>Course Introduction</vt:lpstr>
      <vt:lpstr>Please Be Patient!</vt:lpstr>
      <vt:lpstr>House Keeping</vt:lpstr>
      <vt:lpstr>Refresher</vt:lpstr>
      <vt:lpstr>Homework Review</vt:lpstr>
      <vt:lpstr>Homework Review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IMPORTANT CONCEP</vt:lpstr>
      <vt:lpstr>IMPORTANT CONCEP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Homework PRE-view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2025-09-03T20:56:59Z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