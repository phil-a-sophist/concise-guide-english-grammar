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6" r:id="rId2"/>
  </p:sldMasterIdLst>
  <p:notesMasterIdLst>
    <p:notesMasterId r:id="rId18"/>
  </p:notesMasterIdLst>
  <p:handoutMasterIdLst>
    <p:handoutMasterId r:id="rId19"/>
  </p:handoutMasterIdLst>
  <p:sldIdLst>
    <p:sldId id="270" r:id="rId3"/>
    <p:sldId id="522" r:id="rId4"/>
    <p:sldId id="486" r:id="rId5"/>
    <p:sldId id="515" r:id="rId6"/>
    <p:sldId id="516" r:id="rId7"/>
    <p:sldId id="517" r:id="rId8"/>
    <p:sldId id="498" r:id="rId9"/>
    <p:sldId id="521" r:id="rId10"/>
    <p:sldId id="528" r:id="rId11"/>
    <p:sldId id="529" r:id="rId12"/>
    <p:sldId id="520" r:id="rId13"/>
    <p:sldId id="532" r:id="rId14"/>
    <p:sldId id="530" r:id="rId15"/>
    <p:sldId id="531" r:id="rId16"/>
    <p:sldId id="40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E8E8E8"/>
    <a:srgbClr val="D5ECFF"/>
    <a:srgbClr val="B9DFFF"/>
    <a:srgbClr val="97D0FF"/>
    <a:srgbClr val="C4E5FC"/>
    <a:srgbClr val="C6BD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4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768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253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EF702-0714-4E08-A299-FB7CD6DD53D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0F021-7EF0-4BDC-ABAA-3F31888D2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8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3835DD-85A7-4A1D-B5D6-4471BFC8E4F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45845-826A-4014-B98A-97266F305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869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45845-826A-4014-B98A-97266F3057F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538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040309"/>
          </a:xfrm>
          <a:solidFill>
            <a:srgbClr val="F3F3F3"/>
          </a:solidFill>
          <a:ln>
            <a:solidFill>
              <a:schemeClr val="tx1"/>
            </a:solidFill>
          </a:ln>
        </p:spPr>
        <p:txBody>
          <a:bodyPr tIns="91440"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3200" b="1" u="none" kern="1200" spc="0" baseline="0">
                <a:latin typeface="Calibri" panose="020F050202020403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800" i="0" kern="1200" spc="0" baseline="0">
                <a:latin typeface="Calibri" panose="020F050202020403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400" i="1" kern="1200" spc="0" baseline="0">
                <a:latin typeface="Calibri" panose="020F0502020204030204" pitchFamily="3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200" i="1" kern="1200" spc="0" baseline="0">
                <a:latin typeface="Calibri" panose="020F0502020204030204" pitchFamily="3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200" i="1" kern="1200" spc="0" baseline="0">
                <a:latin typeface="Calibri" panose="020F0502020204030204" pitchFamily="34" charset="0"/>
              </a:defRPr>
            </a:lvl5pPr>
          </a:lstStyle>
          <a:p>
            <a:pPr lvl="0" eaLnBrk="1" latinLnBrk="0" hangingPunct="1"/>
            <a:r>
              <a:rPr lang="en-US" dirty="0"/>
              <a:t>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60997" y="546793"/>
            <a:ext cx="10461669" cy="718441"/>
          </a:xfrm>
          <a:noFill/>
        </p:spPr>
        <p:txBody>
          <a:bodyPr>
            <a:noAutofit/>
          </a:bodyPr>
          <a:lstStyle>
            <a:lvl1pPr algn="ctr">
              <a:defRPr sz="3600" b="1" u="sng" baseline="0">
                <a:effectLst/>
                <a:latin typeface="Calibri" panose="020F0502020204030204" pitchFamily="34" charset="0"/>
              </a:defRPr>
            </a:lvl1pPr>
          </a:lstStyle>
          <a:p>
            <a:r>
              <a:rPr kumimoji="0" lang="en-US" dirty="0"/>
              <a:t>SLIDE TITLE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1545844" y="621403"/>
            <a:ext cx="8779256" cy="72479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Calibri" panose="020F0502020204030204" pitchFamily="34" charset="0"/>
                <a:ea typeface="+mj-ea"/>
                <a:cs typeface="+mj-cs"/>
              </a:defRPr>
            </a:lvl1pPr>
            <a:extLst/>
          </a:lstStyle>
          <a:p>
            <a:endParaRPr lang="en-US" sz="3200" b="1" dirty="0"/>
          </a:p>
        </p:txBody>
      </p:sp>
      <p:sp>
        <p:nvSpPr>
          <p:cNvPr id="11" name="Title 1"/>
          <p:cNvSpPr txBox="1">
            <a:spLocks/>
          </p:cNvSpPr>
          <p:nvPr userDrawn="1"/>
        </p:nvSpPr>
        <p:spPr>
          <a:xfrm>
            <a:off x="1545843" y="88897"/>
            <a:ext cx="10476823" cy="4515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algn="l" rtl="0" eaLnBrk="1" latinLnBrk="0" hangingPunct="1">
              <a:lnSpc>
                <a:spcPts val="4500"/>
              </a:lnSpc>
              <a:spcBef>
                <a:spcPct val="0"/>
              </a:spcBef>
              <a:buNone/>
              <a:defRPr kumimoji="0" sz="4000" b="1" kern="1200" cap="all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 panose="020F0502020204030204" pitchFamily="34" charset="0"/>
              </a:rPr>
              <a:t>ENGL 3110 – Advanced Grammar</a:t>
            </a:r>
          </a:p>
        </p:txBody>
      </p:sp>
    </p:spTree>
    <p:extLst>
      <p:ext uri="{BB962C8B-B14F-4D97-AF65-F5344CB8AC3E}">
        <p14:creationId xmlns:p14="http://schemas.microsoft.com/office/powerpoint/2010/main" val="1865394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9BA0-A3F1-4AE0-A095-A691F325988D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910080" y="1850064"/>
            <a:ext cx="987552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910080" y="359898"/>
            <a:ext cx="987552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03323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1BA8-14CB-402F-AB5D-65EFB4CEE9BA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7856" y="1066800"/>
            <a:ext cx="85344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9644" y="2600325"/>
            <a:ext cx="10382612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8125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792A-0B0D-4D75-99F7-2870465BBD14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478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1414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61629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  <p15:guide id="2" pos="1200" userDrawn="1">
          <p15:clr>
            <a:srgbClr val="FBAE40"/>
          </p15:clr>
        </p15:guide>
        <p15:guide id="3" pos="7512" userDrawn="1">
          <p15:clr>
            <a:srgbClr val="FBAE40"/>
          </p15:clr>
        </p15:guide>
        <p15:guide id="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14D2-C15B-4C78-A526-4D8666FA99F8}" type="datetime1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51548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7051548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1908975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8975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10490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1200" userDrawn="1">
          <p15:clr>
            <a:srgbClr val="FBAE40"/>
          </p15:clr>
        </p15:guide>
        <p15:guide id="2" pos="751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1A27-4218-4094-BEAE-9A3589DB2B89}" type="datetime1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1508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9AB3-3BFC-4457-B471-ADCDC73FC5EE}" type="datetime1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97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905000" y="2133601"/>
            <a:ext cx="95758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00674-BE8F-4CEA-9736-5FEE3AB227F1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905000" y="1406964"/>
            <a:ext cx="5516078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16778"/>
            <a:ext cx="5516078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9833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120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953A3-A3BE-4323-8A5F-3F3FB07EB2DE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16000" y="1066800"/>
            <a:ext cx="6096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143004"/>
            <a:ext cx="58928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marL="0" indent="0" algn="l" eaLnBrk="1" latinLnBrk="0" hangingPunct="1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528967" y="954341"/>
            <a:ext cx="9144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6671556" y="936786"/>
            <a:ext cx="865632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7600" y="4800600"/>
            <a:ext cx="58928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9195" y="1066800"/>
            <a:ext cx="36576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1076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DF06-9503-4BFC-9BDB-01518A2C34BB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75680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D803-E824-49BC-A33E-A6A786BEDB3D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274640"/>
            <a:ext cx="2438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3560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D3032-ACFF-440E-8C29-E047F0CC3352}" type="datetime1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51548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7051548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1908975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8975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12342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1200" userDrawn="1">
          <p15:clr>
            <a:srgbClr val="FBAE40"/>
          </p15:clr>
        </p15:guide>
        <p15:guide id="3" pos="751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A93063ED-E45C-4ACA-BFCF-74D8FA5A001B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tx2"/>
                </a:solidFill>
                <a:effectLst/>
              </a:defRPr>
            </a:lvl1pPr>
            <a:extLst/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tx2"/>
                </a:solidFill>
                <a:effectLst/>
              </a:defRPr>
            </a:lvl1pPr>
            <a:extLst/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-13023" y="-5589"/>
            <a:ext cx="1482350" cy="6868109"/>
            <a:chOff x="-13023" y="-5589"/>
            <a:chExt cx="1482350" cy="6868109"/>
          </a:xfrm>
        </p:grpSpPr>
        <p:grpSp>
          <p:nvGrpSpPr>
            <p:cNvPr id="6" name="Group 5"/>
            <p:cNvGrpSpPr/>
            <p:nvPr userDrawn="1"/>
          </p:nvGrpSpPr>
          <p:grpSpPr>
            <a:xfrm>
              <a:off x="20147" y="-5589"/>
              <a:ext cx="1397008" cy="6858000"/>
              <a:chOff x="1097" y="-4624"/>
              <a:chExt cx="1397008" cy="6857406"/>
            </a:xfrm>
          </p:grpSpPr>
          <p:sp>
            <p:nvSpPr>
              <p:cNvPr id="18" name="Freeform 4"/>
              <p:cNvSpPr>
                <a:spLocks/>
              </p:cNvSpPr>
              <p:nvPr/>
            </p:nvSpPr>
            <p:spPr bwMode="ltGray">
              <a:xfrm flipH="1">
                <a:off x="13149" y="-4624"/>
                <a:ext cx="1367425" cy="6837767"/>
              </a:xfrm>
              <a:custGeom>
                <a:avLst/>
                <a:gdLst>
                  <a:gd name="T0" fmla="*/ 0 w 1000"/>
                  <a:gd name="T1" fmla="*/ 0 h 720"/>
                  <a:gd name="T2" fmla="*/ 0 w 1000"/>
                  <a:gd name="T3" fmla="*/ 720 h 720"/>
                  <a:gd name="T4" fmla="*/ 1000 w 1000"/>
                  <a:gd name="T5" fmla="*/ 720 h 720"/>
                  <a:gd name="T6" fmla="*/ 1000 w 1000"/>
                  <a:gd name="T7" fmla="*/ 0 h 720"/>
                  <a:gd name="T8" fmla="*/ 0 w 1000"/>
                  <a:gd name="T9" fmla="*/ 0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Freeform 5"/>
              <p:cNvSpPr>
                <a:spLocks/>
              </p:cNvSpPr>
              <p:nvPr/>
            </p:nvSpPr>
            <p:spPr bwMode="ltGray">
              <a:xfrm flipH="1">
                <a:off x="13149" y="1692618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Freeform 6"/>
              <p:cNvSpPr>
                <a:spLocks/>
              </p:cNvSpPr>
              <p:nvPr/>
            </p:nvSpPr>
            <p:spPr bwMode="ltGray">
              <a:xfrm flipH="1">
                <a:off x="14245" y="1286160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Freeform 7"/>
              <p:cNvSpPr>
                <a:spLocks/>
              </p:cNvSpPr>
              <p:nvPr/>
            </p:nvSpPr>
            <p:spPr bwMode="ltGray">
              <a:xfrm flipH="1">
                <a:off x="13149" y="148913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Freeform 8"/>
              <p:cNvSpPr>
                <a:spLocks/>
              </p:cNvSpPr>
              <p:nvPr/>
            </p:nvSpPr>
            <p:spPr bwMode="ltGray">
              <a:xfrm flipH="1">
                <a:off x="14245" y="983847"/>
                <a:ext cx="1367425" cy="3499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/>
              </p:cNvSpPr>
              <p:nvPr/>
            </p:nvSpPr>
            <p:spPr bwMode="ltGray">
              <a:xfrm flipH="1">
                <a:off x="14245" y="679152"/>
                <a:ext cx="1367425" cy="430857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Freeform 10"/>
              <p:cNvSpPr>
                <a:spLocks/>
              </p:cNvSpPr>
              <p:nvPr/>
            </p:nvSpPr>
            <p:spPr bwMode="ltGray">
              <a:xfrm flipH="1">
                <a:off x="13149" y="371483"/>
                <a:ext cx="1384956" cy="37491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Freeform 11"/>
              <p:cNvSpPr>
                <a:spLocks/>
              </p:cNvSpPr>
              <p:nvPr/>
            </p:nvSpPr>
            <p:spPr bwMode="ltGray">
              <a:xfrm flipH="1">
                <a:off x="2192" y="3939738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/>
              </p:cNvSpPr>
              <p:nvPr/>
            </p:nvSpPr>
            <p:spPr bwMode="ltGray">
              <a:xfrm flipH="1">
                <a:off x="3288" y="3533280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/>
              </p:cNvSpPr>
              <p:nvPr/>
            </p:nvSpPr>
            <p:spPr bwMode="ltGray">
              <a:xfrm flipH="1">
                <a:off x="2192" y="2394843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Freeform 14"/>
              <p:cNvSpPr>
                <a:spLocks/>
              </p:cNvSpPr>
              <p:nvPr/>
            </p:nvSpPr>
            <p:spPr bwMode="ltGray">
              <a:xfrm flipH="1">
                <a:off x="3288" y="3229776"/>
                <a:ext cx="1367425" cy="3499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/>
              </p:cNvSpPr>
              <p:nvPr/>
            </p:nvSpPr>
            <p:spPr bwMode="ltGray">
              <a:xfrm flipH="1">
                <a:off x="2192" y="2926868"/>
                <a:ext cx="1367425" cy="429666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Freeform 16"/>
              <p:cNvSpPr>
                <a:spLocks/>
              </p:cNvSpPr>
              <p:nvPr/>
            </p:nvSpPr>
            <p:spPr bwMode="ltGray">
              <a:xfrm flipH="1">
                <a:off x="3288" y="2616817"/>
                <a:ext cx="1384956" cy="37610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" name="Freeform 17"/>
              <p:cNvSpPr>
                <a:spLocks/>
              </p:cNvSpPr>
              <p:nvPr/>
            </p:nvSpPr>
            <p:spPr bwMode="ltGray">
              <a:xfrm flipH="1">
                <a:off x="13149" y="4970461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Freeform 18"/>
              <p:cNvSpPr>
                <a:spLocks/>
              </p:cNvSpPr>
              <p:nvPr/>
            </p:nvSpPr>
            <p:spPr bwMode="ltGray">
              <a:xfrm flipH="1">
                <a:off x="14245" y="4564004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Freeform 19"/>
              <p:cNvSpPr>
                <a:spLocks/>
              </p:cNvSpPr>
              <p:nvPr/>
            </p:nvSpPr>
            <p:spPr bwMode="ltGray">
              <a:xfrm flipH="1">
                <a:off x="2192" y="5672686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/>
              </p:cNvSpPr>
              <p:nvPr/>
            </p:nvSpPr>
            <p:spPr bwMode="ltGray">
              <a:xfrm rot="16200000" flipH="1">
                <a:off x="512729" y="5994798"/>
                <a:ext cx="346352" cy="1369616"/>
              </a:xfrm>
              <a:custGeom>
                <a:avLst/>
                <a:gdLst>
                  <a:gd name="T0" fmla="*/ 0 w 291"/>
                  <a:gd name="T1" fmla="*/ 624 h 625"/>
                  <a:gd name="T2" fmla="*/ 291 w 291"/>
                  <a:gd name="T3" fmla="*/ 625 h 625"/>
                  <a:gd name="T4" fmla="*/ 291 w 291"/>
                  <a:gd name="T5" fmla="*/ 6 h 625"/>
                  <a:gd name="T6" fmla="*/ 0 w 291"/>
                  <a:gd name="T7" fmla="*/ 0 h 625"/>
                  <a:gd name="T8" fmla="*/ 0 w 291"/>
                  <a:gd name="T9" fmla="*/ 624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" name="Freeform 21"/>
              <p:cNvSpPr>
                <a:spLocks/>
              </p:cNvSpPr>
              <p:nvPr/>
            </p:nvSpPr>
            <p:spPr bwMode="ltGray">
              <a:xfrm flipH="1">
                <a:off x="2192" y="6204711"/>
                <a:ext cx="1367425" cy="429666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Freeform 22"/>
              <p:cNvSpPr>
                <a:spLocks/>
              </p:cNvSpPr>
              <p:nvPr/>
            </p:nvSpPr>
            <p:spPr bwMode="ltGray">
              <a:xfrm flipH="1">
                <a:off x="3288" y="5894661"/>
                <a:ext cx="1384956" cy="37610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6" name="Freeform 23"/>
            <p:cNvSpPr>
              <a:spLocks/>
            </p:cNvSpPr>
            <p:nvPr/>
          </p:nvSpPr>
          <p:spPr bwMode="ltGray">
            <a:xfrm rot="16200000" flipH="1">
              <a:off x="-2995169" y="2977523"/>
              <a:ext cx="6867143" cy="902851"/>
            </a:xfrm>
            <a:custGeom>
              <a:avLst/>
              <a:gdLst>
                <a:gd name="T0" fmla="*/ 0 w 5762"/>
                <a:gd name="T1" fmla="*/ 196 h 385"/>
                <a:gd name="T2" fmla="*/ 5762 w 5762"/>
                <a:gd name="T3" fmla="*/ 188 h 385"/>
                <a:gd name="T4" fmla="*/ 5762 w 5762"/>
                <a:gd name="T5" fmla="*/ 4 h 385"/>
                <a:gd name="T6" fmla="*/ 0 w 5762"/>
                <a:gd name="T7" fmla="*/ 0 h 385"/>
                <a:gd name="T8" fmla="*/ 0 w 5762"/>
                <a:gd name="T9" fmla="*/ 196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Freeform 24"/>
            <p:cNvSpPr>
              <a:spLocks/>
            </p:cNvSpPr>
            <p:nvPr/>
          </p:nvSpPr>
          <p:spPr bwMode="ltGray">
            <a:xfrm rot="16200000" flipH="1">
              <a:off x="-2170536" y="3221067"/>
              <a:ext cx="6865553" cy="414172"/>
            </a:xfrm>
            <a:custGeom>
              <a:avLst/>
              <a:gdLst>
                <a:gd name="T0" fmla="*/ 0 w 5761"/>
                <a:gd name="T1" fmla="*/ 28 h 189"/>
                <a:gd name="T2" fmla="*/ 5761 w 5761"/>
                <a:gd name="T3" fmla="*/ 0 h 189"/>
                <a:gd name="T4" fmla="*/ 5761 w 5761"/>
                <a:gd name="T5" fmla="*/ 189 h 189"/>
                <a:gd name="T6" fmla="*/ 1 w 5761"/>
                <a:gd name="T7" fmla="*/ 189 h 189"/>
                <a:gd name="T8" fmla="*/ 0 w 5761"/>
                <a:gd name="T9" fmla="*/ 28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" name="Text Placeholder 8"/>
          <p:cNvSpPr>
            <a:spLocks noGrp="1"/>
          </p:cNvSpPr>
          <p:nvPr userDrawn="1">
            <p:ph type="body" idx="1"/>
          </p:nvPr>
        </p:nvSpPr>
        <p:spPr>
          <a:xfrm>
            <a:off x="1914144" y="1447800"/>
            <a:ext cx="999744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  <p:sp>
        <p:nvSpPr>
          <p:cNvPr id="5" name="Title Placeholder 4"/>
          <p:cNvSpPr>
            <a:spLocks noGrp="1"/>
          </p:cNvSpPr>
          <p:nvPr userDrawn="1">
            <p:ph type="title"/>
          </p:nvPr>
        </p:nvSpPr>
        <p:spPr>
          <a:xfrm>
            <a:off x="1914144" y="274638"/>
            <a:ext cx="999744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514842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7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68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753780" y="375411"/>
            <a:ext cx="10071027" cy="1608839"/>
          </a:xfrm>
        </p:spPr>
        <p:txBody>
          <a:bodyPr>
            <a:noAutofit/>
          </a:bodyPr>
          <a:lstStyle/>
          <a:p>
            <a:pPr algn="ctr"/>
            <a:r>
              <a:rPr lang="en-US" sz="8800" u="sng" dirty="0">
                <a:latin typeface="Calibri" panose="020F0502020204030204" pitchFamily="34" charset="0"/>
              </a:rPr>
              <a:t>Course 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FA763A-849E-46B9-8AEE-24CEB780A7C9}"/>
              </a:ext>
            </a:extLst>
          </p:cNvPr>
          <p:cNvSpPr txBox="1"/>
          <p:nvPr/>
        </p:nvSpPr>
        <p:spPr>
          <a:xfrm>
            <a:off x="2112884" y="3407689"/>
            <a:ext cx="9099613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4800" dirty="0">
                <a:latin typeface="Abadi" panose="020B0604020202020204" pitchFamily="34" charset="0"/>
              </a:rPr>
              <a:t>Welcome to ENGL 3110</a:t>
            </a:r>
          </a:p>
        </p:txBody>
      </p:sp>
    </p:spTree>
    <p:extLst>
      <p:ext uri="{BB962C8B-B14F-4D97-AF65-F5344CB8AC3E}">
        <p14:creationId xmlns:p14="http://schemas.microsoft.com/office/powerpoint/2010/main" val="4137776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EACF4-5319-0507-D8B1-3B4259981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FBB76F-4C4A-2B0D-0080-DA3E0EDDF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/>
          </a:bodyPr>
          <a:lstStyle/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What are the three English “Auxiliary” Verbs?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What are the four “aspects” of English Verbs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How are these aspects conjugated in present tense?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How do you apply past tense to a sentence with grammatical aspect?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Which word becomes past tense?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7D9DD7-3EF4-FA18-153E-C97052928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1355330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1775EEDC-95C3-AB53-40F9-92B61F7F4A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3552499"/>
              </p:ext>
            </p:extLst>
          </p:nvPr>
        </p:nvGraphicFramePr>
        <p:xfrm>
          <a:off x="1546225" y="1304925"/>
          <a:ext cx="10308550" cy="482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430">
                  <a:extLst>
                    <a:ext uri="{9D8B030D-6E8A-4147-A177-3AD203B41FA5}">
                      <a16:colId xmlns:a16="http://schemas.microsoft.com/office/drawing/2014/main" val="1760601418"/>
                    </a:ext>
                  </a:extLst>
                </a:gridCol>
                <a:gridCol w="1939047">
                  <a:extLst>
                    <a:ext uri="{9D8B030D-6E8A-4147-A177-3AD203B41FA5}">
                      <a16:colId xmlns:a16="http://schemas.microsoft.com/office/drawing/2014/main" val="3425045727"/>
                    </a:ext>
                  </a:extLst>
                </a:gridCol>
                <a:gridCol w="2399489">
                  <a:extLst>
                    <a:ext uri="{9D8B030D-6E8A-4147-A177-3AD203B41FA5}">
                      <a16:colId xmlns:a16="http://schemas.microsoft.com/office/drawing/2014/main" val="3222083275"/>
                    </a:ext>
                  </a:extLst>
                </a:gridCol>
                <a:gridCol w="2905328">
                  <a:extLst>
                    <a:ext uri="{9D8B030D-6E8A-4147-A177-3AD203B41FA5}">
                      <a16:colId xmlns:a16="http://schemas.microsoft.com/office/drawing/2014/main" val="2872427078"/>
                    </a:ext>
                  </a:extLst>
                </a:gridCol>
                <a:gridCol w="1848256">
                  <a:extLst>
                    <a:ext uri="{9D8B030D-6E8A-4147-A177-3AD203B41FA5}">
                      <a16:colId xmlns:a16="http://schemas.microsoft.com/office/drawing/2014/main" val="911077684"/>
                    </a:ext>
                  </a:extLst>
                </a:gridCol>
              </a:tblGrid>
              <a:tr h="530360"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Past Tense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Perfect 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Progressive 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Main Verb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297909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u="sng" dirty="0"/>
                        <a:t>(Past Tense)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 Have </a:t>
                      </a:r>
                    </a:p>
                    <a:p>
                      <a:r>
                        <a:rPr lang="en-US" i="1" dirty="0"/>
                        <a:t>(Past Participle)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 Be</a:t>
                      </a:r>
                    </a:p>
                    <a:p>
                      <a:r>
                        <a:rPr lang="en-US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(Present Participle)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743852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Ha</a:t>
                      </a:r>
                      <a:r>
                        <a:rPr lang="en-US" sz="2400" u="sng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i="1" dirty="0"/>
                        <a:t>Been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Walk</a:t>
                      </a:r>
                      <a:r>
                        <a:rPr 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521918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i="1" dirty="0"/>
                        <a:t>Been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Walk</a:t>
                      </a:r>
                      <a:r>
                        <a:rPr 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675677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Ha</a:t>
                      </a:r>
                      <a:r>
                        <a:rPr lang="en-US" sz="2400" u="sng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i="1" dirty="0"/>
                        <a:t>Walked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714033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i="1" dirty="0"/>
                        <a:t>Walked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473706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u="sng" dirty="0"/>
                        <a:t>Was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Walk</a:t>
                      </a:r>
                      <a:r>
                        <a:rPr 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034344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Walk</a:t>
                      </a:r>
                      <a:r>
                        <a:rPr 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750113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Walk</a:t>
                      </a:r>
                      <a:r>
                        <a:rPr lang="en-US" sz="2400" u="sng" dirty="0"/>
                        <a:t>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000558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Walk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9777882"/>
                  </a:ext>
                </a:extLst>
              </a:tr>
            </a:tbl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Review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64EC186F-AC62-96B7-66F9-2A7C7BC9CF7B}"/>
              </a:ext>
            </a:extLst>
          </p:cNvPr>
          <p:cNvSpPr/>
          <p:nvPr/>
        </p:nvSpPr>
        <p:spPr>
          <a:xfrm>
            <a:off x="6515674" y="2133351"/>
            <a:ext cx="369651" cy="324255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F008870-97F8-2AEB-F49B-784227D09F7B}"/>
              </a:ext>
            </a:extLst>
          </p:cNvPr>
          <p:cNvSpPr/>
          <p:nvPr/>
        </p:nvSpPr>
        <p:spPr>
          <a:xfrm>
            <a:off x="9332540" y="2133351"/>
            <a:ext cx="369651" cy="324255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908EBEC-06D8-43CA-2CAA-77F44F965215}"/>
              </a:ext>
            </a:extLst>
          </p:cNvPr>
          <p:cNvSpPr/>
          <p:nvPr/>
        </p:nvSpPr>
        <p:spPr>
          <a:xfrm>
            <a:off x="4178266" y="2091073"/>
            <a:ext cx="369651" cy="324255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916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1775EEDC-95C3-AB53-40F9-92B61F7F4A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0234871"/>
              </p:ext>
            </p:extLst>
          </p:nvPr>
        </p:nvGraphicFramePr>
        <p:xfrm>
          <a:off x="1546225" y="1304925"/>
          <a:ext cx="10308550" cy="482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430">
                  <a:extLst>
                    <a:ext uri="{9D8B030D-6E8A-4147-A177-3AD203B41FA5}">
                      <a16:colId xmlns:a16="http://schemas.microsoft.com/office/drawing/2014/main" val="1760601418"/>
                    </a:ext>
                  </a:extLst>
                </a:gridCol>
                <a:gridCol w="1939047">
                  <a:extLst>
                    <a:ext uri="{9D8B030D-6E8A-4147-A177-3AD203B41FA5}">
                      <a16:colId xmlns:a16="http://schemas.microsoft.com/office/drawing/2014/main" val="3425045727"/>
                    </a:ext>
                  </a:extLst>
                </a:gridCol>
                <a:gridCol w="2399489">
                  <a:extLst>
                    <a:ext uri="{9D8B030D-6E8A-4147-A177-3AD203B41FA5}">
                      <a16:colId xmlns:a16="http://schemas.microsoft.com/office/drawing/2014/main" val="3222083275"/>
                    </a:ext>
                  </a:extLst>
                </a:gridCol>
                <a:gridCol w="2905328">
                  <a:extLst>
                    <a:ext uri="{9D8B030D-6E8A-4147-A177-3AD203B41FA5}">
                      <a16:colId xmlns:a16="http://schemas.microsoft.com/office/drawing/2014/main" val="2872427078"/>
                    </a:ext>
                  </a:extLst>
                </a:gridCol>
                <a:gridCol w="1848256">
                  <a:extLst>
                    <a:ext uri="{9D8B030D-6E8A-4147-A177-3AD203B41FA5}">
                      <a16:colId xmlns:a16="http://schemas.microsoft.com/office/drawing/2014/main" val="911077684"/>
                    </a:ext>
                  </a:extLst>
                </a:gridCol>
              </a:tblGrid>
              <a:tr h="530360"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Past Tense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Perfect 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Progressive 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Main Verb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297909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u="sng" dirty="0"/>
                        <a:t>(Past Tense)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 Have </a:t>
                      </a:r>
                    </a:p>
                    <a:p>
                      <a:r>
                        <a:rPr lang="en-US" i="1" dirty="0"/>
                        <a:t>(Past Participle)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 Be</a:t>
                      </a:r>
                    </a:p>
                    <a:p>
                      <a:r>
                        <a:rPr lang="en-US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(Present Participle)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743852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Ha</a:t>
                      </a:r>
                      <a:r>
                        <a:rPr lang="en-US" sz="2400" u="sng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i="1" dirty="0"/>
                        <a:t>Been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Throw</a:t>
                      </a:r>
                      <a:r>
                        <a:rPr 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521918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i="1" dirty="0"/>
                        <a:t>Been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Throw</a:t>
                      </a:r>
                      <a:r>
                        <a:rPr 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675677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Ha</a:t>
                      </a:r>
                      <a:r>
                        <a:rPr lang="en-US" sz="2400" u="sng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i="1" dirty="0"/>
                        <a:t>Thrown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714033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i="1" dirty="0"/>
                        <a:t>Thrown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473706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u="sng" dirty="0"/>
                        <a:t>Was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Throw</a:t>
                      </a:r>
                      <a:r>
                        <a:rPr 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034344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Throw</a:t>
                      </a:r>
                      <a:r>
                        <a:rPr 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750113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Thr</a:t>
                      </a:r>
                      <a:r>
                        <a:rPr lang="en-US" sz="2400" u="sng" dirty="0"/>
                        <a:t>e</a:t>
                      </a:r>
                      <a:r>
                        <a:rPr lang="en-US" sz="2400" dirty="0"/>
                        <a:t>w</a:t>
                      </a:r>
                      <a:endParaRPr lang="en-US" sz="2400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000558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Throw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9777882"/>
                  </a:ext>
                </a:extLst>
              </a:tr>
            </a:tbl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Review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64EC186F-AC62-96B7-66F9-2A7C7BC9CF7B}"/>
              </a:ext>
            </a:extLst>
          </p:cNvPr>
          <p:cNvSpPr/>
          <p:nvPr/>
        </p:nvSpPr>
        <p:spPr>
          <a:xfrm>
            <a:off x="6515674" y="2133351"/>
            <a:ext cx="369651" cy="324255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F008870-97F8-2AEB-F49B-784227D09F7B}"/>
              </a:ext>
            </a:extLst>
          </p:cNvPr>
          <p:cNvSpPr/>
          <p:nvPr/>
        </p:nvSpPr>
        <p:spPr>
          <a:xfrm>
            <a:off x="9332540" y="2133351"/>
            <a:ext cx="369651" cy="324255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908EBEC-06D8-43CA-2CAA-77F44F965215}"/>
              </a:ext>
            </a:extLst>
          </p:cNvPr>
          <p:cNvSpPr/>
          <p:nvPr/>
        </p:nvSpPr>
        <p:spPr>
          <a:xfrm>
            <a:off x="4178266" y="2091073"/>
            <a:ext cx="369651" cy="324255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166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1775EEDC-95C3-AB53-40F9-92B61F7F4A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6080494"/>
              </p:ext>
            </p:extLst>
          </p:nvPr>
        </p:nvGraphicFramePr>
        <p:xfrm>
          <a:off x="1546225" y="1304925"/>
          <a:ext cx="10308550" cy="482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430">
                  <a:extLst>
                    <a:ext uri="{9D8B030D-6E8A-4147-A177-3AD203B41FA5}">
                      <a16:colId xmlns:a16="http://schemas.microsoft.com/office/drawing/2014/main" val="1760601418"/>
                    </a:ext>
                  </a:extLst>
                </a:gridCol>
                <a:gridCol w="1939047">
                  <a:extLst>
                    <a:ext uri="{9D8B030D-6E8A-4147-A177-3AD203B41FA5}">
                      <a16:colId xmlns:a16="http://schemas.microsoft.com/office/drawing/2014/main" val="3425045727"/>
                    </a:ext>
                  </a:extLst>
                </a:gridCol>
                <a:gridCol w="2399489">
                  <a:extLst>
                    <a:ext uri="{9D8B030D-6E8A-4147-A177-3AD203B41FA5}">
                      <a16:colId xmlns:a16="http://schemas.microsoft.com/office/drawing/2014/main" val="3222083275"/>
                    </a:ext>
                  </a:extLst>
                </a:gridCol>
                <a:gridCol w="2905328">
                  <a:extLst>
                    <a:ext uri="{9D8B030D-6E8A-4147-A177-3AD203B41FA5}">
                      <a16:colId xmlns:a16="http://schemas.microsoft.com/office/drawing/2014/main" val="2872427078"/>
                    </a:ext>
                  </a:extLst>
                </a:gridCol>
                <a:gridCol w="1848256">
                  <a:extLst>
                    <a:ext uri="{9D8B030D-6E8A-4147-A177-3AD203B41FA5}">
                      <a16:colId xmlns:a16="http://schemas.microsoft.com/office/drawing/2014/main" val="911077684"/>
                    </a:ext>
                  </a:extLst>
                </a:gridCol>
              </a:tblGrid>
              <a:tr h="530360"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Past Tense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Perfect 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Progressive 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Main Verb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297909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u="sng" dirty="0"/>
                        <a:t>(Past Tense)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 Have </a:t>
                      </a:r>
                    </a:p>
                    <a:p>
                      <a:r>
                        <a:rPr lang="en-US" i="1" dirty="0"/>
                        <a:t>(Past Participle)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 Be</a:t>
                      </a:r>
                    </a:p>
                    <a:p>
                      <a:r>
                        <a:rPr lang="en-US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(Present Participle)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743852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Ha</a:t>
                      </a:r>
                      <a:r>
                        <a:rPr lang="en-US" sz="2400" u="sng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i="1" dirty="0"/>
                        <a:t>Been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Go</a:t>
                      </a:r>
                      <a:r>
                        <a:rPr 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521918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i="1" dirty="0"/>
                        <a:t>Been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Go</a:t>
                      </a:r>
                      <a:r>
                        <a:rPr 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675677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Ha</a:t>
                      </a:r>
                      <a:r>
                        <a:rPr lang="en-US" sz="2400" u="sng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i="1" dirty="0"/>
                        <a:t>Gone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714033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i="1" dirty="0"/>
                        <a:t>Gone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473706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u="sng" dirty="0"/>
                        <a:t>Was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effectLst/>
                        </a:rPr>
                        <a:t>Go</a:t>
                      </a:r>
                      <a:r>
                        <a:rPr 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034344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Go</a:t>
                      </a:r>
                      <a:r>
                        <a:rPr 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750113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u="sng" dirty="0"/>
                        <a:t>Went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000558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9777882"/>
                  </a:ext>
                </a:extLst>
              </a:tr>
            </a:tbl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Review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64EC186F-AC62-96B7-66F9-2A7C7BC9CF7B}"/>
              </a:ext>
            </a:extLst>
          </p:cNvPr>
          <p:cNvSpPr/>
          <p:nvPr/>
        </p:nvSpPr>
        <p:spPr>
          <a:xfrm>
            <a:off x="6515674" y="2133351"/>
            <a:ext cx="369651" cy="324255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F008870-97F8-2AEB-F49B-784227D09F7B}"/>
              </a:ext>
            </a:extLst>
          </p:cNvPr>
          <p:cNvSpPr/>
          <p:nvPr/>
        </p:nvSpPr>
        <p:spPr>
          <a:xfrm>
            <a:off x="9332540" y="2133351"/>
            <a:ext cx="369651" cy="324255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908EBEC-06D8-43CA-2CAA-77F44F965215}"/>
              </a:ext>
            </a:extLst>
          </p:cNvPr>
          <p:cNvSpPr/>
          <p:nvPr/>
        </p:nvSpPr>
        <p:spPr>
          <a:xfrm>
            <a:off x="4178266" y="2091073"/>
            <a:ext cx="369651" cy="324255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333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1775EEDC-95C3-AB53-40F9-92B61F7F4A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3801922"/>
              </p:ext>
            </p:extLst>
          </p:nvPr>
        </p:nvGraphicFramePr>
        <p:xfrm>
          <a:off x="1546225" y="1304925"/>
          <a:ext cx="10308550" cy="482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430">
                  <a:extLst>
                    <a:ext uri="{9D8B030D-6E8A-4147-A177-3AD203B41FA5}">
                      <a16:colId xmlns:a16="http://schemas.microsoft.com/office/drawing/2014/main" val="1760601418"/>
                    </a:ext>
                  </a:extLst>
                </a:gridCol>
                <a:gridCol w="1939047">
                  <a:extLst>
                    <a:ext uri="{9D8B030D-6E8A-4147-A177-3AD203B41FA5}">
                      <a16:colId xmlns:a16="http://schemas.microsoft.com/office/drawing/2014/main" val="3425045727"/>
                    </a:ext>
                  </a:extLst>
                </a:gridCol>
                <a:gridCol w="2399489">
                  <a:extLst>
                    <a:ext uri="{9D8B030D-6E8A-4147-A177-3AD203B41FA5}">
                      <a16:colId xmlns:a16="http://schemas.microsoft.com/office/drawing/2014/main" val="3222083275"/>
                    </a:ext>
                  </a:extLst>
                </a:gridCol>
                <a:gridCol w="2905328">
                  <a:extLst>
                    <a:ext uri="{9D8B030D-6E8A-4147-A177-3AD203B41FA5}">
                      <a16:colId xmlns:a16="http://schemas.microsoft.com/office/drawing/2014/main" val="2872427078"/>
                    </a:ext>
                  </a:extLst>
                </a:gridCol>
                <a:gridCol w="1848256">
                  <a:extLst>
                    <a:ext uri="{9D8B030D-6E8A-4147-A177-3AD203B41FA5}">
                      <a16:colId xmlns:a16="http://schemas.microsoft.com/office/drawing/2014/main" val="911077684"/>
                    </a:ext>
                  </a:extLst>
                </a:gridCol>
              </a:tblGrid>
              <a:tr h="530360"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Past Tense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Perfect 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Progressive 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Main Verb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297909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u="sng" dirty="0"/>
                        <a:t>(Past Tense)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 Have </a:t>
                      </a:r>
                    </a:p>
                    <a:p>
                      <a:r>
                        <a:rPr lang="en-US" i="1" dirty="0"/>
                        <a:t>(Past Participle)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 Be</a:t>
                      </a:r>
                    </a:p>
                    <a:p>
                      <a:r>
                        <a:rPr lang="en-US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(Present Participle)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743852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Ha</a:t>
                      </a:r>
                      <a:r>
                        <a:rPr lang="en-US" sz="2400" u="sng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i="1" dirty="0"/>
                        <a:t>Been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Be</a:t>
                      </a:r>
                      <a:r>
                        <a:rPr 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521918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i="1" dirty="0"/>
                        <a:t>Been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Be</a:t>
                      </a:r>
                      <a:r>
                        <a:rPr 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675677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Ha</a:t>
                      </a:r>
                      <a:r>
                        <a:rPr lang="en-US" sz="2400" u="sng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i="1" dirty="0"/>
                        <a:t>Been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714033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i="1" dirty="0"/>
                        <a:t>Been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473706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u="sng" dirty="0"/>
                        <a:t>Was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effectLst/>
                        </a:rPr>
                        <a:t>Be</a:t>
                      </a:r>
                      <a:r>
                        <a:rPr 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034344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Be</a:t>
                      </a:r>
                      <a:r>
                        <a:rPr 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750113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u="sng" dirty="0"/>
                        <a:t>Was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000558"/>
                  </a:ext>
                </a:extLst>
              </a:tr>
              <a:tr h="384254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9777882"/>
                  </a:ext>
                </a:extLst>
              </a:tr>
            </a:tbl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Review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64EC186F-AC62-96B7-66F9-2A7C7BC9CF7B}"/>
              </a:ext>
            </a:extLst>
          </p:cNvPr>
          <p:cNvSpPr/>
          <p:nvPr/>
        </p:nvSpPr>
        <p:spPr>
          <a:xfrm>
            <a:off x="6515674" y="2133351"/>
            <a:ext cx="369651" cy="324255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F008870-97F8-2AEB-F49B-784227D09F7B}"/>
              </a:ext>
            </a:extLst>
          </p:cNvPr>
          <p:cNvSpPr/>
          <p:nvPr/>
        </p:nvSpPr>
        <p:spPr>
          <a:xfrm>
            <a:off x="9332540" y="2133351"/>
            <a:ext cx="369651" cy="324255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908EBEC-06D8-43CA-2CAA-77F44F965215}"/>
              </a:ext>
            </a:extLst>
          </p:cNvPr>
          <p:cNvSpPr/>
          <p:nvPr/>
        </p:nvSpPr>
        <p:spPr>
          <a:xfrm>
            <a:off x="4178266" y="2091073"/>
            <a:ext cx="369651" cy="324255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691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0" y="1331595"/>
            <a:ext cx="10476826" cy="5421655"/>
          </a:xfrm>
        </p:spPr>
        <p:txBody>
          <a:bodyPr>
            <a:normAutofit/>
          </a:bodyPr>
          <a:lstStyle/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Review Diagrams for Modals and Auxiliaries</a:t>
            </a: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Explain “Main Verb Phrase” option</a:t>
            </a:r>
            <a:endParaRPr lang="en-US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Diagraming </a:t>
            </a:r>
          </a:p>
        </p:txBody>
      </p:sp>
    </p:spTree>
    <p:extLst>
      <p:ext uri="{BB962C8B-B14F-4D97-AF65-F5344CB8AC3E}">
        <p14:creationId xmlns:p14="http://schemas.microsoft.com/office/powerpoint/2010/main" val="96097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FE732-597B-85D9-F3D9-64546953A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C2F53B-7440-17E1-A9E7-BF19F678D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Diagraming </a:t>
            </a:r>
          </a:p>
        </p:txBody>
      </p: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0916D3E0-EA2E-BA5D-9350-7036B16F05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678" y="2366486"/>
            <a:ext cx="8995913" cy="36971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8BE47C-04CA-9971-D773-43B59A3F6211}"/>
              </a:ext>
            </a:extLst>
          </p:cNvPr>
          <p:cNvSpPr txBox="1"/>
          <p:nvPr/>
        </p:nvSpPr>
        <p:spPr>
          <a:xfrm>
            <a:off x="2001328" y="1554250"/>
            <a:ext cx="9144000" cy="5232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Adding Auxiliary Verbs without an MVP (main verb phrase)</a:t>
            </a:r>
          </a:p>
        </p:txBody>
      </p:sp>
    </p:spTree>
    <p:extLst>
      <p:ext uri="{BB962C8B-B14F-4D97-AF65-F5344CB8AC3E}">
        <p14:creationId xmlns:p14="http://schemas.microsoft.com/office/powerpoint/2010/main" val="2221035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DF6BB-8643-239F-540C-4BED1AFEF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2186C5-E3E6-B916-4BAC-E1DC9C08A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Diagraming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614784-B1FF-3157-6654-725F86B05635}"/>
              </a:ext>
            </a:extLst>
          </p:cNvPr>
          <p:cNvSpPr txBox="1"/>
          <p:nvPr/>
        </p:nvSpPr>
        <p:spPr>
          <a:xfrm>
            <a:off x="2001328" y="1554250"/>
            <a:ext cx="9144000" cy="5232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Adding Auxiliary Verbs with an MVP (main verb phrase)</a:t>
            </a:r>
          </a:p>
        </p:txBody>
      </p:sp>
      <p:pic>
        <p:nvPicPr>
          <p:cNvPr id="3" name="Picture 2" descr="A diagram of a dancing salsa&#10;&#10;AI-generated content may be incorrect.">
            <a:extLst>
              <a:ext uri="{FF2B5EF4-FFF2-40B4-BE49-F238E27FC236}">
                <a16:creationId xmlns:a16="http://schemas.microsoft.com/office/drawing/2014/main" id="{93F98B99-8F8F-9059-4223-A0EEE896AA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327" y="2395537"/>
            <a:ext cx="9330701" cy="4344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938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54457-FA2D-6CE3-19D8-140A77025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09BC6D-3B82-62DF-1996-3E82E2BB4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Diagraming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508109-54BA-0BF8-DBB6-3F10F4653381}"/>
              </a:ext>
            </a:extLst>
          </p:cNvPr>
          <p:cNvSpPr txBox="1"/>
          <p:nvPr/>
        </p:nvSpPr>
        <p:spPr>
          <a:xfrm>
            <a:off x="2001328" y="1554250"/>
            <a:ext cx="9144000" cy="5232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Adding Modals with an MVP (main verb phrase)</a:t>
            </a: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F766DC02-29C2-E054-554D-CBCC1B1D8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492" y="2232252"/>
            <a:ext cx="7366907" cy="429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687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0" y="1331595"/>
            <a:ext cx="10476826" cy="5421655"/>
          </a:xfrm>
        </p:spPr>
        <p:txBody>
          <a:bodyPr>
            <a:normAutofit/>
          </a:bodyPr>
          <a:lstStyle/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Create a sentence 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of each type below</a:t>
            </a:r>
            <a:endParaRPr lang="en-US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Diagram that sentence and include a “main verb phrase”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200" dirty="0">
                <a:ea typeface="Calibri" panose="020F0502020204030204" pitchFamily="34" charset="0"/>
                <a:cs typeface="Times New Roman" panose="02020603050405020304" pitchFamily="18" charset="0"/>
              </a:rPr>
              <a:t>A sentence in past perfect progressive 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200" dirty="0">
                <a:ea typeface="Calibri" panose="020F0502020204030204" pitchFamily="34" charset="0"/>
                <a:cs typeface="Times New Roman" panose="02020603050405020304" pitchFamily="18" charset="0"/>
              </a:rPr>
              <a:t>(Past tense, perfect progressive aspect)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200" dirty="0">
                <a:ea typeface="Calibri" panose="020F0502020204030204" pitchFamily="34" charset="0"/>
                <a:cs typeface="Times New Roman" panose="02020603050405020304" pitchFamily="18" charset="0"/>
              </a:rPr>
              <a:t>A sentence with “do” as an auxiliary verb.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200" dirty="0">
                <a:ea typeface="Calibri" panose="020F0502020204030204" pitchFamily="34" charset="0"/>
                <a:cs typeface="Times New Roman" panose="02020603050405020304" pitchFamily="18" charset="0"/>
              </a:rPr>
              <a:t>Example – “I do believe in ghosts.”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Diagraming </a:t>
            </a:r>
          </a:p>
        </p:txBody>
      </p:sp>
    </p:spTree>
    <p:extLst>
      <p:ext uri="{BB962C8B-B14F-4D97-AF65-F5344CB8AC3E}">
        <p14:creationId xmlns:p14="http://schemas.microsoft.com/office/powerpoint/2010/main" val="3494061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EFD89-991F-0BFB-F308-E734F4C26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E86E6E-218A-CC14-B1B8-FAE17B196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0" y="1331595"/>
            <a:ext cx="10476826" cy="5421655"/>
          </a:xfrm>
        </p:spPr>
        <p:txBody>
          <a:bodyPr>
            <a:normAutofit/>
          </a:bodyPr>
          <a:lstStyle/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200" dirty="0">
                <a:ea typeface="Calibri" panose="020F0502020204030204" pitchFamily="34" charset="0"/>
                <a:cs typeface="Times New Roman" panose="02020603050405020304" pitchFamily="18" charset="0"/>
              </a:rPr>
              <a:t>Homework Check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AC19E8-564A-9746-D47A-C8CDEDEF6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Homework</a:t>
            </a:r>
          </a:p>
        </p:txBody>
      </p:sp>
    </p:spTree>
    <p:extLst>
      <p:ext uri="{BB962C8B-B14F-4D97-AF65-F5344CB8AC3E}">
        <p14:creationId xmlns:p14="http://schemas.microsoft.com/office/powerpoint/2010/main" val="306904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2B1A7-07C1-AB25-B9BE-E96ED88D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8FB839-C010-6D70-BEA5-C74FF029F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0" y="1331595"/>
            <a:ext cx="10476826" cy="5421655"/>
          </a:xfrm>
        </p:spPr>
        <p:txBody>
          <a:bodyPr>
            <a:normAutofit fontScale="85000" lnSpcReduction="20000"/>
          </a:bodyPr>
          <a:lstStyle/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Why Use Passive Voice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Can create cohesion and emphasis by flipping the order</a:t>
            </a:r>
          </a:p>
          <a:p>
            <a:pPr marL="1161288" lvl="2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Student loans are terrible. They are collected even if you don’t graduate.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Can avoid laying blame or responsibility</a:t>
            </a:r>
          </a:p>
          <a:p>
            <a:pPr marL="1161288" lvl="2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The membership may be voided if terms are violated.</a:t>
            </a:r>
          </a:p>
          <a:p>
            <a:pPr marL="1161288" lvl="2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The curse was activated, laying the town to waste.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Sometimes the actor is unknown or unimportant</a:t>
            </a:r>
          </a:p>
          <a:p>
            <a:pPr marL="1161288" lvl="2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The jeweled necklace was stolen.</a:t>
            </a:r>
          </a:p>
          <a:p>
            <a:pPr marL="1161288" lvl="2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A delicious meal has been prepared in advance.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Creates a sense of scientific objectivity or inevitable processes</a:t>
            </a:r>
          </a:p>
          <a:p>
            <a:pPr marL="1161288" lvl="2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Students were surveyed about their mental health.</a:t>
            </a:r>
          </a:p>
          <a:p>
            <a:pPr marL="1161288" lvl="2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The universe had not been affected by </a:t>
            </a:r>
            <a:r>
              <a:rPr lang="en-US">
                <a:ea typeface="Calibri" panose="020F0502020204030204" pitchFamily="34" charset="0"/>
                <a:cs typeface="Times New Roman" panose="02020603050405020304" pitchFamily="18" charset="0"/>
              </a:rPr>
              <a:t>heat death.</a:t>
            </a: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CEF05A6-B930-E977-A75B-AE454A5F5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Homework</a:t>
            </a:r>
          </a:p>
        </p:txBody>
      </p:sp>
    </p:spTree>
    <p:extLst>
      <p:ext uri="{BB962C8B-B14F-4D97-AF65-F5344CB8AC3E}">
        <p14:creationId xmlns:p14="http://schemas.microsoft.com/office/powerpoint/2010/main" val="2226596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D8A93-3AEC-1188-52F7-9157B4AA3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FB5827-FC1D-9473-5972-A6E46026D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0" y="1331595"/>
            <a:ext cx="10476826" cy="5421655"/>
          </a:xfrm>
        </p:spPr>
        <p:txBody>
          <a:bodyPr>
            <a:normAutofit lnSpcReduction="10000"/>
          </a:bodyPr>
          <a:lstStyle/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Modals – On Test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>
                <a:ea typeface="Calibri" panose="020F0502020204030204" pitchFamily="34" charset="0"/>
                <a:cs typeface="Times New Roman" panose="02020603050405020304" pitchFamily="18" charset="0"/>
              </a:rPr>
              <a:t>I won’t 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go to the store.</a:t>
            </a: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Diagramming Verb Phrase Practice – On Test</a:t>
            </a: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Phrasal Verbs – Not on Test 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“I </a:t>
            </a:r>
            <a:r>
              <a:rPr lang="en-US" u="sng" dirty="0">
                <a:ea typeface="Calibri" panose="020F0502020204030204" pitchFamily="34" charset="0"/>
                <a:cs typeface="Times New Roman" panose="02020603050405020304" pitchFamily="18" charset="0"/>
              </a:rPr>
              <a:t>had been giving up running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“You better </a:t>
            </a:r>
            <a:r>
              <a:rPr lang="en-US" u="sng" dirty="0">
                <a:ea typeface="Calibri" panose="020F0502020204030204" pitchFamily="34" charset="0"/>
                <a:cs typeface="Times New Roman" panose="02020603050405020304" pitchFamily="18" charset="0"/>
              </a:rPr>
              <a:t>slow down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.”</a:t>
            </a: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Semi-modals – Not on Test 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She </a:t>
            </a:r>
            <a:r>
              <a:rPr lang="en-US" u="sng" dirty="0">
                <a:ea typeface="Calibri" panose="020F0502020204030204" pitchFamily="34" charset="0"/>
                <a:cs typeface="Times New Roman" panose="02020603050405020304" pitchFamily="18" charset="0"/>
              </a:rPr>
              <a:t>used to 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be a teacher.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“I am </a:t>
            </a:r>
            <a:r>
              <a:rPr lang="en-US" u="sng" dirty="0" err="1">
                <a:ea typeface="Calibri" panose="020F0502020204030204" pitchFamily="34" charset="0"/>
                <a:cs typeface="Times New Roman" panose="02020603050405020304" pitchFamily="18" charset="0"/>
              </a:rPr>
              <a:t>gonna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catch a cold.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6803EEF-9321-74A8-D366-A1E6FCB9C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Thursday</a:t>
            </a:r>
          </a:p>
        </p:txBody>
      </p:sp>
    </p:spTree>
    <p:extLst>
      <p:ext uri="{BB962C8B-B14F-4D97-AF65-F5344CB8AC3E}">
        <p14:creationId xmlns:p14="http://schemas.microsoft.com/office/powerpoint/2010/main" val="382307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If you have questions or concerns, hang around to talk.</a:t>
            </a: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End of Class</a:t>
            </a:r>
          </a:p>
        </p:txBody>
      </p:sp>
    </p:spTree>
    <p:extLst>
      <p:ext uri="{BB962C8B-B14F-4D97-AF65-F5344CB8AC3E}">
        <p14:creationId xmlns:p14="http://schemas.microsoft.com/office/powerpoint/2010/main" val="514603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d's tie design template">
  <a:themeElements>
    <a:clrScheme name="Custom 7">
      <a:dk1>
        <a:sysClr val="windowText" lastClr="000000"/>
      </a:dk1>
      <a:lt1>
        <a:sysClr val="window" lastClr="FFFFFF"/>
      </a:lt1>
      <a:dk2>
        <a:srgbClr val="323232"/>
      </a:dk2>
      <a:lt2>
        <a:srgbClr val="FFFFCC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Dad's tie design template" id="{D38B957D-588F-4953-A2A4-8835E8F79C65}" vid="{09887BB5-A875-44C0-9AF9-8FE92BB7EC5A}"/>
    </a:ext>
  </a:extLst>
</a:theme>
</file>

<file path=ppt/theme/theme2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2C979567-0D27-4E98-9101-139E4F27BE4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Dad's tie design slides</Template>
  <TotalTime>0</TotalTime>
  <Words>604</Words>
  <Application>Microsoft Office PowerPoint</Application>
  <PresentationFormat>Widescreen</PresentationFormat>
  <Paragraphs>261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Abadi</vt:lpstr>
      <vt:lpstr>Aharoni</vt:lpstr>
      <vt:lpstr>Arial</vt:lpstr>
      <vt:lpstr>Calibri</vt:lpstr>
      <vt:lpstr>Century Gothic</vt:lpstr>
      <vt:lpstr>Palatino Linotype</vt:lpstr>
      <vt:lpstr>Verdana</vt:lpstr>
      <vt:lpstr>Wingdings 2</vt:lpstr>
      <vt:lpstr>Dad's tie design template</vt:lpstr>
      <vt:lpstr>Course Introduction</vt:lpstr>
      <vt:lpstr>Review</vt:lpstr>
      <vt:lpstr>Review</vt:lpstr>
      <vt:lpstr>Review</vt:lpstr>
      <vt:lpstr>Review</vt:lpstr>
      <vt:lpstr>Review</vt:lpstr>
      <vt:lpstr>Diagraming </vt:lpstr>
      <vt:lpstr>Diagraming </vt:lpstr>
      <vt:lpstr>Diagraming </vt:lpstr>
      <vt:lpstr>Diagraming </vt:lpstr>
      <vt:lpstr>Diagraming </vt:lpstr>
      <vt:lpstr>Homework</vt:lpstr>
      <vt:lpstr>Homework</vt:lpstr>
      <vt:lpstr>For Thursday</vt:lpstr>
      <vt:lpstr>End of Class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2016-07-22T17:40:32Z</dcterms:created>
  <dcterms:modified xsi:type="dcterms:W3CDTF">2025-11-03T23:18:47Z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TC034605139991</vt:lpwstr>
  </property>
</Properties>
</file>