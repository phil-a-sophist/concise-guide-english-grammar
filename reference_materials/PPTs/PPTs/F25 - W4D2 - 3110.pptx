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15"/>
  </p:notesMasterIdLst>
  <p:handoutMasterIdLst>
    <p:handoutMasterId r:id="rId16"/>
  </p:handoutMasterIdLst>
  <p:sldIdLst>
    <p:sldId id="270" r:id="rId3"/>
    <p:sldId id="271" r:id="rId4"/>
    <p:sldId id="484" r:id="rId5"/>
    <p:sldId id="459" r:id="rId6"/>
    <p:sldId id="458" r:id="rId7"/>
    <p:sldId id="479" r:id="rId8"/>
    <p:sldId id="482" r:id="rId9"/>
    <p:sldId id="483" r:id="rId10"/>
    <p:sldId id="485" r:id="rId11"/>
    <p:sldId id="486" r:id="rId12"/>
    <p:sldId id="470" r:id="rId13"/>
    <p:sldId id="40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43F40-5DE3-4153-9F42-E8916FA6B97A}" v="2" dt="2025-09-17T00:51:28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60997" y="1351112"/>
            <a:ext cx="10476826" cy="5040309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things to do while everyone gets here.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Canvas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Course Schedule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over the Syllabus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the “Resources” on the front page of Canvas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Be Patient!</a:t>
            </a:r>
          </a:p>
        </p:txBody>
      </p:sp>
    </p:spTree>
    <p:extLst>
      <p:ext uri="{BB962C8B-B14F-4D97-AF65-F5344CB8AC3E}">
        <p14:creationId xmlns:p14="http://schemas.microsoft.com/office/powerpoint/2010/main" val="154495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3E9F-4740-D380-A2D7-6D863ABC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8FF240-7147-B73A-81D5-A1DC544FD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997" y="1351112"/>
            <a:ext cx="10476826" cy="5040309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Bonus</a:t>
            </a: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Physical Scribe</a:t>
            </a: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Digital Scribe</a:t>
            </a: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Language Contact Reading – Helpful for Exam shor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 essay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Review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1" indent="0">
              <a:lnSpc>
                <a:spcPct val="150000"/>
              </a:lnSpc>
              <a:buNone/>
            </a:pPr>
            <a:r>
              <a:rPr lang="en-US" b="1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bit behind on grading bonus, but I will get to it!</a:t>
            </a:r>
            <a:endParaRPr lang="en-US" b="1" dirty="0">
              <a:effectLst/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5D76B7-4631-2347-6506-735A61E4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Be Patient!</a:t>
            </a:r>
          </a:p>
        </p:txBody>
      </p:sp>
    </p:spTree>
    <p:extLst>
      <p:ext uri="{BB962C8B-B14F-4D97-AF65-F5344CB8AC3E}">
        <p14:creationId xmlns:p14="http://schemas.microsoft.com/office/powerpoint/2010/main" val="287938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/>
              <a:t>Review Homework</a:t>
            </a:r>
          </a:p>
          <a:p>
            <a:pPr>
              <a:lnSpc>
                <a:spcPct val="150000"/>
              </a:lnSpc>
            </a:pPr>
            <a:r>
              <a:rPr lang="en-US" sz="2800" b="0" dirty="0"/>
              <a:t>Determiner Review</a:t>
            </a:r>
          </a:p>
          <a:p>
            <a:pPr>
              <a:lnSpc>
                <a:spcPct val="150000"/>
              </a:lnSpc>
            </a:pPr>
            <a:r>
              <a:rPr lang="en-US" sz="2800" b="0" dirty="0" err="1"/>
              <a:t>Adjectivals</a:t>
            </a:r>
            <a:r>
              <a:rPr lang="en-US" sz="2800" b="0" dirty="0"/>
              <a:t> and Adverbials </a:t>
            </a:r>
          </a:p>
          <a:p>
            <a:pPr>
              <a:lnSpc>
                <a:spcPct val="150000"/>
              </a:lnSpc>
            </a:pPr>
            <a:r>
              <a:rPr lang="en-US" sz="2800" b="0" dirty="0"/>
              <a:t>Sentence Building</a:t>
            </a:r>
          </a:p>
          <a:p>
            <a:pPr>
              <a:lnSpc>
                <a:spcPct val="150000"/>
              </a:lnSpc>
            </a:pPr>
            <a:r>
              <a:rPr lang="en-US" sz="2800" b="0" dirty="0"/>
              <a:t>Apply to Our Writing?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</a:t>
            </a:r>
          </a:p>
        </p:txBody>
      </p:sp>
    </p:spTree>
    <p:extLst>
      <p:ext uri="{BB962C8B-B14F-4D97-AF65-F5344CB8AC3E}">
        <p14:creationId xmlns:p14="http://schemas.microsoft.com/office/powerpoint/2010/main" val="116747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EA19-45F3-561A-EE4C-9884D517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4B96FB-BC22-2267-3E6B-3E24C55A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 lnSpcReduction="1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Determiners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Determiners a “closed class” that modify nouns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every noun phrase has a determiner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Determiners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Articles (a, an, the)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Demonstratives (this, that, those)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Possessives (my, their, its)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Quantifiers (many, some, all)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Numbers (one, three, a hundred)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linguists classify numbers as their own separate closed class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B96C86-FA4A-422A-19C6-8B3C870E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07110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DDAC-5E04-CC60-0DDA-EA6E5A17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4A4A0E-EC3F-4C7E-1B87-8A4477027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What are some tricks to be able to tell apart a determiner and an adjective?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Determiners usually precede Adjectives.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FF0000"/>
                </a:solidFill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b="0" i="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big, red, bouncy ball.</a:t>
            </a:r>
            <a:endParaRPr lang="en-US" b="0" i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Most nouns can only take one or two determiner but infinite pronouns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200" i="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 few </a:t>
            </a:r>
            <a:r>
              <a:rPr lang="en-US" sz="2200" i="0" dirty="0">
                <a:ea typeface="Calibri" panose="020F0502020204030204" pitchFamily="34" charset="0"/>
                <a:cs typeface="Times New Roman" panose="02020603050405020304" pitchFamily="18" charset="0"/>
              </a:rPr>
              <a:t>big, red, bouncy balls.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Most adjectives are “</a:t>
            </a:r>
            <a:r>
              <a:rPr lang="en-US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gradeable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” but most determiners are not.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I lost </a:t>
            </a:r>
            <a:r>
              <a:rPr lang="en-US" i="0" u="sng" dirty="0">
                <a:ea typeface="Calibri" panose="020F0502020204030204" pitchFamily="34" charset="0"/>
                <a:cs typeface="Times New Roman" panose="02020603050405020304" pitchFamily="18" charset="0"/>
              </a:rPr>
              <a:t>very my </a:t>
            </a: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books. 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I love </a:t>
            </a:r>
            <a:r>
              <a:rPr lang="en-US" i="0" u="sng" dirty="0">
                <a:ea typeface="Calibri" panose="020F0502020204030204" pitchFamily="34" charset="0"/>
                <a:cs typeface="Times New Roman" panose="02020603050405020304" pitchFamily="18" charset="0"/>
              </a:rPr>
              <a:t>very special </a:t>
            </a: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books.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173A8E-CCB0-719A-A4FC-30864ED0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56288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103CC-D247-E01B-5732-A83B33AD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B39A39-ACBC-CCA4-DC82-6758AFD57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 err="1"/>
              <a:t>Adjectivals</a:t>
            </a:r>
            <a:r>
              <a:rPr lang="en-US" sz="2800" b="0" dirty="0"/>
              <a:t> = Acting as an Adjective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Modify Nouns</a:t>
            </a:r>
            <a:endParaRPr lang="en-US" sz="2000" b="0" dirty="0"/>
          </a:p>
          <a:p>
            <a:pPr lvl="1">
              <a:lnSpc>
                <a:spcPct val="150000"/>
              </a:lnSpc>
            </a:pPr>
            <a:r>
              <a:rPr lang="en-US" dirty="0"/>
              <a:t>Unit One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Adjectives, Prepositional Phrases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Unit Two</a:t>
            </a:r>
          </a:p>
          <a:p>
            <a:pPr lvl="2">
              <a:lnSpc>
                <a:spcPct val="150000"/>
              </a:lnSpc>
            </a:pPr>
            <a:r>
              <a:rPr lang="en-US" b="0" dirty="0"/>
              <a:t>Nouns, Verbs, whole clauses (relative clauses)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E3CF0D-C427-A7A4-4AB1-03D56A84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</a:t>
            </a:r>
          </a:p>
        </p:txBody>
      </p:sp>
    </p:spTree>
    <p:extLst>
      <p:ext uri="{BB962C8B-B14F-4D97-AF65-F5344CB8AC3E}">
        <p14:creationId xmlns:p14="http://schemas.microsoft.com/office/powerpoint/2010/main" val="221141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5F6C-41E7-6D28-2656-F28B73BF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75BB3A-FF70-2389-782E-66E6A8FFB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/>
              <a:t>Adverbials = Acting as an Adverb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Modify Verbs, Adjective, Adverbs, and Whole Sentences</a:t>
            </a:r>
            <a:endParaRPr lang="en-US" sz="2000" b="0" dirty="0"/>
          </a:p>
          <a:p>
            <a:pPr lvl="1">
              <a:lnSpc>
                <a:spcPct val="150000"/>
              </a:lnSpc>
            </a:pPr>
            <a:r>
              <a:rPr lang="en-US" dirty="0"/>
              <a:t>Unit One</a:t>
            </a:r>
          </a:p>
          <a:p>
            <a:pPr lvl="2">
              <a:lnSpc>
                <a:spcPct val="150000"/>
              </a:lnSpc>
            </a:pPr>
            <a:r>
              <a:rPr lang="en-US"/>
              <a:t>Adverbs, </a:t>
            </a:r>
            <a:r>
              <a:rPr lang="en-US" dirty="0"/>
              <a:t>Prepositional Phrases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Unit Two</a:t>
            </a:r>
          </a:p>
          <a:p>
            <a:pPr lvl="2">
              <a:lnSpc>
                <a:spcPct val="150000"/>
              </a:lnSpc>
            </a:pPr>
            <a:r>
              <a:rPr lang="en-US" b="0" dirty="0"/>
              <a:t>Nouns, Verbs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800C3-D649-4265-668B-A56C663F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</a:t>
            </a:r>
          </a:p>
        </p:txBody>
      </p:sp>
    </p:spTree>
    <p:extLst>
      <p:ext uri="{BB962C8B-B14F-4D97-AF65-F5344CB8AC3E}">
        <p14:creationId xmlns:p14="http://schemas.microsoft.com/office/powerpoint/2010/main" val="219146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E929-A53E-C712-BF5D-F377BD84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EA1D32-0D79-BBDC-485F-5BBF4751F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0" dirty="0"/>
              <a:t>Find Two Paragraphs of Your Own Recent Writing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Underline all Noun Phrases in the Subject Position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Put brackets around all Verb Phrases in Predicate Position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Make two lists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All your Subject Nouns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All your Main Verbs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Compare with a partner and Consider Trends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673E37-F3A4-6A73-F553-A103D200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Review</a:t>
            </a:r>
          </a:p>
        </p:txBody>
      </p:sp>
    </p:spTree>
    <p:extLst>
      <p:ext uri="{BB962C8B-B14F-4D97-AF65-F5344CB8AC3E}">
        <p14:creationId xmlns:p14="http://schemas.microsoft.com/office/powerpoint/2010/main" val="159524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6628-327A-545B-0289-6DC432216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2BD396-5D3C-388B-2C26-FA3AEC82F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38295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How long are your subjects and predicates?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Compared to your partner?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Compared to each other? (subjects vs predicates)</a:t>
            </a:r>
          </a:p>
          <a:p>
            <a:pPr>
              <a:lnSpc>
                <a:spcPct val="150000"/>
              </a:lnSpc>
            </a:pPr>
            <a:r>
              <a:rPr lang="en-US" dirty="0"/>
              <a:t>What KIND of nouns do you use?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Concrete or abstract?  Topic content or non-topic content?</a:t>
            </a:r>
          </a:p>
          <a:p>
            <a:pPr>
              <a:lnSpc>
                <a:spcPct val="150000"/>
              </a:lnSpc>
            </a:pPr>
            <a:r>
              <a:rPr lang="en-US" dirty="0"/>
              <a:t>What KIND of verbs do you use?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Tense?  Physical/active vs abstract? “Be,” “Do,” “Has”?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43F501-2F2D-6856-C820-11E7D15E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Review</a:t>
            </a:r>
          </a:p>
        </p:txBody>
      </p:sp>
    </p:spTree>
    <p:extLst>
      <p:ext uri="{BB962C8B-B14F-4D97-AF65-F5344CB8AC3E}">
        <p14:creationId xmlns:p14="http://schemas.microsoft.com/office/powerpoint/2010/main" val="267377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088A-5670-9AFD-8D6D-A947CB59B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F90DA2-E687-A072-B20B-B595152B1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Essay Study Guide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Make Diagrams by Hand or Digitally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Bring hand-drawn diagrams to class.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Will Review in Class and Post Answer Key on Monday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Test in-class on Wednesday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94361-FD4C-7DD4-50EA-1BC06321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PRE-view</a:t>
            </a:r>
          </a:p>
        </p:txBody>
      </p:sp>
    </p:spTree>
    <p:extLst>
      <p:ext uri="{BB962C8B-B14F-4D97-AF65-F5344CB8AC3E}">
        <p14:creationId xmlns:p14="http://schemas.microsoft.com/office/powerpoint/2010/main" val="163396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455</Words>
  <Application>Microsoft Office PowerPoint</Application>
  <PresentationFormat>Widescreen</PresentationFormat>
  <Paragraphs>80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Abadi</vt:lpstr>
      <vt:lpstr>Arial</vt:lpstr>
      <vt:lpstr>Calibri</vt:lpstr>
      <vt:lpstr>Century Gothic</vt:lpstr>
      <vt:lpstr>Palatino Linotype</vt:lpstr>
      <vt:lpstr>Segoe UI</vt:lpstr>
      <vt:lpstr>Verdana</vt:lpstr>
      <vt:lpstr>Wingdings 2</vt:lpstr>
      <vt:lpstr>Dad's tie design template</vt:lpstr>
      <vt:lpstr>Course Introduction</vt:lpstr>
      <vt:lpstr>Please Be Patient!</vt:lpstr>
      <vt:lpstr>Please Be Patient!</vt:lpstr>
      <vt:lpstr>Class Overview</vt:lpstr>
      <vt:lpstr>Refresher</vt:lpstr>
      <vt:lpstr>Refresher</vt:lpstr>
      <vt:lpstr>Class Overview</vt:lpstr>
      <vt:lpstr>Class Overview</vt:lpstr>
      <vt:lpstr>Writing Review</vt:lpstr>
      <vt:lpstr>Writing Review</vt:lpstr>
      <vt:lpstr>Homework PRE-view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2025-09-17T21:43:07Z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