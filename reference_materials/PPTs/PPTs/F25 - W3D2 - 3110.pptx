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96" r:id="rId2"/>
  </p:sldMasterIdLst>
  <p:notesMasterIdLst>
    <p:notesMasterId r:id="rId15"/>
  </p:notesMasterIdLst>
  <p:handoutMasterIdLst>
    <p:handoutMasterId r:id="rId16"/>
  </p:handoutMasterIdLst>
  <p:sldIdLst>
    <p:sldId id="270" r:id="rId3"/>
    <p:sldId id="271" r:id="rId4"/>
    <p:sldId id="484" r:id="rId5"/>
    <p:sldId id="459" r:id="rId6"/>
    <p:sldId id="458" r:id="rId7"/>
    <p:sldId id="479" r:id="rId8"/>
    <p:sldId id="482" r:id="rId9"/>
    <p:sldId id="483" r:id="rId10"/>
    <p:sldId id="485" r:id="rId11"/>
    <p:sldId id="486" r:id="rId12"/>
    <p:sldId id="470" r:id="rId13"/>
    <p:sldId id="40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F3"/>
    <a:srgbClr val="E8E8E8"/>
    <a:srgbClr val="D5ECFF"/>
    <a:srgbClr val="B9DFFF"/>
    <a:srgbClr val="97D0FF"/>
    <a:srgbClr val="C4E5FC"/>
    <a:srgbClr val="C6BD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643F40-5DE3-4153-9F42-E8916FA6B97A}" v="2" dt="2025-09-17T00:51:28.0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40" autoAdjust="0"/>
    <p:restoredTop sz="94660"/>
  </p:normalViewPr>
  <p:slideViewPr>
    <p:cSldViewPr snapToGrid="0">
      <p:cViewPr>
        <p:scale>
          <a:sx n="90" d="100"/>
          <a:sy n="90" d="100"/>
        </p:scale>
        <p:origin x="350" y="29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253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EF702-0714-4E08-A299-FB7CD6DD53DC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0F021-7EF0-4BDC-ABAA-3F31888D2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083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3835DD-85A7-4A1D-B5D6-4471BFC8E4FB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45845-826A-4014-B98A-97266F305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869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45845-826A-4014-B98A-97266F3057F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538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040309"/>
          </a:xfrm>
          <a:solidFill>
            <a:srgbClr val="F3F3F3"/>
          </a:solidFill>
          <a:ln>
            <a:solidFill>
              <a:schemeClr val="tx1"/>
            </a:solidFill>
          </a:ln>
        </p:spPr>
        <p:txBody>
          <a:bodyPr tIns="91440"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3200" b="1" u="none" kern="1200" spc="0" baseline="0">
                <a:latin typeface="Calibri" panose="020F050202020403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2800" i="0" kern="1200" spc="0" baseline="0">
                <a:latin typeface="Calibri" panose="020F050202020403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2400" i="1" kern="1200" spc="0" baseline="0">
                <a:latin typeface="Calibri" panose="020F0502020204030204" pitchFamily="3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2200" i="1" kern="1200" spc="0" baseline="0">
                <a:latin typeface="Calibri" panose="020F0502020204030204" pitchFamily="3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2200" i="1" kern="1200" spc="0" baseline="0">
                <a:latin typeface="Calibri" panose="020F0502020204030204" pitchFamily="34" charset="0"/>
              </a:defRPr>
            </a:lvl5pPr>
          </a:lstStyle>
          <a:p>
            <a:pPr lvl="0" eaLnBrk="1" latinLnBrk="0" hangingPunct="1"/>
            <a:r>
              <a:rPr lang="en-US" dirty="0"/>
              <a:t>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60997" y="546793"/>
            <a:ext cx="10461669" cy="718441"/>
          </a:xfrm>
          <a:noFill/>
        </p:spPr>
        <p:txBody>
          <a:bodyPr>
            <a:noAutofit/>
          </a:bodyPr>
          <a:lstStyle>
            <a:lvl1pPr algn="ctr">
              <a:defRPr sz="3600" b="1" u="sng" baseline="0">
                <a:effectLst/>
                <a:latin typeface="Calibri" panose="020F0502020204030204" pitchFamily="34" charset="0"/>
              </a:defRPr>
            </a:lvl1pPr>
          </a:lstStyle>
          <a:p>
            <a:r>
              <a:rPr kumimoji="0" lang="en-US" dirty="0"/>
              <a:t>SLIDE TITLE</a:t>
            </a:r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1545844" y="621403"/>
            <a:ext cx="8779256" cy="72479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Calibri" panose="020F0502020204030204" pitchFamily="34" charset="0"/>
                <a:ea typeface="+mj-ea"/>
                <a:cs typeface="+mj-cs"/>
              </a:defRPr>
            </a:lvl1pPr>
            <a:extLst/>
          </a:lstStyle>
          <a:p>
            <a:endParaRPr lang="en-US" sz="3200" b="1" dirty="0"/>
          </a:p>
        </p:txBody>
      </p:sp>
      <p:sp>
        <p:nvSpPr>
          <p:cNvPr id="11" name="Title 1"/>
          <p:cNvSpPr txBox="1">
            <a:spLocks/>
          </p:cNvSpPr>
          <p:nvPr userDrawn="1"/>
        </p:nvSpPr>
        <p:spPr>
          <a:xfrm>
            <a:off x="1545843" y="88897"/>
            <a:ext cx="10476823" cy="4515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anchor="ctr">
            <a:noAutofit/>
          </a:bodyPr>
          <a:lstStyle>
            <a:lvl1pPr algn="l" rtl="0" eaLnBrk="1" latinLnBrk="0" hangingPunct="1">
              <a:lnSpc>
                <a:spcPts val="4500"/>
              </a:lnSpc>
              <a:spcBef>
                <a:spcPct val="0"/>
              </a:spcBef>
              <a:buNone/>
              <a:defRPr kumimoji="0" sz="4000" b="1" kern="1200" cap="all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>
              <a:lnSpc>
                <a:spcPct val="100000"/>
              </a:lnSpc>
            </a:pPr>
            <a:r>
              <a:rPr lang="en-US" sz="2000" b="0" dirty="0">
                <a:latin typeface="Calibri" panose="020F0502020204030204" pitchFamily="34" charset="0"/>
              </a:rPr>
              <a:t>ENGL 3110 – Advanced Grammar</a:t>
            </a:r>
          </a:p>
        </p:txBody>
      </p:sp>
    </p:spTree>
    <p:extLst>
      <p:ext uri="{BB962C8B-B14F-4D97-AF65-F5344CB8AC3E}">
        <p14:creationId xmlns:p14="http://schemas.microsoft.com/office/powerpoint/2010/main" val="18653946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19BA0-A3F1-4AE0-A095-A691F325988D}" type="datetime1">
              <a:rPr lang="en-US" smtClean="0"/>
              <a:t>9/16/2025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910080" y="1850064"/>
            <a:ext cx="987552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910080" y="359898"/>
            <a:ext cx="987552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03323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C1BA8-14CB-402F-AB5D-65EFB4CEE9BA}" type="datetime1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7856" y="1066800"/>
            <a:ext cx="85344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9644" y="2600325"/>
            <a:ext cx="10382612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98125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792A-0B0D-4D75-99F7-2870465BBD14}" type="datetime1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34784" y="1524000"/>
            <a:ext cx="48768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14144" y="1524000"/>
            <a:ext cx="48768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4144" y="274320"/>
            <a:ext cx="999744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61629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3840" userDrawn="1">
          <p15:clr>
            <a:srgbClr val="FBAE40"/>
          </p15:clr>
        </p15:guide>
        <p15:guide id="2" pos="1200" userDrawn="1">
          <p15:clr>
            <a:srgbClr val="FBAE40"/>
          </p15:clr>
        </p15:guide>
        <p15:guide id="3" pos="7512" userDrawn="1">
          <p15:clr>
            <a:srgbClr val="FBAE40"/>
          </p15:clr>
        </p15:guide>
        <p15:guide id="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A14D2-C15B-4C78-A526-4D8666FA99F8}" type="datetime1">
              <a:rPr lang="en-US" smtClean="0"/>
              <a:t>9/16/2025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51548" y="969336"/>
            <a:ext cx="4873752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7051548" y="328278"/>
            <a:ext cx="4873752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1908975" y="969336"/>
            <a:ext cx="4873752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8975" y="328278"/>
            <a:ext cx="4873752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160336"/>
            <a:ext cx="109728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104903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1200" userDrawn="1">
          <p15:clr>
            <a:srgbClr val="FBAE40"/>
          </p15:clr>
        </p15:guide>
        <p15:guide id="2" pos="751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F1A27-4218-4094-BEAE-9A3589DB2B89}" type="datetime1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4144" y="274320"/>
            <a:ext cx="999744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15087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-3632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50000">
                <a:schemeClr val="bg2"/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39AB3-3BFC-4457-B471-ADCDC73FC5EE}" type="datetime1">
              <a:rPr lang="en-US" smtClean="0"/>
              <a:t>9/16/2025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597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905000" y="2133601"/>
            <a:ext cx="95758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00674-BE8F-4CEA-9736-5FEE3AB227F1}" type="datetime1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905000" y="1406964"/>
            <a:ext cx="5516078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216778"/>
            <a:ext cx="5516078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9833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120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0" y="-3632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50000">
                <a:schemeClr val="bg2"/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953A3-A3BE-4323-8A5F-3F3FB07EB2DE}" type="datetime1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016000" y="1066800"/>
            <a:ext cx="6096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17600" y="1143004"/>
            <a:ext cx="58928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marL="0" indent="0" algn="l" eaLnBrk="1" latinLnBrk="0" hangingPunct="1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528967" y="954341"/>
            <a:ext cx="9144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6671556" y="936786"/>
            <a:ext cx="865632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7600" y="4800600"/>
            <a:ext cx="58928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49195" y="1066800"/>
            <a:ext cx="36576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1076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9DF06-9503-4BFC-9BDB-01518A2C34BB}" type="datetime1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75680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D803-E824-49BC-A33E-A6A786BEDB3D}" type="datetime1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274641"/>
            <a:ext cx="7416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4000" y="274640"/>
            <a:ext cx="2438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43560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D3032-ACFF-440E-8C29-E047F0CC3352}" type="datetime1">
              <a:rPr lang="en-US" smtClean="0"/>
              <a:t>9/16/2025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51548" y="969336"/>
            <a:ext cx="4873752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7051548" y="328278"/>
            <a:ext cx="4873752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1908975" y="969336"/>
            <a:ext cx="4873752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8975" y="328278"/>
            <a:ext cx="4873752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160336"/>
            <a:ext cx="109728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812342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1200" userDrawn="1">
          <p15:clr>
            <a:srgbClr val="FBAE40"/>
          </p15:clr>
        </p15:guide>
        <p15:guide id="3" pos="751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4775200" y="6305550"/>
            <a:ext cx="28448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A93063ED-E45C-4ACA-BFCF-74D8FA5A001B}" type="datetime1">
              <a:rPr lang="en-US" smtClean="0"/>
              <a:t>9/16/2025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7620000" y="6305550"/>
            <a:ext cx="38608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tx2"/>
                </a:solidFill>
                <a:effectLst/>
              </a:defRPr>
            </a:lvl1pPr>
            <a:extLst/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11484864" y="6305550"/>
            <a:ext cx="6096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tx2"/>
                </a:solidFill>
                <a:effectLst/>
              </a:defRPr>
            </a:lvl1pPr>
            <a:extLst/>
          </a:lstStyle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-3632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50000">
                <a:schemeClr val="bg2"/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" name="Group 7"/>
          <p:cNvGrpSpPr/>
          <p:nvPr userDrawn="1"/>
        </p:nvGrpSpPr>
        <p:grpSpPr>
          <a:xfrm>
            <a:off x="-13023" y="-5589"/>
            <a:ext cx="1482350" cy="6868109"/>
            <a:chOff x="-13023" y="-5589"/>
            <a:chExt cx="1482350" cy="6868109"/>
          </a:xfrm>
        </p:grpSpPr>
        <p:grpSp>
          <p:nvGrpSpPr>
            <p:cNvPr id="6" name="Group 5"/>
            <p:cNvGrpSpPr/>
            <p:nvPr userDrawn="1"/>
          </p:nvGrpSpPr>
          <p:grpSpPr>
            <a:xfrm>
              <a:off x="20147" y="-5589"/>
              <a:ext cx="1397008" cy="6858000"/>
              <a:chOff x="1097" y="-4624"/>
              <a:chExt cx="1397008" cy="6857406"/>
            </a:xfrm>
          </p:grpSpPr>
          <p:sp>
            <p:nvSpPr>
              <p:cNvPr id="18" name="Freeform 4"/>
              <p:cNvSpPr>
                <a:spLocks/>
              </p:cNvSpPr>
              <p:nvPr/>
            </p:nvSpPr>
            <p:spPr bwMode="ltGray">
              <a:xfrm flipH="1">
                <a:off x="13149" y="-4624"/>
                <a:ext cx="1367425" cy="6837767"/>
              </a:xfrm>
              <a:custGeom>
                <a:avLst/>
                <a:gdLst>
                  <a:gd name="T0" fmla="*/ 0 w 1000"/>
                  <a:gd name="T1" fmla="*/ 0 h 720"/>
                  <a:gd name="T2" fmla="*/ 0 w 1000"/>
                  <a:gd name="T3" fmla="*/ 720 h 720"/>
                  <a:gd name="T4" fmla="*/ 1000 w 1000"/>
                  <a:gd name="T5" fmla="*/ 720 h 720"/>
                  <a:gd name="T6" fmla="*/ 1000 w 1000"/>
                  <a:gd name="T7" fmla="*/ 0 h 720"/>
                  <a:gd name="T8" fmla="*/ 0 w 1000"/>
                  <a:gd name="T9" fmla="*/ 0 h 7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00" h="720">
                    <a:moveTo>
                      <a:pt x="0" y="0"/>
                    </a:moveTo>
                    <a:lnTo>
                      <a:pt x="0" y="720"/>
                    </a:lnTo>
                    <a:lnTo>
                      <a:pt x="1000" y="720"/>
                    </a:lnTo>
                    <a:lnTo>
                      <a:pt x="1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" name="Freeform 5"/>
              <p:cNvSpPr>
                <a:spLocks/>
              </p:cNvSpPr>
              <p:nvPr/>
            </p:nvSpPr>
            <p:spPr bwMode="ltGray">
              <a:xfrm flipH="1">
                <a:off x="13149" y="1692618"/>
                <a:ext cx="1367425" cy="50107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" name="Freeform 6"/>
              <p:cNvSpPr>
                <a:spLocks/>
              </p:cNvSpPr>
              <p:nvPr/>
            </p:nvSpPr>
            <p:spPr bwMode="ltGray">
              <a:xfrm flipH="1">
                <a:off x="14245" y="1286160"/>
                <a:ext cx="1367425" cy="50226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" name="Freeform 7"/>
              <p:cNvSpPr>
                <a:spLocks/>
              </p:cNvSpPr>
              <p:nvPr/>
            </p:nvSpPr>
            <p:spPr bwMode="ltGray">
              <a:xfrm flipH="1">
                <a:off x="13149" y="148913"/>
                <a:ext cx="1367425" cy="303504"/>
              </a:xfrm>
              <a:custGeom>
                <a:avLst/>
                <a:gdLst>
                  <a:gd name="T0" fmla="*/ 0 w 624"/>
                  <a:gd name="T1" fmla="*/ 53 h 370"/>
                  <a:gd name="T2" fmla="*/ 0 w 624"/>
                  <a:gd name="T3" fmla="*/ 325 h 370"/>
                  <a:gd name="T4" fmla="*/ 624 w 624"/>
                  <a:gd name="T5" fmla="*/ 325 h 370"/>
                  <a:gd name="T6" fmla="*/ 624 w 624"/>
                  <a:gd name="T7" fmla="*/ 53 h 370"/>
                  <a:gd name="T8" fmla="*/ 384 w 624"/>
                  <a:gd name="T9" fmla="*/ 8 h 370"/>
                  <a:gd name="T10" fmla="*/ 0 w 624"/>
                  <a:gd name="T11" fmla="*/ 53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" name="Freeform 8"/>
              <p:cNvSpPr>
                <a:spLocks/>
              </p:cNvSpPr>
              <p:nvPr/>
            </p:nvSpPr>
            <p:spPr bwMode="ltGray">
              <a:xfrm flipH="1">
                <a:off x="14245" y="983847"/>
                <a:ext cx="1367425" cy="3499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/>
              </p:cNvSpPr>
              <p:nvPr/>
            </p:nvSpPr>
            <p:spPr bwMode="ltGray">
              <a:xfrm flipH="1">
                <a:off x="14245" y="679152"/>
                <a:ext cx="1367425" cy="430857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272 h 272"/>
                  <a:gd name="T4" fmla="*/ 240 w 624"/>
                  <a:gd name="T5" fmla="*/ 240 h 272"/>
                  <a:gd name="T6" fmla="*/ 624 w 624"/>
                  <a:gd name="T7" fmla="*/ 272 h 272"/>
                  <a:gd name="T8" fmla="*/ 624 w 624"/>
                  <a:gd name="T9" fmla="*/ 0 h 272"/>
                  <a:gd name="T10" fmla="*/ 0 w 624"/>
                  <a:gd name="T11" fmla="*/ 0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" name="Freeform 10"/>
              <p:cNvSpPr>
                <a:spLocks/>
              </p:cNvSpPr>
              <p:nvPr/>
            </p:nvSpPr>
            <p:spPr bwMode="ltGray">
              <a:xfrm flipH="1">
                <a:off x="13149" y="371483"/>
                <a:ext cx="1384956" cy="374917"/>
              </a:xfrm>
              <a:custGeom>
                <a:avLst/>
                <a:gdLst>
                  <a:gd name="T0" fmla="*/ 8 w 632"/>
                  <a:gd name="T1" fmla="*/ 45 h 362"/>
                  <a:gd name="T2" fmla="*/ 8 w 632"/>
                  <a:gd name="T3" fmla="*/ 317 h 362"/>
                  <a:gd name="T4" fmla="*/ 248 w 632"/>
                  <a:gd name="T5" fmla="*/ 317 h 362"/>
                  <a:gd name="T6" fmla="*/ 632 w 632"/>
                  <a:gd name="T7" fmla="*/ 317 h 362"/>
                  <a:gd name="T8" fmla="*/ 632 w 632"/>
                  <a:gd name="T9" fmla="*/ 45 h 362"/>
                  <a:gd name="T10" fmla="*/ 104 w 632"/>
                  <a:gd name="T11" fmla="*/ 45 h 362"/>
                  <a:gd name="T12" fmla="*/ 8 w 632"/>
                  <a:gd name="T13" fmla="*/ 45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" name="Freeform 11"/>
              <p:cNvSpPr>
                <a:spLocks/>
              </p:cNvSpPr>
              <p:nvPr/>
            </p:nvSpPr>
            <p:spPr bwMode="ltGray">
              <a:xfrm flipH="1">
                <a:off x="2192" y="3939738"/>
                <a:ext cx="1367425" cy="50107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/>
              </p:cNvSpPr>
              <p:nvPr/>
            </p:nvSpPr>
            <p:spPr bwMode="ltGray">
              <a:xfrm flipH="1">
                <a:off x="3288" y="3533280"/>
                <a:ext cx="1367425" cy="50226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/>
              </p:cNvSpPr>
              <p:nvPr/>
            </p:nvSpPr>
            <p:spPr bwMode="ltGray">
              <a:xfrm flipH="1">
                <a:off x="2192" y="2394843"/>
                <a:ext cx="1367425" cy="303504"/>
              </a:xfrm>
              <a:custGeom>
                <a:avLst/>
                <a:gdLst>
                  <a:gd name="T0" fmla="*/ 0 w 624"/>
                  <a:gd name="T1" fmla="*/ 53 h 370"/>
                  <a:gd name="T2" fmla="*/ 0 w 624"/>
                  <a:gd name="T3" fmla="*/ 325 h 370"/>
                  <a:gd name="T4" fmla="*/ 624 w 624"/>
                  <a:gd name="T5" fmla="*/ 325 h 370"/>
                  <a:gd name="T6" fmla="*/ 624 w 624"/>
                  <a:gd name="T7" fmla="*/ 53 h 370"/>
                  <a:gd name="T8" fmla="*/ 384 w 624"/>
                  <a:gd name="T9" fmla="*/ 8 h 370"/>
                  <a:gd name="T10" fmla="*/ 0 w 624"/>
                  <a:gd name="T11" fmla="*/ 53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" name="Freeform 14"/>
              <p:cNvSpPr>
                <a:spLocks/>
              </p:cNvSpPr>
              <p:nvPr/>
            </p:nvSpPr>
            <p:spPr bwMode="ltGray">
              <a:xfrm flipH="1">
                <a:off x="3288" y="3229776"/>
                <a:ext cx="1367425" cy="3499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/>
              </p:cNvSpPr>
              <p:nvPr/>
            </p:nvSpPr>
            <p:spPr bwMode="ltGray">
              <a:xfrm flipH="1">
                <a:off x="2192" y="2926868"/>
                <a:ext cx="1367425" cy="429666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272 h 272"/>
                  <a:gd name="T4" fmla="*/ 240 w 624"/>
                  <a:gd name="T5" fmla="*/ 240 h 272"/>
                  <a:gd name="T6" fmla="*/ 624 w 624"/>
                  <a:gd name="T7" fmla="*/ 272 h 272"/>
                  <a:gd name="T8" fmla="*/ 624 w 624"/>
                  <a:gd name="T9" fmla="*/ 0 h 272"/>
                  <a:gd name="T10" fmla="*/ 0 w 624"/>
                  <a:gd name="T11" fmla="*/ 0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" name="Freeform 16"/>
              <p:cNvSpPr>
                <a:spLocks/>
              </p:cNvSpPr>
              <p:nvPr/>
            </p:nvSpPr>
            <p:spPr bwMode="ltGray">
              <a:xfrm flipH="1">
                <a:off x="3288" y="2616817"/>
                <a:ext cx="1384956" cy="376107"/>
              </a:xfrm>
              <a:custGeom>
                <a:avLst/>
                <a:gdLst>
                  <a:gd name="T0" fmla="*/ 8 w 632"/>
                  <a:gd name="T1" fmla="*/ 45 h 362"/>
                  <a:gd name="T2" fmla="*/ 8 w 632"/>
                  <a:gd name="T3" fmla="*/ 317 h 362"/>
                  <a:gd name="T4" fmla="*/ 248 w 632"/>
                  <a:gd name="T5" fmla="*/ 317 h 362"/>
                  <a:gd name="T6" fmla="*/ 632 w 632"/>
                  <a:gd name="T7" fmla="*/ 317 h 362"/>
                  <a:gd name="T8" fmla="*/ 632 w 632"/>
                  <a:gd name="T9" fmla="*/ 45 h 362"/>
                  <a:gd name="T10" fmla="*/ 104 w 632"/>
                  <a:gd name="T11" fmla="*/ 45 h 362"/>
                  <a:gd name="T12" fmla="*/ 8 w 632"/>
                  <a:gd name="T13" fmla="*/ 45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" name="Freeform 17"/>
              <p:cNvSpPr>
                <a:spLocks/>
              </p:cNvSpPr>
              <p:nvPr/>
            </p:nvSpPr>
            <p:spPr bwMode="ltGray">
              <a:xfrm flipH="1">
                <a:off x="13149" y="4970461"/>
                <a:ext cx="1367425" cy="50107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" name="Freeform 18"/>
              <p:cNvSpPr>
                <a:spLocks/>
              </p:cNvSpPr>
              <p:nvPr/>
            </p:nvSpPr>
            <p:spPr bwMode="ltGray">
              <a:xfrm flipH="1">
                <a:off x="14245" y="4564004"/>
                <a:ext cx="1367425" cy="50226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" name="Freeform 19"/>
              <p:cNvSpPr>
                <a:spLocks/>
              </p:cNvSpPr>
              <p:nvPr/>
            </p:nvSpPr>
            <p:spPr bwMode="ltGray">
              <a:xfrm flipH="1">
                <a:off x="2192" y="5672686"/>
                <a:ext cx="1367425" cy="303504"/>
              </a:xfrm>
              <a:custGeom>
                <a:avLst/>
                <a:gdLst>
                  <a:gd name="T0" fmla="*/ 0 w 624"/>
                  <a:gd name="T1" fmla="*/ 53 h 370"/>
                  <a:gd name="T2" fmla="*/ 0 w 624"/>
                  <a:gd name="T3" fmla="*/ 325 h 370"/>
                  <a:gd name="T4" fmla="*/ 624 w 624"/>
                  <a:gd name="T5" fmla="*/ 325 h 370"/>
                  <a:gd name="T6" fmla="*/ 624 w 624"/>
                  <a:gd name="T7" fmla="*/ 53 h 370"/>
                  <a:gd name="T8" fmla="*/ 384 w 624"/>
                  <a:gd name="T9" fmla="*/ 8 h 370"/>
                  <a:gd name="T10" fmla="*/ 0 w 624"/>
                  <a:gd name="T11" fmla="*/ 53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/>
              </p:cNvSpPr>
              <p:nvPr/>
            </p:nvSpPr>
            <p:spPr bwMode="ltGray">
              <a:xfrm rot="16200000" flipH="1">
                <a:off x="512729" y="5994798"/>
                <a:ext cx="346352" cy="1369616"/>
              </a:xfrm>
              <a:custGeom>
                <a:avLst/>
                <a:gdLst>
                  <a:gd name="T0" fmla="*/ 0 w 291"/>
                  <a:gd name="T1" fmla="*/ 624 h 625"/>
                  <a:gd name="T2" fmla="*/ 291 w 291"/>
                  <a:gd name="T3" fmla="*/ 625 h 625"/>
                  <a:gd name="T4" fmla="*/ 291 w 291"/>
                  <a:gd name="T5" fmla="*/ 6 h 625"/>
                  <a:gd name="T6" fmla="*/ 0 w 291"/>
                  <a:gd name="T7" fmla="*/ 0 h 625"/>
                  <a:gd name="T8" fmla="*/ 0 w 291"/>
                  <a:gd name="T9" fmla="*/ 624 h 6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1" h="625">
                    <a:moveTo>
                      <a:pt x="0" y="624"/>
                    </a:moveTo>
                    <a:lnTo>
                      <a:pt x="291" y="625"/>
                    </a:lnTo>
                    <a:lnTo>
                      <a:pt x="291" y="6"/>
                    </a:lnTo>
                    <a:lnTo>
                      <a:pt x="0" y="0"/>
                    </a:lnTo>
                    <a:cubicBezTo>
                      <a:pt x="39" y="384"/>
                      <a:pt x="0" y="494"/>
                      <a:pt x="0" y="624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" name="Freeform 21"/>
              <p:cNvSpPr>
                <a:spLocks/>
              </p:cNvSpPr>
              <p:nvPr/>
            </p:nvSpPr>
            <p:spPr bwMode="ltGray">
              <a:xfrm flipH="1">
                <a:off x="2192" y="6204711"/>
                <a:ext cx="1367425" cy="429666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272 h 272"/>
                  <a:gd name="T4" fmla="*/ 240 w 624"/>
                  <a:gd name="T5" fmla="*/ 240 h 272"/>
                  <a:gd name="T6" fmla="*/ 624 w 624"/>
                  <a:gd name="T7" fmla="*/ 272 h 272"/>
                  <a:gd name="T8" fmla="*/ 624 w 624"/>
                  <a:gd name="T9" fmla="*/ 0 h 272"/>
                  <a:gd name="T10" fmla="*/ 0 w 624"/>
                  <a:gd name="T11" fmla="*/ 0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" name="Freeform 22"/>
              <p:cNvSpPr>
                <a:spLocks/>
              </p:cNvSpPr>
              <p:nvPr/>
            </p:nvSpPr>
            <p:spPr bwMode="ltGray">
              <a:xfrm flipH="1">
                <a:off x="3288" y="5894661"/>
                <a:ext cx="1384956" cy="376107"/>
              </a:xfrm>
              <a:custGeom>
                <a:avLst/>
                <a:gdLst>
                  <a:gd name="T0" fmla="*/ 8 w 632"/>
                  <a:gd name="T1" fmla="*/ 45 h 362"/>
                  <a:gd name="T2" fmla="*/ 8 w 632"/>
                  <a:gd name="T3" fmla="*/ 317 h 362"/>
                  <a:gd name="T4" fmla="*/ 248 w 632"/>
                  <a:gd name="T5" fmla="*/ 317 h 362"/>
                  <a:gd name="T6" fmla="*/ 632 w 632"/>
                  <a:gd name="T7" fmla="*/ 317 h 362"/>
                  <a:gd name="T8" fmla="*/ 632 w 632"/>
                  <a:gd name="T9" fmla="*/ 45 h 362"/>
                  <a:gd name="T10" fmla="*/ 104 w 632"/>
                  <a:gd name="T11" fmla="*/ 45 h 362"/>
                  <a:gd name="T12" fmla="*/ 8 w 632"/>
                  <a:gd name="T13" fmla="*/ 45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6" name="Freeform 23"/>
            <p:cNvSpPr>
              <a:spLocks/>
            </p:cNvSpPr>
            <p:nvPr/>
          </p:nvSpPr>
          <p:spPr bwMode="ltGray">
            <a:xfrm rot="16200000" flipH="1">
              <a:off x="-2995169" y="2977523"/>
              <a:ext cx="6867143" cy="902851"/>
            </a:xfrm>
            <a:custGeom>
              <a:avLst/>
              <a:gdLst>
                <a:gd name="T0" fmla="*/ 0 w 5762"/>
                <a:gd name="T1" fmla="*/ 196 h 385"/>
                <a:gd name="T2" fmla="*/ 5762 w 5762"/>
                <a:gd name="T3" fmla="*/ 188 h 385"/>
                <a:gd name="T4" fmla="*/ 5762 w 5762"/>
                <a:gd name="T5" fmla="*/ 4 h 385"/>
                <a:gd name="T6" fmla="*/ 0 w 5762"/>
                <a:gd name="T7" fmla="*/ 0 h 385"/>
                <a:gd name="T8" fmla="*/ 0 w 5762"/>
                <a:gd name="T9" fmla="*/ 196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62" h="385">
                  <a:moveTo>
                    <a:pt x="0" y="196"/>
                  </a:moveTo>
                  <a:cubicBezTo>
                    <a:pt x="1667" y="385"/>
                    <a:pt x="2275" y="93"/>
                    <a:pt x="5762" y="188"/>
                  </a:cubicBezTo>
                  <a:lnTo>
                    <a:pt x="5762" y="4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767676"/>
                </a:gs>
              </a:gsLst>
              <a:lin ang="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Freeform 24"/>
            <p:cNvSpPr>
              <a:spLocks/>
            </p:cNvSpPr>
            <p:nvPr/>
          </p:nvSpPr>
          <p:spPr bwMode="ltGray">
            <a:xfrm rot="16200000" flipH="1">
              <a:off x="-2170536" y="3221067"/>
              <a:ext cx="6865553" cy="414172"/>
            </a:xfrm>
            <a:custGeom>
              <a:avLst/>
              <a:gdLst>
                <a:gd name="T0" fmla="*/ 0 w 5761"/>
                <a:gd name="T1" fmla="*/ 28 h 189"/>
                <a:gd name="T2" fmla="*/ 5761 w 5761"/>
                <a:gd name="T3" fmla="*/ 0 h 189"/>
                <a:gd name="T4" fmla="*/ 5761 w 5761"/>
                <a:gd name="T5" fmla="*/ 189 h 189"/>
                <a:gd name="T6" fmla="*/ 1 w 5761"/>
                <a:gd name="T7" fmla="*/ 189 h 189"/>
                <a:gd name="T8" fmla="*/ 0 w 5761"/>
                <a:gd name="T9" fmla="*/ 28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61" h="189">
                  <a:moveTo>
                    <a:pt x="0" y="28"/>
                  </a:moveTo>
                  <a:cubicBezTo>
                    <a:pt x="961" y="0"/>
                    <a:pt x="4971" y="161"/>
                    <a:pt x="5761" y="0"/>
                  </a:cubicBezTo>
                  <a:lnTo>
                    <a:pt x="5761" y="189"/>
                  </a:lnTo>
                  <a:lnTo>
                    <a:pt x="1" y="189"/>
                  </a:lnTo>
                  <a:lnTo>
                    <a:pt x="0" y="28"/>
                  </a:lnTo>
                  <a:close/>
                </a:path>
              </a:pathLst>
            </a:custGeom>
            <a:gradFill rotWithShape="0">
              <a:gsLst>
                <a:gs pos="0">
                  <a:srgbClr val="767676"/>
                </a:gs>
                <a:gs pos="100000">
                  <a:schemeClr val="bg1"/>
                </a:gs>
              </a:gsLst>
              <a:lin ang="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" name="Text Placeholder 8"/>
          <p:cNvSpPr>
            <a:spLocks noGrp="1"/>
          </p:cNvSpPr>
          <p:nvPr userDrawn="1">
            <p:ph type="body" idx="1"/>
          </p:nvPr>
        </p:nvSpPr>
        <p:spPr>
          <a:xfrm>
            <a:off x="1914144" y="1447800"/>
            <a:ext cx="999744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  <a:endParaRPr kumimoji="0" lang="en-US" dirty="0"/>
          </a:p>
        </p:txBody>
      </p:sp>
      <p:sp>
        <p:nvSpPr>
          <p:cNvPr id="5" name="Title Placeholder 4"/>
          <p:cNvSpPr>
            <a:spLocks noGrp="1"/>
          </p:cNvSpPr>
          <p:nvPr userDrawn="1">
            <p:ph type="title"/>
          </p:nvPr>
        </p:nvSpPr>
        <p:spPr>
          <a:xfrm>
            <a:off x="1914144" y="274638"/>
            <a:ext cx="999744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514842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7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68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753780" y="375411"/>
            <a:ext cx="10071027" cy="1608839"/>
          </a:xfrm>
        </p:spPr>
        <p:txBody>
          <a:bodyPr>
            <a:noAutofit/>
          </a:bodyPr>
          <a:lstStyle/>
          <a:p>
            <a:pPr algn="ctr"/>
            <a:r>
              <a:rPr lang="en-US" sz="8800" u="sng" dirty="0">
                <a:latin typeface="Calibri" panose="020F0502020204030204" pitchFamily="34" charset="0"/>
              </a:rPr>
              <a:t>Course Introduction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FA763A-849E-46B9-8AEE-24CEB780A7C9}"/>
              </a:ext>
            </a:extLst>
          </p:cNvPr>
          <p:cNvSpPr txBox="1"/>
          <p:nvPr/>
        </p:nvSpPr>
        <p:spPr>
          <a:xfrm>
            <a:off x="2112884" y="3407689"/>
            <a:ext cx="9099613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sz="4800" dirty="0">
                <a:latin typeface="Abadi" panose="020B0604020202020204" pitchFamily="34" charset="0"/>
              </a:rPr>
              <a:t>Welcome to ENGL 3110</a:t>
            </a:r>
          </a:p>
        </p:txBody>
      </p:sp>
    </p:spTree>
    <p:extLst>
      <p:ext uri="{BB962C8B-B14F-4D97-AF65-F5344CB8AC3E}">
        <p14:creationId xmlns:p14="http://schemas.microsoft.com/office/powerpoint/2010/main" val="4137776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60997" y="1351112"/>
            <a:ext cx="10476826" cy="5040309"/>
          </a:xfrm>
        </p:spPr>
        <p:txBody>
          <a:bodyPr>
            <a:normAutofit/>
          </a:bodyPr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things to do while everyone gets here.</a:t>
            </a:r>
          </a:p>
          <a:p>
            <a:pPr marL="742950" marR="0" lvl="1" indent="-285750">
              <a:lnSpc>
                <a:spcPct val="107000"/>
              </a:lnSpc>
              <a:buFont typeface="+mj-lt"/>
              <a:buAutoNum type="alphaL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Explore Canvas</a:t>
            </a:r>
          </a:p>
          <a:p>
            <a:pPr marL="742950" marR="0" lvl="1" indent="-285750">
              <a:lnSpc>
                <a:spcPct val="107000"/>
              </a:lnSpc>
              <a:buFont typeface="+mj-lt"/>
              <a:buAutoNum type="alphaL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Look at the Course Schedule</a:t>
            </a:r>
          </a:p>
          <a:p>
            <a:pPr marL="742950" marR="0" lvl="1" indent="-285750">
              <a:lnSpc>
                <a:spcPct val="107000"/>
              </a:lnSpc>
              <a:buFont typeface="+mj-lt"/>
              <a:buAutoNum type="alphaL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Look over the Syllabus</a:t>
            </a:r>
            <a:endParaRPr lang="en-US" dirty="0">
              <a:latin typeface="Segoe UI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buFont typeface="+mj-lt"/>
              <a:buAutoNum type="alphaLcPeriod"/>
            </a:pPr>
            <a:r>
              <a:rPr lang="en-US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Explore the “Resources” on the front page of Canvas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Please Be Patient!</a:t>
            </a:r>
          </a:p>
        </p:txBody>
      </p:sp>
    </p:spTree>
    <p:extLst>
      <p:ext uri="{BB962C8B-B14F-4D97-AF65-F5344CB8AC3E}">
        <p14:creationId xmlns:p14="http://schemas.microsoft.com/office/powerpoint/2010/main" val="1544953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33E9F-4740-D380-A2D7-6D863ABC7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48FF240-7147-B73A-81D5-A1DC544FD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0997" y="1351112"/>
            <a:ext cx="10476826" cy="5040309"/>
          </a:xfrm>
        </p:spPr>
        <p:txBody>
          <a:bodyPr>
            <a:normAutofit/>
          </a:bodyPr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Bonus</a:t>
            </a:r>
          </a:p>
          <a:p>
            <a:pPr marL="742950" marR="0" lvl="1" indent="-285750">
              <a:lnSpc>
                <a:spcPct val="150000"/>
              </a:lnSpc>
              <a:buFont typeface="+mj-lt"/>
              <a:buAutoNum type="alphaL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Physical Scribe</a:t>
            </a:r>
          </a:p>
          <a:p>
            <a:pPr marL="742950" marR="0" lvl="1" indent="-285750">
              <a:lnSpc>
                <a:spcPct val="150000"/>
              </a:lnSpc>
              <a:buFont typeface="+mj-lt"/>
              <a:buAutoNum type="alphaL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Digital Scribe</a:t>
            </a:r>
          </a:p>
          <a:p>
            <a:pPr marL="742950" marR="0" lvl="1" indent="-285750">
              <a:lnSpc>
                <a:spcPct val="150000"/>
              </a:lnSpc>
              <a:buFont typeface="+mj-lt"/>
              <a:buAutoNum type="alphaL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Language Contact Reading – Helpful for Exam shor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t essay</a:t>
            </a:r>
            <a:endParaRPr lang="en-US" dirty="0">
              <a:latin typeface="Segoe UI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50000"/>
              </a:lnSpc>
              <a:buFont typeface="+mj-lt"/>
              <a:buAutoNum type="alphaLcPeriod"/>
            </a:pPr>
            <a:r>
              <a:rPr lang="en-US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Writing Review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95D76B7-4631-2347-6506-735A61E4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Please Be Patient!</a:t>
            </a:r>
          </a:p>
        </p:txBody>
      </p:sp>
    </p:spTree>
    <p:extLst>
      <p:ext uri="{BB962C8B-B14F-4D97-AF65-F5344CB8AC3E}">
        <p14:creationId xmlns:p14="http://schemas.microsoft.com/office/powerpoint/2010/main" val="28793882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0" dirty="0"/>
              <a:t>Review Homework</a:t>
            </a:r>
          </a:p>
          <a:p>
            <a:pPr>
              <a:lnSpc>
                <a:spcPct val="150000"/>
              </a:lnSpc>
            </a:pPr>
            <a:r>
              <a:rPr lang="en-US" sz="2800" b="0" dirty="0"/>
              <a:t>Determiner Review</a:t>
            </a:r>
          </a:p>
          <a:p>
            <a:pPr>
              <a:lnSpc>
                <a:spcPct val="150000"/>
              </a:lnSpc>
            </a:pPr>
            <a:r>
              <a:rPr lang="en-US" sz="2800" b="0" dirty="0" err="1"/>
              <a:t>Adjectivals</a:t>
            </a:r>
            <a:r>
              <a:rPr lang="en-US" sz="2800" b="0" dirty="0"/>
              <a:t> and Adverbials </a:t>
            </a:r>
          </a:p>
          <a:p>
            <a:pPr>
              <a:lnSpc>
                <a:spcPct val="150000"/>
              </a:lnSpc>
            </a:pPr>
            <a:r>
              <a:rPr lang="en-US" sz="2800" b="0" dirty="0"/>
              <a:t>Sentence Building</a:t>
            </a:r>
          </a:p>
          <a:p>
            <a:pPr>
              <a:lnSpc>
                <a:spcPct val="150000"/>
              </a:lnSpc>
            </a:pPr>
            <a:r>
              <a:rPr lang="en-US" sz="2800" b="0" dirty="0"/>
              <a:t>Apply to Our Writing?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 Overview</a:t>
            </a:r>
          </a:p>
        </p:txBody>
      </p:sp>
    </p:spTree>
    <p:extLst>
      <p:ext uri="{BB962C8B-B14F-4D97-AF65-F5344CB8AC3E}">
        <p14:creationId xmlns:p14="http://schemas.microsoft.com/office/powerpoint/2010/main" val="1167479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CEA19-45F3-561A-EE4C-9884D5173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4B96FB-BC22-2267-3E6B-3E24C55AD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90675"/>
          </a:xfrm>
        </p:spPr>
        <p:txBody>
          <a:bodyPr>
            <a:normAutofit fontScale="92500" lnSpcReduction="10000"/>
          </a:bodyPr>
          <a:lstStyle/>
          <a:p>
            <a:pPr marL="697230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i="0" dirty="0">
                <a:effectLst/>
                <a:highlight>
                  <a:srgbClr val="F2F2F2"/>
                </a:highlight>
                <a:latin typeface="Arial" panose="020B0604020202020204" pitchFamily="34" charset="0"/>
              </a:rPr>
              <a:t>Determiners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Determiners a “closed class” that modify nouns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 every noun phrase has a determiner</a:t>
            </a:r>
          </a:p>
          <a:p>
            <a:pPr marL="697230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8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Types of Determiners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Articles (a, an, the)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Demonstratives (this, that, those)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Possessives (my, their, its)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Quantifiers (many, some, all)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Numbers (one, three, a hundred)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0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Some linguists classify numbers as their own separate closed class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3B96C86-FA4A-422A-19C6-8B3C870E6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Refresher</a:t>
            </a:r>
          </a:p>
        </p:txBody>
      </p:sp>
    </p:spTree>
    <p:extLst>
      <p:ext uri="{BB962C8B-B14F-4D97-AF65-F5344CB8AC3E}">
        <p14:creationId xmlns:p14="http://schemas.microsoft.com/office/powerpoint/2010/main" val="3071102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8DDAC-5E04-CC60-0DDA-EA6E5A170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4A4A0E-EC3F-4C7E-1B87-8A4477027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90675"/>
          </a:xfrm>
        </p:spPr>
        <p:txBody>
          <a:bodyPr>
            <a:normAutofit/>
          </a:bodyPr>
          <a:lstStyle/>
          <a:p>
            <a:pPr marL="697230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i="0" dirty="0">
                <a:effectLst/>
                <a:highlight>
                  <a:srgbClr val="F2F2F2"/>
                </a:highlight>
                <a:latin typeface="Arial" panose="020B0604020202020204" pitchFamily="34" charset="0"/>
              </a:rPr>
              <a:t>What are some tricks to be able to tell apart a determiner and an adjective?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Determiners usually precede Adjectives.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000" b="0" i="0" dirty="0">
                <a:solidFill>
                  <a:srgbClr val="FF0000"/>
                </a:solidFill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en-US" sz="2000" b="0" i="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big, red, bouncy ball.</a:t>
            </a:r>
            <a:endParaRPr lang="en-US" b="0" i="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Most nouns can only take one or two determiner but infinite pronouns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200" i="0" dirty="0">
                <a:solidFill>
                  <a:srgbClr val="FF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A few </a:t>
            </a:r>
            <a:r>
              <a:rPr lang="en-US" sz="2200" i="0" dirty="0">
                <a:ea typeface="Calibri" panose="020F0502020204030204" pitchFamily="34" charset="0"/>
                <a:cs typeface="Times New Roman" panose="02020603050405020304" pitchFamily="18" charset="0"/>
              </a:rPr>
              <a:t>big, red, bouncy balls.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Most adjectives are “</a:t>
            </a:r>
            <a:r>
              <a:rPr lang="en-US" sz="2400" dirty="0" err="1">
                <a:ea typeface="Calibri" panose="020F0502020204030204" pitchFamily="34" charset="0"/>
                <a:cs typeface="Times New Roman" panose="02020603050405020304" pitchFamily="18" charset="0"/>
              </a:rPr>
              <a:t>gradeable</a:t>
            </a: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” but most determiners are not.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i="0" dirty="0">
                <a:ea typeface="Calibri" panose="020F0502020204030204" pitchFamily="34" charset="0"/>
                <a:cs typeface="Times New Roman" panose="02020603050405020304" pitchFamily="18" charset="0"/>
              </a:rPr>
              <a:t>I lost </a:t>
            </a:r>
            <a:r>
              <a:rPr lang="en-US" i="0" u="sng" dirty="0">
                <a:ea typeface="Calibri" panose="020F0502020204030204" pitchFamily="34" charset="0"/>
                <a:cs typeface="Times New Roman" panose="02020603050405020304" pitchFamily="18" charset="0"/>
              </a:rPr>
              <a:t>very my </a:t>
            </a:r>
            <a:r>
              <a:rPr lang="en-US" i="0" dirty="0">
                <a:ea typeface="Calibri" panose="020F0502020204030204" pitchFamily="34" charset="0"/>
                <a:cs typeface="Times New Roman" panose="02020603050405020304" pitchFamily="18" charset="0"/>
              </a:rPr>
              <a:t>books. 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i="0" dirty="0">
                <a:ea typeface="Calibri" panose="020F0502020204030204" pitchFamily="34" charset="0"/>
                <a:cs typeface="Times New Roman" panose="02020603050405020304" pitchFamily="18" charset="0"/>
              </a:rPr>
              <a:t>I love </a:t>
            </a:r>
            <a:r>
              <a:rPr lang="en-US" i="0" u="sng" dirty="0">
                <a:ea typeface="Calibri" panose="020F0502020204030204" pitchFamily="34" charset="0"/>
                <a:cs typeface="Times New Roman" panose="02020603050405020304" pitchFamily="18" charset="0"/>
              </a:rPr>
              <a:t>very special </a:t>
            </a:r>
            <a:r>
              <a:rPr lang="en-US" i="0" dirty="0">
                <a:ea typeface="Calibri" panose="020F0502020204030204" pitchFamily="34" charset="0"/>
                <a:cs typeface="Times New Roman" panose="02020603050405020304" pitchFamily="18" charset="0"/>
              </a:rPr>
              <a:t>books.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B173A8E-CCB0-719A-A4FC-30864ED0E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Refresher</a:t>
            </a:r>
          </a:p>
        </p:txBody>
      </p:sp>
    </p:spTree>
    <p:extLst>
      <p:ext uri="{BB962C8B-B14F-4D97-AF65-F5344CB8AC3E}">
        <p14:creationId xmlns:p14="http://schemas.microsoft.com/office/powerpoint/2010/main" val="3562882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103CC-D247-E01B-5732-A83B33ADA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BB39A39-ACBC-CCA4-DC82-6758AFD57E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0" dirty="0" err="1"/>
              <a:t>Adjectivals</a:t>
            </a:r>
            <a:r>
              <a:rPr lang="en-US" sz="2800" b="0" dirty="0"/>
              <a:t> = Acting as an Adjective</a:t>
            </a:r>
          </a:p>
          <a:p>
            <a:pPr lvl="2">
              <a:lnSpc>
                <a:spcPct val="150000"/>
              </a:lnSpc>
            </a:pPr>
            <a:r>
              <a:rPr lang="en-US" sz="2000" dirty="0"/>
              <a:t>Modify Nouns</a:t>
            </a:r>
            <a:endParaRPr lang="en-US" sz="2000" b="0" dirty="0"/>
          </a:p>
          <a:p>
            <a:pPr lvl="1">
              <a:lnSpc>
                <a:spcPct val="150000"/>
              </a:lnSpc>
            </a:pPr>
            <a:r>
              <a:rPr lang="en-US" dirty="0"/>
              <a:t>Unit One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Adjectives, Prepositional Phrases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Unit Two</a:t>
            </a:r>
          </a:p>
          <a:p>
            <a:pPr lvl="2">
              <a:lnSpc>
                <a:spcPct val="150000"/>
              </a:lnSpc>
            </a:pPr>
            <a:r>
              <a:rPr lang="en-US" b="0" dirty="0"/>
              <a:t>Nouns, Verbs, whole clauses (relative clauses)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8E3CF0D-C427-A7A4-4AB1-03D56A84E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 Overview</a:t>
            </a:r>
          </a:p>
        </p:txBody>
      </p:sp>
    </p:spTree>
    <p:extLst>
      <p:ext uri="{BB962C8B-B14F-4D97-AF65-F5344CB8AC3E}">
        <p14:creationId xmlns:p14="http://schemas.microsoft.com/office/powerpoint/2010/main" val="22114124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C5F6C-41E7-6D28-2656-F28B73BF8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375BB3A-FF70-2389-782E-66E6A8FFB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0" dirty="0"/>
              <a:t>Adverbials = Acting as an Adverb</a:t>
            </a:r>
          </a:p>
          <a:p>
            <a:pPr lvl="2">
              <a:lnSpc>
                <a:spcPct val="150000"/>
              </a:lnSpc>
            </a:pPr>
            <a:r>
              <a:rPr lang="en-US" sz="2000" dirty="0"/>
              <a:t>Modify Verbs, Adjective, Adverbs, and Whole Sentences</a:t>
            </a:r>
            <a:endParaRPr lang="en-US" sz="2000" b="0" dirty="0"/>
          </a:p>
          <a:p>
            <a:pPr lvl="1">
              <a:lnSpc>
                <a:spcPct val="150000"/>
              </a:lnSpc>
            </a:pPr>
            <a:r>
              <a:rPr lang="en-US" dirty="0"/>
              <a:t>Unit One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Adjectives, Prepositional Phrases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Unit Two</a:t>
            </a:r>
          </a:p>
          <a:p>
            <a:pPr lvl="2">
              <a:lnSpc>
                <a:spcPct val="150000"/>
              </a:lnSpc>
            </a:pPr>
            <a:r>
              <a:rPr lang="en-US" b="0" dirty="0"/>
              <a:t>Nouns, Verbs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F8800C3-D649-4265-668B-A56C663F1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 Overview</a:t>
            </a:r>
          </a:p>
        </p:txBody>
      </p:sp>
    </p:spTree>
    <p:extLst>
      <p:ext uri="{BB962C8B-B14F-4D97-AF65-F5344CB8AC3E}">
        <p14:creationId xmlns:p14="http://schemas.microsoft.com/office/powerpoint/2010/main" val="21914657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DE929-A53E-C712-BF5D-F377BD84F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EEA1D32-0D79-BBDC-485F-5BBF4751F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b="0" dirty="0"/>
              <a:t>Find Two Paragraphs of Your Own Recent Writing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Underline all Noun Phrases in the Subject Position</a:t>
            </a:r>
          </a:p>
          <a:p>
            <a:pPr lvl="1">
              <a:lnSpc>
                <a:spcPct val="150000"/>
              </a:lnSpc>
            </a:pPr>
            <a:r>
              <a:rPr lang="en-US" b="0" dirty="0"/>
              <a:t>Put brackets around all Verb Phrases in Predicate Position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Make two lists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All your Subject Nouns 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All your Main Verbs</a:t>
            </a:r>
          </a:p>
          <a:p>
            <a:pPr lvl="1">
              <a:lnSpc>
                <a:spcPct val="150000"/>
              </a:lnSpc>
            </a:pPr>
            <a:r>
              <a:rPr lang="en-US" b="0" dirty="0"/>
              <a:t>Compare with a partner and Consider Trends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A673E37-F3A4-6A73-F553-A103D2005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Writing Review</a:t>
            </a:r>
          </a:p>
        </p:txBody>
      </p:sp>
    </p:spTree>
    <p:extLst>
      <p:ext uri="{BB962C8B-B14F-4D97-AF65-F5344CB8AC3E}">
        <p14:creationId xmlns:p14="http://schemas.microsoft.com/office/powerpoint/2010/main" val="15952459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06628-327A-545B-0289-6DC432216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F2BD396-5D3C-388B-2C26-FA3AEC82F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382951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How long are your subjects and predicates?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Compared to your partner?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Compared to each other? (subjects vs predicates)</a:t>
            </a:r>
          </a:p>
          <a:p>
            <a:pPr>
              <a:lnSpc>
                <a:spcPct val="150000"/>
              </a:lnSpc>
            </a:pPr>
            <a:r>
              <a:rPr lang="en-US" dirty="0"/>
              <a:t>What KIND of nouns do you use?</a:t>
            </a:r>
          </a:p>
          <a:p>
            <a:pPr lvl="1">
              <a:lnSpc>
                <a:spcPct val="150000"/>
              </a:lnSpc>
            </a:pPr>
            <a:r>
              <a:rPr lang="en-US" b="0" dirty="0"/>
              <a:t>Concrete or abstract?  Topic content or non-topic content?</a:t>
            </a:r>
          </a:p>
          <a:p>
            <a:pPr>
              <a:lnSpc>
                <a:spcPct val="150000"/>
              </a:lnSpc>
            </a:pPr>
            <a:r>
              <a:rPr lang="en-US" dirty="0"/>
              <a:t>What KIND of verbs do you use?</a:t>
            </a:r>
          </a:p>
          <a:p>
            <a:pPr lvl="1">
              <a:lnSpc>
                <a:spcPct val="150000"/>
              </a:lnSpc>
            </a:pPr>
            <a:r>
              <a:rPr lang="en-US" b="0" dirty="0"/>
              <a:t>Tense?  Physical/active vs abstract? “Be,” “Do,” “Has”?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B43F501-2F2D-6856-C820-11E7D15EC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Writing Review</a:t>
            </a:r>
          </a:p>
        </p:txBody>
      </p:sp>
    </p:spTree>
    <p:extLst>
      <p:ext uri="{BB962C8B-B14F-4D97-AF65-F5344CB8AC3E}">
        <p14:creationId xmlns:p14="http://schemas.microsoft.com/office/powerpoint/2010/main" val="26737795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1088A-5670-9AFD-8D6D-A947CB59B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EF90DA2-E687-A072-B20B-B595152B1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21655"/>
          </a:xfrm>
        </p:spPr>
        <p:txBody>
          <a:bodyPr>
            <a:normAutofit/>
          </a:bodyPr>
          <a:lstStyle/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Essay Study Guide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Make Diagrams by Hand or Digitally</a:t>
            </a: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Bring hand-drawn diagrams to class.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Will Review in Class and Post Answer Key on Monday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Test in-class on Wednesday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E94361-FD4C-7DD4-50EA-1BC06321C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Homework PRE-view</a:t>
            </a:r>
          </a:p>
        </p:txBody>
      </p:sp>
    </p:spTree>
    <p:extLst>
      <p:ext uri="{BB962C8B-B14F-4D97-AF65-F5344CB8AC3E}">
        <p14:creationId xmlns:p14="http://schemas.microsoft.com/office/powerpoint/2010/main" val="1633963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If you have questions or concerns, hang around to talk.</a:t>
            </a:r>
          </a:p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End of Class</a:t>
            </a:r>
          </a:p>
        </p:txBody>
      </p:sp>
    </p:spTree>
    <p:extLst>
      <p:ext uri="{BB962C8B-B14F-4D97-AF65-F5344CB8AC3E}">
        <p14:creationId xmlns:p14="http://schemas.microsoft.com/office/powerpoint/2010/main" val="514603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d's tie design template">
  <a:themeElements>
    <a:clrScheme name="Custom 7">
      <a:dk1>
        <a:sysClr val="windowText" lastClr="000000"/>
      </a:dk1>
      <a:lt1>
        <a:sysClr val="window" lastClr="FFFFFF"/>
      </a:lt1>
      <a:dk2>
        <a:srgbClr val="323232"/>
      </a:dk2>
      <a:lt2>
        <a:srgbClr val="FFFFCC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Dad's tie design template" id="{D38B957D-588F-4953-A2A4-8835E8F79C65}" vid="{09887BB5-A875-44C0-9AF9-8FE92BB7EC5A}"/>
    </a:ext>
  </a:extLst>
</a:theme>
</file>

<file path=ppt/theme/theme2.xml><?xml version="1.0" encoding="utf-8"?>
<a:theme xmlns:a="http://schemas.openxmlformats.org/drawingml/2006/main" name="Office Them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2C979567-0D27-4E98-9101-139E4F27BE4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Dad's tie design slides</Template>
  <TotalTime>0</TotalTime>
  <Words>441</Words>
  <Application>Microsoft Office PowerPoint</Application>
  <PresentationFormat>Widescreen</PresentationFormat>
  <Paragraphs>79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Abadi</vt:lpstr>
      <vt:lpstr>Arial</vt:lpstr>
      <vt:lpstr>Calibri</vt:lpstr>
      <vt:lpstr>Century Gothic</vt:lpstr>
      <vt:lpstr>Palatino Linotype</vt:lpstr>
      <vt:lpstr>Segoe UI</vt:lpstr>
      <vt:lpstr>Verdana</vt:lpstr>
      <vt:lpstr>Wingdings 2</vt:lpstr>
      <vt:lpstr>Dad's tie design template</vt:lpstr>
      <vt:lpstr>Course Introduction</vt:lpstr>
      <vt:lpstr>Please Be Patient!</vt:lpstr>
      <vt:lpstr>Please Be Patient!</vt:lpstr>
      <vt:lpstr>Class Overview</vt:lpstr>
      <vt:lpstr>Refresher</vt:lpstr>
      <vt:lpstr>Refresher</vt:lpstr>
      <vt:lpstr>Class Overview</vt:lpstr>
      <vt:lpstr>Class Overview</vt:lpstr>
      <vt:lpstr>Writing Review</vt:lpstr>
      <vt:lpstr>Writing Review</vt:lpstr>
      <vt:lpstr>Homework PRE-view</vt:lpstr>
      <vt:lpstr>End of Class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2016-07-22T17:40:32Z</dcterms:created>
  <dcterms:modified xsi:type="dcterms:W3CDTF">2025-09-17T01:05:53Z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TC034605139991</vt:lpwstr>
  </property>
</Properties>
</file>