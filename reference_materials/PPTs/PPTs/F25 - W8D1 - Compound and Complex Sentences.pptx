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19"/>
  </p:notesMasterIdLst>
  <p:handoutMasterIdLst>
    <p:handoutMasterId r:id="rId20"/>
  </p:handoutMasterIdLst>
  <p:sldIdLst>
    <p:sldId id="270" r:id="rId3"/>
    <p:sldId id="539" r:id="rId4"/>
    <p:sldId id="541" r:id="rId5"/>
    <p:sldId id="540" r:id="rId6"/>
    <p:sldId id="524" r:id="rId7"/>
    <p:sldId id="527" r:id="rId8"/>
    <p:sldId id="528" r:id="rId9"/>
    <p:sldId id="529" r:id="rId10"/>
    <p:sldId id="530" r:id="rId11"/>
    <p:sldId id="525" r:id="rId12"/>
    <p:sldId id="526" r:id="rId13"/>
    <p:sldId id="531" r:id="rId14"/>
    <p:sldId id="522" r:id="rId15"/>
    <p:sldId id="532" r:id="rId16"/>
    <p:sldId id="533" r:id="rId17"/>
    <p:sldId id="40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8E8E8"/>
    <a:srgbClr val="D5ECFF"/>
    <a:srgbClr val="B9DFFF"/>
    <a:srgbClr val="97D0FF"/>
    <a:srgbClr val="C4E5FC"/>
    <a:srgbClr val="C6B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A20A84-5927-4735-8A6C-03B32752F421}" v="2" dt="2025-10-13T20:35:13.8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0" autoAdjust="0"/>
    <p:restoredTop sz="94660"/>
  </p:normalViewPr>
  <p:slideViewPr>
    <p:cSldViewPr snapToGrid="0">
      <p:cViewPr>
        <p:scale>
          <a:sx n="125" d="100"/>
          <a:sy n="125" d="100"/>
        </p:scale>
        <p:origin x="-312" y="-7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EF702-0714-4E08-A299-FB7CD6DD53D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F021-7EF0-4BDC-ABAA-3F31888D2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8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835DD-85A7-4A1D-B5D6-4471BFC8E4F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45845-826A-4014-B98A-97266F30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6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3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040309"/>
          </a:xfr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3200" b="1" u="none" kern="1200" spc="0" baseline="0">
                <a:latin typeface="Calibri" panose="020F050202020403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800" i="0" kern="1200" spc="0" baseline="0">
                <a:latin typeface="Calibri" panose="020F050202020403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400" i="1" kern="1200" spc="0" baseline="0">
                <a:latin typeface="Calibri" panose="020F050202020403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0997" y="546793"/>
            <a:ext cx="10461669" cy="718441"/>
          </a:xfrm>
          <a:noFill/>
        </p:spPr>
        <p:txBody>
          <a:bodyPr>
            <a:noAutofit/>
          </a:bodyPr>
          <a:lstStyle>
            <a:lvl1pPr algn="ctr">
              <a:defRPr sz="3600" b="1" u="sng" baseline="0">
                <a:effectLst/>
                <a:latin typeface="Calibri" panose="020F0502020204030204" pitchFamily="34" charset="0"/>
              </a:defRPr>
            </a:lvl1pPr>
          </a:lstStyle>
          <a:p>
            <a:r>
              <a:rPr kumimoji="0" lang="en-US" dirty="0"/>
              <a:t>SLIDE TITLE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45844" y="621403"/>
            <a:ext cx="8779256" cy="7247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  <a:extLst/>
          </a:lstStyle>
          <a:p>
            <a:endParaRPr lang="en-US" sz="3200" b="1" dirty="0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1545843" y="88897"/>
            <a:ext cx="10476823" cy="4515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algn="l" rtl="0" eaLnBrk="1" latinLnBrk="0" hangingPunct="1">
              <a:lnSpc>
                <a:spcPts val="4500"/>
              </a:lnSpc>
              <a:spcBef>
                <a:spcPct val="0"/>
              </a:spcBef>
              <a:buNone/>
              <a:defRPr kumimoji="0" sz="4000" b="1" kern="1200" cap="all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</a:rPr>
              <a:t>ENGL 3110 – Advanced Grammar</a:t>
            </a:r>
          </a:p>
        </p:txBody>
      </p:sp>
    </p:spTree>
    <p:extLst>
      <p:ext uri="{BB962C8B-B14F-4D97-AF65-F5344CB8AC3E}">
        <p14:creationId xmlns:p14="http://schemas.microsoft.com/office/powerpoint/2010/main" val="186539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9BA0-A3F1-4AE0-A095-A691F325988D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332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1BA8-14CB-402F-AB5D-65EFB4CEE9BA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644" y="2600325"/>
            <a:ext cx="10382612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812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792A-0B0D-4D75-99F7-2870465BBD14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162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  <p15:guide id="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14D2-C15B-4C78-A526-4D8666FA99F8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049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  <p15:guide id="2" pos="75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1A27-4218-4094-BEAE-9A3589DB2B89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508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AB3-3BFC-4457-B471-ADCDC73FC5EE}" type="datetime1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9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05000" y="2133601"/>
            <a:ext cx="95758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0674-BE8F-4CEA-9736-5FEE3AB227F1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905000" y="1406964"/>
            <a:ext cx="5516078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16778"/>
            <a:ext cx="5516078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83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953A3-A3BE-4323-8A5F-3F3FB07EB2DE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07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DF06-9503-4BFC-9BDB-01518A2C34BB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568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D803-E824-49BC-A33E-A6A786BEDB3D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356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3032-ACFF-440E-8C29-E047F0CC3352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1234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A93063ED-E45C-4ACA-BFCF-74D8FA5A001B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3023" y="-5589"/>
            <a:ext cx="1482350" cy="6868109"/>
            <a:chOff x="-13023" y="-5589"/>
            <a:chExt cx="1482350" cy="6868109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20147" y="-5589"/>
              <a:ext cx="1397008" cy="6858000"/>
              <a:chOff x="1097" y="-4624"/>
              <a:chExt cx="1397008" cy="6857406"/>
            </a:xfrm>
          </p:grpSpPr>
          <p:sp>
            <p:nvSpPr>
              <p:cNvPr id="18" name="Freeform 4"/>
              <p:cNvSpPr>
                <a:spLocks/>
              </p:cNvSpPr>
              <p:nvPr/>
            </p:nvSpPr>
            <p:spPr bwMode="ltGray">
              <a:xfrm flipH="1">
                <a:off x="13149" y="-4624"/>
                <a:ext cx="1367425" cy="6837767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720 h 720"/>
                  <a:gd name="T4" fmla="*/ 1000 w 1000"/>
                  <a:gd name="T5" fmla="*/ 720 h 720"/>
                  <a:gd name="T6" fmla="*/ 1000 w 1000"/>
                  <a:gd name="T7" fmla="*/ 0 h 720"/>
                  <a:gd name="T8" fmla="*/ 0 w 1000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Freeform 5"/>
              <p:cNvSpPr>
                <a:spLocks/>
              </p:cNvSpPr>
              <p:nvPr/>
            </p:nvSpPr>
            <p:spPr bwMode="ltGray">
              <a:xfrm flipH="1">
                <a:off x="13149" y="169261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Freeform 6"/>
              <p:cNvSpPr>
                <a:spLocks/>
              </p:cNvSpPr>
              <p:nvPr/>
            </p:nvSpPr>
            <p:spPr bwMode="ltGray">
              <a:xfrm flipH="1">
                <a:off x="14245" y="128616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Freeform 7"/>
              <p:cNvSpPr>
                <a:spLocks/>
              </p:cNvSpPr>
              <p:nvPr/>
            </p:nvSpPr>
            <p:spPr bwMode="ltGray">
              <a:xfrm flipH="1">
                <a:off x="13149" y="14891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Freeform 8"/>
              <p:cNvSpPr>
                <a:spLocks/>
              </p:cNvSpPr>
              <p:nvPr/>
            </p:nvSpPr>
            <p:spPr bwMode="ltGray">
              <a:xfrm flipH="1">
                <a:off x="14245" y="983847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ltGray">
              <a:xfrm flipH="1">
                <a:off x="14245" y="679152"/>
                <a:ext cx="1367425" cy="430857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ltGray">
              <a:xfrm flipH="1">
                <a:off x="13149" y="371483"/>
                <a:ext cx="1384956" cy="37491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ltGray">
              <a:xfrm flipH="1">
                <a:off x="2192" y="393973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ltGray">
              <a:xfrm flipH="1">
                <a:off x="3288" y="353328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/>
              </p:cNvSpPr>
              <p:nvPr/>
            </p:nvSpPr>
            <p:spPr bwMode="ltGray">
              <a:xfrm flipH="1">
                <a:off x="2192" y="239484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Freeform 14"/>
              <p:cNvSpPr>
                <a:spLocks/>
              </p:cNvSpPr>
              <p:nvPr/>
            </p:nvSpPr>
            <p:spPr bwMode="ltGray">
              <a:xfrm flipH="1">
                <a:off x="3288" y="3229776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/>
              </p:cNvSpPr>
              <p:nvPr/>
            </p:nvSpPr>
            <p:spPr bwMode="ltGray">
              <a:xfrm flipH="1">
                <a:off x="2192" y="2926868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Freeform 16"/>
              <p:cNvSpPr>
                <a:spLocks/>
              </p:cNvSpPr>
              <p:nvPr/>
            </p:nvSpPr>
            <p:spPr bwMode="ltGray">
              <a:xfrm flipH="1">
                <a:off x="3288" y="2616817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Freeform 17"/>
              <p:cNvSpPr>
                <a:spLocks/>
              </p:cNvSpPr>
              <p:nvPr/>
            </p:nvSpPr>
            <p:spPr bwMode="ltGray">
              <a:xfrm flipH="1">
                <a:off x="13149" y="4970461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Freeform 18"/>
              <p:cNvSpPr>
                <a:spLocks/>
              </p:cNvSpPr>
              <p:nvPr/>
            </p:nvSpPr>
            <p:spPr bwMode="ltGray">
              <a:xfrm flipH="1">
                <a:off x="14245" y="4564004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Freeform 19"/>
              <p:cNvSpPr>
                <a:spLocks/>
              </p:cNvSpPr>
              <p:nvPr/>
            </p:nvSpPr>
            <p:spPr bwMode="ltGray">
              <a:xfrm flipH="1">
                <a:off x="2192" y="5672686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/>
              </p:cNvSpPr>
              <p:nvPr/>
            </p:nvSpPr>
            <p:spPr bwMode="ltGray">
              <a:xfrm rot="16200000" flipH="1">
                <a:off x="512729" y="5994798"/>
                <a:ext cx="346352" cy="1369616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Freeform 21"/>
              <p:cNvSpPr>
                <a:spLocks/>
              </p:cNvSpPr>
              <p:nvPr/>
            </p:nvSpPr>
            <p:spPr bwMode="ltGray">
              <a:xfrm flipH="1">
                <a:off x="2192" y="6204711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Freeform 22"/>
              <p:cNvSpPr>
                <a:spLocks/>
              </p:cNvSpPr>
              <p:nvPr/>
            </p:nvSpPr>
            <p:spPr bwMode="ltGray">
              <a:xfrm flipH="1">
                <a:off x="3288" y="5894661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" name="Freeform 23"/>
            <p:cNvSpPr>
              <a:spLocks/>
            </p:cNvSpPr>
            <p:nvPr/>
          </p:nvSpPr>
          <p:spPr bwMode="ltGray">
            <a:xfrm rot="16200000" flipH="1">
              <a:off x="-2995169" y="2977523"/>
              <a:ext cx="6867143" cy="902851"/>
            </a:xfrm>
            <a:custGeom>
              <a:avLst/>
              <a:gdLst>
                <a:gd name="T0" fmla="*/ 0 w 5762"/>
                <a:gd name="T1" fmla="*/ 196 h 385"/>
                <a:gd name="T2" fmla="*/ 5762 w 5762"/>
                <a:gd name="T3" fmla="*/ 188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9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24"/>
            <p:cNvSpPr>
              <a:spLocks/>
            </p:cNvSpPr>
            <p:nvPr/>
          </p:nvSpPr>
          <p:spPr bwMode="ltGray">
            <a:xfrm rot="16200000" flipH="1">
              <a:off x="-2170536" y="3221067"/>
              <a:ext cx="6865553" cy="414172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Placeholder 8"/>
          <p:cNvSpPr>
            <a:spLocks noGrp="1"/>
          </p:cNvSpPr>
          <p:nvPr userDrawn="1"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 userDrawn="1"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1484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68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753780" y="375411"/>
            <a:ext cx="10071027" cy="1608839"/>
          </a:xfrm>
        </p:spPr>
        <p:txBody>
          <a:bodyPr>
            <a:noAutofit/>
          </a:bodyPr>
          <a:lstStyle/>
          <a:p>
            <a:pPr algn="ctr"/>
            <a:r>
              <a:rPr lang="en-US" sz="8800" u="sng" dirty="0">
                <a:latin typeface="Calibri" panose="020F0502020204030204" pitchFamily="34" charset="0"/>
              </a:rPr>
              <a:t>Course 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A763A-849E-46B9-8AEE-24CEB780A7C9}"/>
              </a:ext>
            </a:extLst>
          </p:cNvPr>
          <p:cNvSpPr txBox="1"/>
          <p:nvPr/>
        </p:nvSpPr>
        <p:spPr>
          <a:xfrm>
            <a:off x="2112884" y="3407689"/>
            <a:ext cx="9099613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4800" dirty="0">
                <a:latin typeface="Abadi" panose="020B0604020202020204" pitchFamily="34" charset="0"/>
              </a:rPr>
              <a:t>Welcome to ENGL 3110</a:t>
            </a:r>
          </a:p>
        </p:txBody>
      </p:sp>
    </p:spTree>
    <p:extLst>
      <p:ext uri="{BB962C8B-B14F-4D97-AF65-F5344CB8AC3E}">
        <p14:creationId xmlns:p14="http://schemas.microsoft.com/office/powerpoint/2010/main" val="413777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3004D-02ED-16F3-3DA6-09E450390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370470-1E1D-F2A7-AAE1-9C9C86726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 fontScale="85000" lnSpcReduction="20000"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 Narrow" panose="020B0606020202030204" pitchFamily="34" charset="0"/>
              </a:rPr>
              <a:t>I don’t think we are ready for the exam.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dirty="0">
              <a:highlight>
                <a:srgbClr val="F2F2F2"/>
              </a:highlight>
              <a:latin typeface="Arial Narrow" panose="020B0606020202030204" pitchFamily="34" charset="0"/>
            </a:endParaRP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 Narrow" panose="020B0606020202030204" pitchFamily="34" charset="0"/>
              </a:rPr>
              <a:t>Exam pushed back one class day.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 Narrow" panose="020B0606020202030204" pitchFamily="34" charset="0"/>
              </a:rPr>
              <a:t>No Homework - Wednesday 10/15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 Narrow" panose="020B0606020202030204" pitchFamily="34" charset="0"/>
              </a:rPr>
              <a:t>Exam Study Guide - Monday 10/20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 Narrow" panose="020B0606020202030204" pitchFamily="34" charset="0"/>
              </a:rPr>
              <a:t>Exam Two – Wednesday 10/22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i="1" dirty="0">
              <a:highlight>
                <a:srgbClr val="F2F2F2"/>
              </a:highlight>
              <a:latin typeface="Arial Narrow" panose="020B0606020202030204" pitchFamily="34" charset="0"/>
            </a:endParaRP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 Narrow" panose="020B0606020202030204" pitchFamily="34" charset="0"/>
              </a:rPr>
              <a:t>Application Paper and Exam Three pushed back one week each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i="1" dirty="0">
              <a:highlight>
                <a:srgbClr val="F2F2F2"/>
              </a:highlight>
              <a:latin typeface="Arial Narrow" panose="020B0606020202030204" pitchFamily="34" charset="0"/>
            </a:endParaRP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 Narrow" panose="020B0606020202030204" pitchFamily="34" charset="0"/>
              </a:rPr>
              <a:t>Exam Four still last regular day of class (no class on finals week)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dirty="0">
              <a:highlight>
                <a:srgbClr val="F2F2F2"/>
              </a:highlight>
              <a:latin typeface="Arial" panose="020B0604020202020204" pitchFamily="34" charset="0"/>
            </a:endParaRP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dirty="0">
              <a:highlight>
                <a:srgbClr val="F2F2F2"/>
              </a:highlight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5D8287B-C06B-0FFB-D64A-1DB01658C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 Two</a:t>
            </a:r>
          </a:p>
        </p:txBody>
      </p:sp>
    </p:spTree>
    <p:extLst>
      <p:ext uri="{BB962C8B-B14F-4D97-AF65-F5344CB8AC3E}">
        <p14:creationId xmlns:p14="http://schemas.microsoft.com/office/powerpoint/2010/main" val="311890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AEEE9-41C3-8B2C-48C8-432A1FAD6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4E475C-7062-6575-4D85-8DD29BAEB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 fontScale="92500" lnSpcReduction="20000"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 Narrow" panose="020B0606020202030204" pitchFamily="34" charset="0"/>
              </a:rPr>
              <a:t>Wellness Check-In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dirty="0">
              <a:highlight>
                <a:srgbClr val="F2F2F2"/>
              </a:highlight>
              <a:latin typeface="Arial Narrow" panose="020B0606020202030204" pitchFamily="34" charset="0"/>
            </a:endParaRP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 Narrow" panose="020B0606020202030204" pitchFamily="34" charset="0"/>
              </a:rPr>
              <a:t>Have a Conversation with 3-4 of your Peers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 Narrow" panose="020B0606020202030204" pitchFamily="34" charset="0"/>
              </a:rPr>
              <a:t>What is going well this semester in school/life?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 Narrow" panose="020B0606020202030204" pitchFamily="34" charset="0"/>
              </a:rPr>
              <a:t>What is going poorly this semester in school/life?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 Narrow" panose="020B0606020202030204" pitchFamily="34" charset="0"/>
              </a:rPr>
              <a:t>What are you doing to take care of yourself/improve your overall wellness?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 Narrow" panose="020B0606020202030204" pitchFamily="34" charset="0"/>
              </a:rPr>
              <a:t>What could you begin doing/stop doing/change to take care of yourself more?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i="1" dirty="0">
              <a:highlight>
                <a:srgbClr val="F2F2F2"/>
              </a:highlight>
              <a:latin typeface="Arial Narrow" panose="020B0606020202030204" pitchFamily="34" charset="0"/>
            </a:endParaRP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 Narrow" panose="020B0606020202030204" pitchFamily="34" charset="0"/>
              </a:rPr>
              <a:t>Share one take-away with the class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dirty="0">
              <a:highlight>
                <a:srgbClr val="F2F2F2"/>
              </a:highlight>
              <a:latin typeface="Arial" panose="020B0604020202020204" pitchFamily="34" charset="0"/>
            </a:endParaRP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dirty="0">
              <a:highlight>
                <a:srgbClr val="F2F2F2"/>
              </a:highlight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0000D2-75BB-8B5E-9E16-10E6F882C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 Two</a:t>
            </a:r>
          </a:p>
        </p:txBody>
      </p:sp>
    </p:spTree>
    <p:extLst>
      <p:ext uri="{BB962C8B-B14F-4D97-AF65-F5344CB8AC3E}">
        <p14:creationId xmlns:p14="http://schemas.microsoft.com/office/powerpoint/2010/main" val="2444552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E6AF0-EFD2-49BE-EB09-77FC7F7B3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0229FD-7483-F62D-D677-E2F726CE1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Sentence Patterns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Identify, label, diagram, and create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Coordination and Subordination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Identify, edit, diagram, and create</a:t>
            </a:r>
          </a:p>
          <a:p>
            <a:pPr marL="1161288" lvl="2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" panose="020B0604020202020204" pitchFamily="34" charset="0"/>
              </a:rPr>
              <a:t>Simple, Compound, and Complex Sentences</a:t>
            </a:r>
          </a:p>
          <a:p>
            <a:pPr marL="1161288" lvl="2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" panose="020B0604020202020204" pitchFamily="34" charset="0"/>
              </a:rPr>
              <a:t>Coordinating Conjunctions and Subordinating Conjunctions</a:t>
            </a:r>
          </a:p>
          <a:p>
            <a:pPr marL="1161288" lvl="2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" panose="020B0604020202020204" pitchFamily="34" charset="0"/>
              </a:rPr>
              <a:t>Conjunctive Adverbs and Connecting Phrases</a:t>
            </a:r>
          </a:p>
          <a:p>
            <a:pPr marL="1161288" lvl="2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highlight>
                  <a:srgbClr val="F2F2F2"/>
                </a:highlight>
                <a:latin typeface="Arial" panose="020B0604020202020204" pitchFamily="34" charset="0"/>
              </a:rPr>
              <a:t>Coordinated Phrases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dirty="0">
              <a:highlight>
                <a:srgbClr val="F2F2F2"/>
              </a:highlight>
              <a:latin typeface="Arial" panose="020B0604020202020204" pitchFamily="34" charset="0"/>
            </a:endParaRP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dirty="0">
              <a:highlight>
                <a:srgbClr val="F2F2F2"/>
              </a:highlight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221D54-AAD3-CF70-E4FA-0ECB33EDC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 Two</a:t>
            </a:r>
          </a:p>
        </p:txBody>
      </p:sp>
    </p:spTree>
    <p:extLst>
      <p:ext uri="{BB962C8B-B14F-4D97-AF65-F5344CB8AC3E}">
        <p14:creationId xmlns:p14="http://schemas.microsoft.com/office/powerpoint/2010/main" val="152124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C2B29B32-28E2-868E-4733-EA181C60B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0996" y="1696957"/>
            <a:ext cx="4689701" cy="3268581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Phrases with a Conjunction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5CB045-E600-5B5E-B754-196A7C055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441" y="1696957"/>
            <a:ext cx="4942173" cy="326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537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3EA8-16FB-0EE6-B567-3FBA990B5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D9C4EE-83EC-145B-5E65-F99118E02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182880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Punctuation for PHRASES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No comma needed for two phrases of any kind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Bob and Jim run.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Bob ,Jim run and jump.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Bob and Jim throw balls and frisbees but chase cars and ducks.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Bob and Jim throw balls and frisbees but chase cars and ducks on Sundays and on holidays.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Bob and Jim throw balls and frisbees but chase cars and ducks on Sundays and Mondays and on holidays.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92CD27-933D-6265-B2D3-CA0006F6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9779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13A28-95AF-C1BB-E57A-0CCE91054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96F199-C664-8BAF-80F4-7DDFEBB1F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182880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Punctuation for PHRASES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Needs a comma when you have THREE Phrases (a list)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Bob, Jim, and Pam run.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Bob and Jim run, jump, and skip.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Bob throws balls, frisbees, and javelins.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Bob throws balls, drive cars, and chase ducks.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Bob chases ducks on Sundays, Mondays, and holidays.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FC62F8-AA42-1A6F-1EA9-0948ACC18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89560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7441-1CA7-081A-4DF6-20547FE8C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D9B4CC-97F0-1B8F-C2F5-6A3770F83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 fontScale="92500" lnSpcReduction="10000"/>
          </a:bodyPr>
          <a:lstStyle/>
          <a:p>
            <a:pPr marL="182880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Punctuation for CLAUSES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These rules change dramatically when you have clauses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Clauses are “sets” of subjects and verbs.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Clauses have a new “S” at the top.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Clauses for declarative sentences always have at least one subject and at least one verb.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Two Phrases: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Bob and Jim run and skip.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Two clauses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Bob runs, and Jim skips.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FB1CF2-114B-1363-216D-1B36C0F3C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14670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DC259-8AA2-E122-85A7-387E02517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EE9591EF-A164-EB37-2B55-490A173E3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0996" y="1696957"/>
            <a:ext cx="4689701" cy="326858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C83E761-EF6D-C235-9940-C3A90687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Phrases with a Conjunction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27D2BB-081B-A407-988C-DFC3EC96E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441" y="1696957"/>
            <a:ext cx="4942173" cy="326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16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Clauses with a Coordinating Conjunction</a:t>
            </a:r>
          </a:p>
        </p:txBody>
      </p:sp>
      <p:pic>
        <p:nvPicPr>
          <p:cNvPr id="7" name="Picture 6" descr="A diagram of a tree&#10;&#10;Description automatically generated">
            <a:extLst>
              <a:ext uri="{FF2B5EF4-FFF2-40B4-BE49-F238E27FC236}">
                <a16:creationId xmlns:a16="http://schemas.microsoft.com/office/drawing/2014/main" id="{9A7DD2A3-3720-6ECB-88C3-1B0150408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716" y="1611403"/>
            <a:ext cx="7050568" cy="46998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602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Clauses with a Subordinating Conjunction</a:t>
            </a:r>
          </a:p>
        </p:txBody>
      </p:sp>
      <p:pic>
        <p:nvPicPr>
          <p:cNvPr id="2" name="Picture 1" descr="A diagram of a structure&#10;&#10;Description automatically generated">
            <a:extLst>
              <a:ext uri="{FF2B5EF4-FFF2-40B4-BE49-F238E27FC236}">
                <a16:creationId xmlns:a16="http://schemas.microsoft.com/office/drawing/2014/main" id="{E1CBAEB1-5609-70C0-F9F5-784C1E072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997" y="1697355"/>
            <a:ext cx="5047018" cy="3302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diagram of different types of names&#10;&#10;Description automatically generated">
            <a:extLst>
              <a:ext uri="{FF2B5EF4-FFF2-40B4-BE49-F238E27FC236}">
                <a16:creationId xmlns:a16="http://schemas.microsoft.com/office/drawing/2014/main" id="{77CF3498-327A-AF4A-7F80-B3ED93C5C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831" y="1697355"/>
            <a:ext cx="5047018" cy="33029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578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D2597-2E6B-3363-835F-27D915DC5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CE8EF6-638B-DCB5-0BF3-7504B3C13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Clauses with a </a:t>
            </a:r>
            <a:r>
              <a:rPr lang="en-US"/>
              <a:t>Conjunctive Adverb</a:t>
            </a:r>
            <a:endParaRPr lang="en-US" dirty="0"/>
          </a:p>
        </p:txBody>
      </p:sp>
      <p:pic>
        <p:nvPicPr>
          <p:cNvPr id="6" name="Picture 5" descr="A diagram of a structure&#10;&#10;AI-generated content may be incorrect.">
            <a:extLst>
              <a:ext uri="{FF2B5EF4-FFF2-40B4-BE49-F238E27FC236}">
                <a16:creationId xmlns:a16="http://schemas.microsoft.com/office/drawing/2014/main" id="{AEC8B71B-6F00-42ED-A00E-A681CEE95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023" y="1602241"/>
            <a:ext cx="3237487" cy="3933145"/>
          </a:xfrm>
          <a:prstGeom prst="rect">
            <a:avLst/>
          </a:prstGeom>
        </p:spPr>
      </p:pic>
      <p:pic>
        <p:nvPicPr>
          <p:cNvPr id="10" name="Picture 9" descr="A diagram of a company's company&#10;&#10;AI-generated content may be incorrect.">
            <a:extLst>
              <a:ext uri="{FF2B5EF4-FFF2-40B4-BE49-F238E27FC236}">
                <a16:creationId xmlns:a16="http://schemas.microsoft.com/office/drawing/2014/main" id="{184BBC89-BEB9-2277-478D-B931172CC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715" y="1602241"/>
            <a:ext cx="4923120" cy="393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8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 fontScale="92500" lnSpcReduction="20000"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Sentence Connectors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i="0" dirty="0">
                <a:ea typeface="Calibri" panose="020F0502020204030204" pitchFamily="34" charset="0"/>
                <a:cs typeface="Times New Roman" panose="02020603050405020304" pitchFamily="18" charset="0"/>
              </a:rPr>
              <a:t>Coordinating Conjunctions (FANBOYS)</a:t>
            </a:r>
          </a:p>
          <a:p>
            <a:pPr marL="1428750" lvl="3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000" dirty="0">
                <a:ea typeface="Calibri" panose="020F0502020204030204" pitchFamily="34" charset="0"/>
                <a:cs typeface="Times New Roman" panose="02020603050405020304" pitchFamily="18" charset="0"/>
              </a:rPr>
              <a:t>I like ice cream</a:t>
            </a:r>
            <a:r>
              <a:rPr lang="en-US" sz="3000" u="sng" dirty="0"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US" sz="3000" dirty="0">
                <a:ea typeface="Calibri" panose="020F0502020204030204" pitchFamily="34" charset="0"/>
                <a:cs typeface="Times New Roman" panose="02020603050405020304" pitchFamily="18" charset="0"/>
              </a:rPr>
              <a:t>I like cake.</a:t>
            </a:r>
          </a:p>
          <a:p>
            <a:pPr marL="1428750" lvl="3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sz="3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i="0" dirty="0">
                <a:ea typeface="Calibri" panose="020F0502020204030204" pitchFamily="34" charset="0"/>
                <a:cs typeface="Times New Roman" panose="02020603050405020304" pitchFamily="18" charset="0"/>
              </a:rPr>
              <a:t>Subordinating Conjunctions (pass the flip test)</a:t>
            </a:r>
          </a:p>
          <a:p>
            <a:pPr marL="1428750" lvl="3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000" dirty="0">
                <a:ea typeface="Calibri" panose="020F0502020204030204" pitchFamily="34" charset="0"/>
                <a:cs typeface="Times New Roman" panose="02020603050405020304" pitchFamily="18" charset="0"/>
              </a:rPr>
              <a:t>I like ice cream </a:t>
            </a:r>
            <a:r>
              <a:rPr lang="en-US" sz="3000" u="sng" dirty="0"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en-US" sz="3000" dirty="0">
                <a:ea typeface="Calibri" panose="020F0502020204030204" pitchFamily="34" charset="0"/>
                <a:cs typeface="Times New Roman" panose="02020603050405020304" pitchFamily="18" charset="0"/>
              </a:rPr>
              <a:t> I eat cake.</a:t>
            </a:r>
          </a:p>
          <a:p>
            <a:pPr marL="1428750" lvl="3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000" u="sng" dirty="0"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en-US" sz="3000" dirty="0">
                <a:ea typeface="Calibri" panose="020F0502020204030204" pitchFamily="34" charset="0"/>
                <a:cs typeface="Times New Roman" panose="02020603050405020304" pitchFamily="18" charset="0"/>
              </a:rPr>
              <a:t> I eat cake</a:t>
            </a:r>
            <a:r>
              <a:rPr lang="en-US" sz="3000" u="sng" dirty="0"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3000" dirty="0">
                <a:ea typeface="Calibri" panose="020F0502020204030204" pitchFamily="34" charset="0"/>
                <a:cs typeface="Times New Roman" panose="02020603050405020304" pitchFamily="18" charset="0"/>
              </a:rPr>
              <a:t> I like ice cream.</a:t>
            </a:r>
          </a:p>
          <a:p>
            <a:pPr marL="914400" lvl="3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3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i="0" dirty="0">
                <a:ea typeface="Calibri" panose="020F0502020204030204" pitchFamily="34" charset="0"/>
                <a:cs typeface="Times New Roman" panose="02020603050405020304" pitchFamily="18" charset="0"/>
              </a:rPr>
              <a:t>Conjunctive Adverbs (However, Also)</a:t>
            </a:r>
          </a:p>
          <a:p>
            <a:pPr marL="1428750" lvl="3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000" dirty="0">
                <a:ea typeface="Calibri" panose="020F0502020204030204" pitchFamily="34" charset="0"/>
                <a:cs typeface="Times New Roman" panose="02020603050405020304" pitchFamily="18" charset="0"/>
              </a:rPr>
              <a:t>I like ice cream</a:t>
            </a:r>
            <a:r>
              <a:rPr lang="en-US" sz="3000" u="sng" dirty="0">
                <a:ea typeface="Calibri" panose="020F0502020204030204" pitchFamily="34" charset="0"/>
                <a:cs typeface="Times New Roman" panose="02020603050405020304" pitchFamily="18" charset="0"/>
              </a:rPr>
              <a:t>. Also, </a:t>
            </a:r>
            <a:r>
              <a:rPr lang="en-US" sz="3000" dirty="0">
                <a:ea typeface="Calibri" panose="020F0502020204030204" pitchFamily="34" charset="0"/>
                <a:cs typeface="Times New Roman" panose="02020603050405020304" pitchFamily="18" charset="0"/>
              </a:rPr>
              <a:t>I like cake.</a:t>
            </a:r>
          </a:p>
          <a:p>
            <a:pPr marL="1428750" lvl="3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sz="3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56813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BA424-AE34-63C0-1644-482D319A9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01D085-96DB-6461-324B-FB128B7D1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 fontScale="92500" lnSpcReduction="10000"/>
          </a:bodyPr>
          <a:lstStyle/>
          <a:p>
            <a:pPr marL="697230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u="sng" dirty="0">
                <a:ea typeface="Calibri" panose="020F0502020204030204" pitchFamily="34" charset="0"/>
                <a:cs typeface="Times New Roman" panose="02020603050405020304" pitchFamily="18" charset="0"/>
              </a:rPr>
              <a:t>Compound</a:t>
            </a:r>
            <a:r>
              <a:rPr lang="en-US" sz="2600" dirty="0">
                <a:ea typeface="Calibri" panose="020F0502020204030204" pitchFamily="34" charset="0"/>
                <a:cs typeface="Times New Roman" panose="02020603050405020304" pitchFamily="18" charset="0"/>
              </a:rPr>
              <a:t> Sentence</a:t>
            </a:r>
          </a:p>
          <a:p>
            <a:pPr marL="971550" lvl="1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i="0" dirty="0">
                <a:ea typeface="Calibri" panose="020F0502020204030204" pitchFamily="34" charset="0"/>
                <a:cs typeface="Times New Roman" panose="02020603050405020304" pitchFamily="18" charset="0"/>
              </a:rPr>
              <a:t>Coordinating Conjunctions (FANBOYS)</a:t>
            </a:r>
          </a:p>
          <a:p>
            <a:pPr marL="1218438" lvl="2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dirty="0">
                <a:ea typeface="Calibri" panose="020F0502020204030204" pitchFamily="34" charset="0"/>
                <a:cs typeface="Times New Roman" panose="02020603050405020304" pitchFamily="18" charset="0"/>
              </a:rPr>
              <a:t>I like ice cream</a:t>
            </a:r>
            <a:r>
              <a:rPr lang="en-US" sz="2600" u="sng" dirty="0"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US" sz="2600" dirty="0">
                <a:ea typeface="Calibri" panose="020F0502020204030204" pitchFamily="34" charset="0"/>
                <a:cs typeface="Times New Roman" panose="02020603050405020304" pitchFamily="18" charset="0"/>
              </a:rPr>
              <a:t>I like cake.</a:t>
            </a:r>
          </a:p>
          <a:p>
            <a:pPr marL="697230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u="sng" dirty="0">
                <a:ea typeface="Calibri" panose="020F0502020204030204" pitchFamily="34" charset="0"/>
                <a:cs typeface="Times New Roman" panose="02020603050405020304" pitchFamily="18" charset="0"/>
              </a:rPr>
              <a:t>Complex</a:t>
            </a:r>
            <a:r>
              <a:rPr lang="en-US" sz="2600" dirty="0">
                <a:ea typeface="Calibri" panose="020F0502020204030204" pitchFamily="34" charset="0"/>
                <a:cs typeface="Times New Roman" panose="02020603050405020304" pitchFamily="18" charset="0"/>
              </a:rPr>
              <a:t> Sentence</a:t>
            </a:r>
          </a:p>
          <a:p>
            <a:pPr marL="971550" lvl="1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i="0" dirty="0">
                <a:ea typeface="Calibri" panose="020F0502020204030204" pitchFamily="34" charset="0"/>
                <a:cs typeface="Times New Roman" panose="02020603050405020304" pitchFamily="18" charset="0"/>
              </a:rPr>
              <a:t>Subordinating Conjunctions (pass the flip test)</a:t>
            </a:r>
          </a:p>
          <a:p>
            <a:pPr marL="1218438" lvl="2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dirty="0">
                <a:ea typeface="Calibri" panose="020F0502020204030204" pitchFamily="34" charset="0"/>
                <a:cs typeface="Times New Roman" panose="02020603050405020304" pitchFamily="18" charset="0"/>
              </a:rPr>
              <a:t>I like ice cream </a:t>
            </a:r>
            <a:r>
              <a:rPr lang="en-US" sz="2600" u="sng" dirty="0"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en-US" sz="2600" dirty="0">
                <a:ea typeface="Calibri" panose="020F0502020204030204" pitchFamily="34" charset="0"/>
                <a:cs typeface="Times New Roman" panose="02020603050405020304" pitchFamily="18" charset="0"/>
              </a:rPr>
              <a:t> I eat cake.</a:t>
            </a:r>
          </a:p>
          <a:p>
            <a:pPr marL="1218438" lvl="2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u="sng" dirty="0"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en-US" sz="2600" dirty="0">
                <a:ea typeface="Calibri" panose="020F0502020204030204" pitchFamily="34" charset="0"/>
                <a:cs typeface="Times New Roman" panose="02020603050405020304" pitchFamily="18" charset="0"/>
              </a:rPr>
              <a:t> I eat cake</a:t>
            </a:r>
            <a:r>
              <a:rPr lang="en-US" sz="2600" u="sng" dirty="0"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2600" dirty="0">
                <a:ea typeface="Calibri" panose="020F0502020204030204" pitchFamily="34" charset="0"/>
                <a:cs typeface="Times New Roman" panose="02020603050405020304" pitchFamily="18" charset="0"/>
              </a:rPr>
              <a:t> I like ice cream.</a:t>
            </a:r>
          </a:p>
          <a:p>
            <a:pPr marL="697230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dirty="0">
                <a:ea typeface="Calibri" panose="020F0502020204030204" pitchFamily="34" charset="0"/>
                <a:cs typeface="Times New Roman" panose="02020603050405020304" pitchFamily="18" charset="0"/>
              </a:rPr>
              <a:t>Two </a:t>
            </a:r>
            <a:r>
              <a:rPr lang="en-US" sz="2600" u="sng" dirty="0">
                <a:ea typeface="Calibri" panose="020F0502020204030204" pitchFamily="34" charset="0"/>
                <a:cs typeface="Times New Roman" panose="02020603050405020304" pitchFamily="18" charset="0"/>
              </a:rPr>
              <a:t>Simple</a:t>
            </a:r>
            <a:r>
              <a:rPr lang="en-US" sz="2600" dirty="0">
                <a:ea typeface="Calibri" panose="020F0502020204030204" pitchFamily="34" charset="0"/>
                <a:cs typeface="Times New Roman" panose="02020603050405020304" pitchFamily="18" charset="0"/>
              </a:rPr>
              <a:t> Sentences</a:t>
            </a:r>
          </a:p>
          <a:p>
            <a:pPr marL="971550" lvl="1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i="0" dirty="0">
                <a:ea typeface="Calibri" panose="020F0502020204030204" pitchFamily="34" charset="0"/>
                <a:cs typeface="Times New Roman" panose="02020603050405020304" pitchFamily="18" charset="0"/>
              </a:rPr>
              <a:t>Conjunctive Adverbs (However, Also)</a:t>
            </a:r>
          </a:p>
          <a:p>
            <a:pPr marL="1218438" lvl="2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dirty="0">
                <a:ea typeface="Calibri" panose="020F0502020204030204" pitchFamily="34" charset="0"/>
                <a:cs typeface="Times New Roman" panose="02020603050405020304" pitchFamily="18" charset="0"/>
              </a:rPr>
              <a:t>I like ice cream</a:t>
            </a:r>
            <a:r>
              <a:rPr lang="en-US" sz="2600" u="sng" dirty="0">
                <a:ea typeface="Calibri" panose="020F0502020204030204" pitchFamily="34" charset="0"/>
                <a:cs typeface="Times New Roman" panose="02020603050405020304" pitchFamily="18" charset="0"/>
              </a:rPr>
              <a:t>. Also, </a:t>
            </a:r>
            <a:r>
              <a:rPr lang="en-US" sz="2600" dirty="0">
                <a:ea typeface="Calibri" panose="020F0502020204030204" pitchFamily="34" charset="0"/>
                <a:cs typeface="Times New Roman" panose="02020603050405020304" pitchFamily="18" charset="0"/>
              </a:rPr>
              <a:t>I like cake.</a:t>
            </a:r>
          </a:p>
          <a:p>
            <a:pPr marL="1428750" lvl="3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sz="3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C40169-1A3B-E846-6AC4-6C82E288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Sentence Types</a:t>
            </a:r>
          </a:p>
        </p:txBody>
      </p:sp>
    </p:spTree>
    <p:extLst>
      <p:ext uri="{BB962C8B-B14F-4D97-AF65-F5344CB8AC3E}">
        <p14:creationId xmlns:p14="http://schemas.microsoft.com/office/powerpoint/2010/main" val="729575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4AA91-6563-CEED-E8A6-3893E927A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20640B-44E6-D2EA-F5C4-CD7C40844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Review Handout</a:t>
            </a:r>
          </a:p>
          <a:p>
            <a:pPr marL="697230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Compare Homework with a Partner and Discuss</a:t>
            </a:r>
          </a:p>
          <a:p>
            <a:pPr marL="971550" lvl="1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Aim to work with someone new</a:t>
            </a:r>
          </a:p>
          <a:p>
            <a:pPr marL="697230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Discuss Homework Answers</a:t>
            </a:r>
          </a:p>
          <a:p>
            <a:pPr marL="1428750" lvl="3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sz="3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FBB908-8F98-B57E-76A3-4FE327BC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Coordination and Subordination</a:t>
            </a:r>
          </a:p>
        </p:txBody>
      </p:sp>
    </p:spTree>
    <p:extLst>
      <p:ext uri="{BB962C8B-B14F-4D97-AF65-F5344CB8AC3E}">
        <p14:creationId xmlns:p14="http://schemas.microsoft.com/office/powerpoint/2010/main" val="2205520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If you have questions or concerns, hang around to talk.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End of Class</a:t>
            </a:r>
          </a:p>
        </p:txBody>
      </p:sp>
    </p:spTree>
    <p:extLst>
      <p:ext uri="{BB962C8B-B14F-4D97-AF65-F5344CB8AC3E}">
        <p14:creationId xmlns:p14="http://schemas.microsoft.com/office/powerpoint/2010/main" val="5146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d's tie design template">
  <a:themeElements>
    <a:clrScheme name="Custom 7">
      <a:dk1>
        <a:sysClr val="windowText" lastClr="000000"/>
      </a:dk1>
      <a:lt1>
        <a:sysClr val="window" lastClr="FFFFFF"/>
      </a:lt1>
      <a:dk2>
        <a:srgbClr val="323232"/>
      </a:dk2>
      <a:lt2>
        <a:srgbClr val="FFFFCC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d's tie design template" id="{D38B957D-588F-4953-A2A4-8835E8F79C65}" vid="{09887BB5-A875-44C0-9AF9-8FE92BB7EC5A}"/>
    </a:ext>
  </a:extLst>
</a:theme>
</file>

<file path=ppt/theme/theme2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C979567-0D27-4E98-9101-139E4F27BE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Dad's tie design slides</Template>
  <TotalTime>0</TotalTime>
  <Words>586</Words>
  <Application>Microsoft Office PowerPoint</Application>
  <PresentationFormat>Widescreen</PresentationFormat>
  <Paragraphs>95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Abadi</vt:lpstr>
      <vt:lpstr>Arial</vt:lpstr>
      <vt:lpstr>Arial Narrow</vt:lpstr>
      <vt:lpstr>Calibri</vt:lpstr>
      <vt:lpstr>Century Gothic</vt:lpstr>
      <vt:lpstr>Palatino Linotype</vt:lpstr>
      <vt:lpstr>Verdana</vt:lpstr>
      <vt:lpstr>Wingdings 2</vt:lpstr>
      <vt:lpstr>Dad's tie design template</vt:lpstr>
      <vt:lpstr>Course Introduction</vt:lpstr>
      <vt:lpstr>Unit Two</vt:lpstr>
      <vt:lpstr>Unit Two</vt:lpstr>
      <vt:lpstr>Unit Two</vt:lpstr>
      <vt:lpstr>Two Phrases with a Conjunction</vt:lpstr>
      <vt:lpstr>Review</vt:lpstr>
      <vt:lpstr>Review</vt:lpstr>
      <vt:lpstr>Review</vt:lpstr>
      <vt:lpstr>Two Phrases with a Conjunction</vt:lpstr>
      <vt:lpstr>Two Clauses with a Coordinating Conjunction</vt:lpstr>
      <vt:lpstr>Two Clauses with a Subordinating Conjunction</vt:lpstr>
      <vt:lpstr>Two Clauses with a Conjunctive Adverb</vt:lpstr>
      <vt:lpstr>Review</vt:lpstr>
      <vt:lpstr>Sentence Types</vt:lpstr>
      <vt:lpstr>Coordination and Subordination</vt:lpstr>
      <vt:lpstr>End of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2016-07-22T17:40:32Z</dcterms:created>
  <dcterms:modified xsi:type="dcterms:W3CDTF">2025-10-13T21:49:14Z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TC034605139991</vt:lpwstr>
  </property>
</Properties>
</file>