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6" r:id="rId2"/>
  </p:sldMasterIdLst>
  <p:notesMasterIdLst>
    <p:notesMasterId r:id="rId27"/>
  </p:notesMasterIdLst>
  <p:handoutMasterIdLst>
    <p:handoutMasterId r:id="rId28"/>
  </p:handoutMasterIdLst>
  <p:sldIdLst>
    <p:sldId id="270" r:id="rId3"/>
    <p:sldId id="523" r:id="rId4"/>
    <p:sldId id="501" r:id="rId5"/>
    <p:sldId id="514" r:id="rId6"/>
    <p:sldId id="516" r:id="rId7"/>
    <p:sldId id="496" r:id="rId8"/>
    <p:sldId id="515" r:id="rId9"/>
    <p:sldId id="517" r:id="rId10"/>
    <p:sldId id="497" r:id="rId11"/>
    <p:sldId id="518" r:id="rId12"/>
    <p:sldId id="519" r:id="rId13"/>
    <p:sldId id="520" r:id="rId14"/>
    <p:sldId id="499" r:id="rId15"/>
    <p:sldId id="498" r:id="rId16"/>
    <p:sldId id="521" r:id="rId17"/>
    <p:sldId id="503" r:id="rId18"/>
    <p:sldId id="522" r:id="rId19"/>
    <p:sldId id="504" r:id="rId20"/>
    <p:sldId id="506" r:id="rId21"/>
    <p:sldId id="505" r:id="rId22"/>
    <p:sldId id="507" r:id="rId23"/>
    <p:sldId id="508" r:id="rId24"/>
    <p:sldId id="509" r:id="rId25"/>
    <p:sldId id="40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E8E8E8"/>
    <a:srgbClr val="D5ECFF"/>
    <a:srgbClr val="B9DFFF"/>
    <a:srgbClr val="97D0FF"/>
    <a:srgbClr val="C4E5FC"/>
    <a:srgbClr val="C6B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DD3C8C-DB32-49E0-9AF7-A60C63AC9BDA}" v="2" dt="2025-09-29T22:08:45.2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6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253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EF702-0714-4E08-A299-FB7CD6DD53D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0F021-7EF0-4BDC-ABAA-3F31888D2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8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835DD-85A7-4A1D-B5D6-4471BFC8E4FB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45845-826A-4014-B98A-97266F30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69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45845-826A-4014-B98A-97266F3057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38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040309"/>
          </a:xfrm>
          <a:solidFill>
            <a:srgbClr val="F3F3F3"/>
          </a:solidFill>
          <a:ln>
            <a:solidFill>
              <a:schemeClr val="tx1"/>
            </a:solidFill>
          </a:ln>
        </p:spPr>
        <p:txBody>
          <a:bodyPr tIns="91440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3200" b="1" u="none" kern="1200" spc="0" baseline="0">
                <a:latin typeface="Calibri" panose="020F050202020403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800" i="0" kern="1200" spc="0" baseline="0">
                <a:latin typeface="Calibri" panose="020F050202020403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400" i="1" kern="1200" spc="0" baseline="0">
                <a:latin typeface="Calibri" panose="020F0502020204030204" pitchFamily="3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5pPr>
          </a:lstStyle>
          <a:p>
            <a:pPr lvl="0" eaLnBrk="1" latinLnBrk="0" hangingPunct="1"/>
            <a:r>
              <a:rPr lang="en-US" dirty="0"/>
              <a:t>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60997" y="546793"/>
            <a:ext cx="10461669" cy="718441"/>
          </a:xfrm>
          <a:noFill/>
        </p:spPr>
        <p:txBody>
          <a:bodyPr>
            <a:noAutofit/>
          </a:bodyPr>
          <a:lstStyle>
            <a:lvl1pPr algn="ctr">
              <a:defRPr sz="3600" b="1" u="sng" baseline="0">
                <a:effectLst/>
                <a:latin typeface="Calibri" panose="020F0502020204030204" pitchFamily="34" charset="0"/>
              </a:defRPr>
            </a:lvl1pPr>
          </a:lstStyle>
          <a:p>
            <a:r>
              <a:rPr kumimoji="0" lang="en-US" dirty="0"/>
              <a:t>SLIDE TITLE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1545844" y="621403"/>
            <a:ext cx="8779256" cy="72479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Calibri" panose="020F0502020204030204" pitchFamily="34" charset="0"/>
                <a:ea typeface="+mj-ea"/>
                <a:cs typeface="+mj-cs"/>
              </a:defRPr>
            </a:lvl1pPr>
            <a:extLst/>
          </a:lstStyle>
          <a:p>
            <a:endParaRPr lang="en-US" sz="3200" b="1" dirty="0"/>
          </a:p>
        </p:txBody>
      </p:sp>
      <p:sp>
        <p:nvSpPr>
          <p:cNvPr id="11" name="Title 1"/>
          <p:cNvSpPr txBox="1">
            <a:spLocks/>
          </p:cNvSpPr>
          <p:nvPr userDrawn="1"/>
        </p:nvSpPr>
        <p:spPr>
          <a:xfrm>
            <a:off x="1545843" y="88897"/>
            <a:ext cx="10476823" cy="4515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algn="l" rtl="0" eaLnBrk="1" latinLnBrk="0" hangingPunct="1">
              <a:lnSpc>
                <a:spcPts val="4500"/>
              </a:lnSpc>
              <a:spcBef>
                <a:spcPct val="0"/>
              </a:spcBef>
              <a:buNone/>
              <a:defRPr kumimoji="0" sz="4000" b="1" kern="1200" cap="all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anose="020F0502020204030204" pitchFamily="34" charset="0"/>
              </a:rPr>
              <a:t>ENGL 3110 – Advanced Grammar</a:t>
            </a:r>
          </a:p>
        </p:txBody>
      </p:sp>
    </p:spTree>
    <p:extLst>
      <p:ext uri="{BB962C8B-B14F-4D97-AF65-F5344CB8AC3E}">
        <p14:creationId xmlns:p14="http://schemas.microsoft.com/office/powerpoint/2010/main" val="1865394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9BA0-A3F1-4AE0-A095-A691F325988D}" type="datetime1">
              <a:rPr lang="en-US" smtClean="0"/>
              <a:t>9/29/2025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910080" y="359898"/>
            <a:ext cx="98755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03323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1BA8-14CB-402F-AB5D-65EFB4CEE9BA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7856" y="1066800"/>
            <a:ext cx="85344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9644" y="2600325"/>
            <a:ext cx="10382612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812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792A-0B0D-4D75-99F7-2870465BBD14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162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  <p15:guide id="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14D2-C15B-4C78-A526-4D8666FA99F8}" type="datetime1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0490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  <p15:guide id="2" pos="75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1A27-4218-4094-BEAE-9A3589DB2B89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508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9AB3-3BFC-4457-B471-ADCDC73FC5EE}" type="datetime1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9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905000" y="2133601"/>
            <a:ext cx="95758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0674-BE8F-4CEA-9736-5FEE3AB227F1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905000" y="1406964"/>
            <a:ext cx="5516078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16778"/>
            <a:ext cx="5516078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983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953A3-A3BE-4323-8A5F-3F3FB07EB2DE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143004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marL="0" indent="0" algn="l" eaLnBrk="1" latinLnBrk="0" hangingPunct="1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600" y="4800600"/>
            <a:ext cx="58928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1076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DF06-9503-4BFC-9BDB-01518A2C34BB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5680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D803-E824-49BC-A33E-A6A786BEDB3D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74640"/>
            <a:ext cx="2438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356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3032-ACFF-440E-8C29-E047F0CC3352}" type="datetime1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1234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A93063ED-E45C-4ACA-BFCF-74D8FA5A001B}" type="datetime1">
              <a:rPr lang="en-US" smtClean="0"/>
              <a:t>9/29/2025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-13023" y="-5589"/>
            <a:ext cx="1482350" cy="6868109"/>
            <a:chOff x="-13023" y="-5589"/>
            <a:chExt cx="1482350" cy="6868109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20147" y="-5589"/>
              <a:ext cx="1397008" cy="6858000"/>
              <a:chOff x="1097" y="-4624"/>
              <a:chExt cx="1397008" cy="6857406"/>
            </a:xfrm>
          </p:grpSpPr>
          <p:sp>
            <p:nvSpPr>
              <p:cNvPr id="18" name="Freeform 4"/>
              <p:cNvSpPr>
                <a:spLocks/>
              </p:cNvSpPr>
              <p:nvPr/>
            </p:nvSpPr>
            <p:spPr bwMode="ltGray">
              <a:xfrm flipH="1">
                <a:off x="13149" y="-4624"/>
                <a:ext cx="1367425" cy="6837767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720 h 720"/>
                  <a:gd name="T4" fmla="*/ 1000 w 1000"/>
                  <a:gd name="T5" fmla="*/ 720 h 720"/>
                  <a:gd name="T6" fmla="*/ 1000 w 1000"/>
                  <a:gd name="T7" fmla="*/ 0 h 720"/>
                  <a:gd name="T8" fmla="*/ 0 w 1000"/>
                  <a:gd name="T9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Freeform 5"/>
              <p:cNvSpPr>
                <a:spLocks/>
              </p:cNvSpPr>
              <p:nvPr/>
            </p:nvSpPr>
            <p:spPr bwMode="ltGray">
              <a:xfrm flipH="1">
                <a:off x="13149" y="169261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Freeform 6"/>
              <p:cNvSpPr>
                <a:spLocks/>
              </p:cNvSpPr>
              <p:nvPr/>
            </p:nvSpPr>
            <p:spPr bwMode="ltGray">
              <a:xfrm flipH="1">
                <a:off x="14245" y="128616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Freeform 7"/>
              <p:cNvSpPr>
                <a:spLocks/>
              </p:cNvSpPr>
              <p:nvPr/>
            </p:nvSpPr>
            <p:spPr bwMode="ltGray">
              <a:xfrm flipH="1">
                <a:off x="13149" y="14891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Freeform 8"/>
              <p:cNvSpPr>
                <a:spLocks/>
              </p:cNvSpPr>
              <p:nvPr/>
            </p:nvSpPr>
            <p:spPr bwMode="ltGray">
              <a:xfrm flipH="1">
                <a:off x="14245" y="983847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/>
              </p:cNvSpPr>
              <p:nvPr/>
            </p:nvSpPr>
            <p:spPr bwMode="ltGray">
              <a:xfrm flipH="1">
                <a:off x="14245" y="679152"/>
                <a:ext cx="1367425" cy="430857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Freeform 10"/>
              <p:cNvSpPr>
                <a:spLocks/>
              </p:cNvSpPr>
              <p:nvPr/>
            </p:nvSpPr>
            <p:spPr bwMode="ltGray">
              <a:xfrm flipH="1">
                <a:off x="13149" y="371483"/>
                <a:ext cx="1384956" cy="37491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Freeform 11"/>
              <p:cNvSpPr>
                <a:spLocks/>
              </p:cNvSpPr>
              <p:nvPr/>
            </p:nvSpPr>
            <p:spPr bwMode="ltGray">
              <a:xfrm flipH="1">
                <a:off x="2192" y="393973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/>
              </p:cNvSpPr>
              <p:nvPr/>
            </p:nvSpPr>
            <p:spPr bwMode="ltGray">
              <a:xfrm flipH="1">
                <a:off x="3288" y="353328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/>
              </p:cNvSpPr>
              <p:nvPr/>
            </p:nvSpPr>
            <p:spPr bwMode="ltGray">
              <a:xfrm flipH="1">
                <a:off x="2192" y="239484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Freeform 14"/>
              <p:cNvSpPr>
                <a:spLocks/>
              </p:cNvSpPr>
              <p:nvPr/>
            </p:nvSpPr>
            <p:spPr bwMode="ltGray">
              <a:xfrm flipH="1">
                <a:off x="3288" y="3229776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/>
              </p:cNvSpPr>
              <p:nvPr/>
            </p:nvSpPr>
            <p:spPr bwMode="ltGray">
              <a:xfrm flipH="1">
                <a:off x="2192" y="2926868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Freeform 16"/>
              <p:cNvSpPr>
                <a:spLocks/>
              </p:cNvSpPr>
              <p:nvPr/>
            </p:nvSpPr>
            <p:spPr bwMode="ltGray">
              <a:xfrm flipH="1">
                <a:off x="3288" y="2616817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Freeform 17"/>
              <p:cNvSpPr>
                <a:spLocks/>
              </p:cNvSpPr>
              <p:nvPr/>
            </p:nvSpPr>
            <p:spPr bwMode="ltGray">
              <a:xfrm flipH="1">
                <a:off x="13149" y="4970461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Freeform 18"/>
              <p:cNvSpPr>
                <a:spLocks/>
              </p:cNvSpPr>
              <p:nvPr/>
            </p:nvSpPr>
            <p:spPr bwMode="ltGray">
              <a:xfrm flipH="1">
                <a:off x="14245" y="4564004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Freeform 19"/>
              <p:cNvSpPr>
                <a:spLocks/>
              </p:cNvSpPr>
              <p:nvPr/>
            </p:nvSpPr>
            <p:spPr bwMode="ltGray">
              <a:xfrm flipH="1">
                <a:off x="2192" y="5672686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/>
              </p:cNvSpPr>
              <p:nvPr/>
            </p:nvSpPr>
            <p:spPr bwMode="ltGray">
              <a:xfrm rot="16200000" flipH="1">
                <a:off x="512729" y="5994798"/>
                <a:ext cx="346352" cy="1369616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Freeform 21"/>
              <p:cNvSpPr>
                <a:spLocks/>
              </p:cNvSpPr>
              <p:nvPr/>
            </p:nvSpPr>
            <p:spPr bwMode="ltGray">
              <a:xfrm flipH="1">
                <a:off x="2192" y="6204711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Freeform 22"/>
              <p:cNvSpPr>
                <a:spLocks/>
              </p:cNvSpPr>
              <p:nvPr/>
            </p:nvSpPr>
            <p:spPr bwMode="ltGray">
              <a:xfrm flipH="1">
                <a:off x="3288" y="5894661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" name="Freeform 23"/>
            <p:cNvSpPr>
              <a:spLocks/>
            </p:cNvSpPr>
            <p:nvPr/>
          </p:nvSpPr>
          <p:spPr bwMode="ltGray">
            <a:xfrm rot="16200000" flipH="1">
              <a:off x="-2995169" y="2977523"/>
              <a:ext cx="6867143" cy="902851"/>
            </a:xfrm>
            <a:custGeom>
              <a:avLst/>
              <a:gdLst>
                <a:gd name="T0" fmla="*/ 0 w 5762"/>
                <a:gd name="T1" fmla="*/ 196 h 385"/>
                <a:gd name="T2" fmla="*/ 5762 w 5762"/>
                <a:gd name="T3" fmla="*/ 188 h 385"/>
                <a:gd name="T4" fmla="*/ 5762 w 5762"/>
                <a:gd name="T5" fmla="*/ 4 h 385"/>
                <a:gd name="T6" fmla="*/ 0 w 5762"/>
                <a:gd name="T7" fmla="*/ 0 h 385"/>
                <a:gd name="T8" fmla="*/ 0 w 5762"/>
                <a:gd name="T9" fmla="*/ 196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24"/>
            <p:cNvSpPr>
              <a:spLocks/>
            </p:cNvSpPr>
            <p:nvPr/>
          </p:nvSpPr>
          <p:spPr bwMode="ltGray">
            <a:xfrm rot="16200000" flipH="1">
              <a:off x="-2170536" y="3221067"/>
              <a:ext cx="6865553" cy="414172"/>
            </a:xfrm>
            <a:custGeom>
              <a:avLst/>
              <a:gdLst>
                <a:gd name="T0" fmla="*/ 0 w 5761"/>
                <a:gd name="T1" fmla="*/ 28 h 189"/>
                <a:gd name="T2" fmla="*/ 5761 w 5761"/>
                <a:gd name="T3" fmla="*/ 0 h 189"/>
                <a:gd name="T4" fmla="*/ 576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Text Placeholder 8"/>
          <p:cNvSpPr>
            <a:spLocks noGrp="1"/>
          </p:cNvSpPr>
          <p:nvPr userDrawn="1"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5" name="Title Placeholder 4"/>
          <p:cNvSpPr>
            <a:spLocks noGrp="1"/>
          </p:cNvSpPr>
          <p:nvPr userDrawn="1"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51484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7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68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753780" y="375411"/>
            <a:ext cx="10071027" cy="1608839"/>
          </a:xfrm>
        </p:spPr>
        <p:txBody>
          <a:bodyPr>
            <a:noAutofit/>
          </a:bodyPr>
          <a:lstStyle/>
          <a:p>
            <a:pPr algn="ctr"/>
            <a:r>
              <a:rPr lang="en-US" sz="8800" u="sng" dirty="0">
                <a:latin typeface="Calibri" panose="020F0502020204030204" pitchFamily="34" charset="0"/>
              </a:rPr>
              <a:t>Course 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FA763A-849E-46B9-8AEE-24CEB780A7C9}"/>
              </a:ext>
            </a:extLst>
          </p:cNvPr>
          <p:cNvSpPr txBox="1"/>
          <p:nvPr/>
        </p:nvSpPr>
        <p:spPr>
          <a:xfrm>
            <a:off x="2112884" y="3407689"/>
            <a:ext cx="9099613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4800" dirty="0">
                <a:latin typeface="Abadi" panose="020B0604020202020204" pitchFamily="34" charset="0"/>
              </a:rPr>
              <a:t>Welcome to ENGL 3110</a:t>
            </a:r>
          </a:p>
        </p:txBody>
      </p:sp>
    </p:spTree>
    <p:extLst>
      <p:ext uri="{BB962C8B-B14F-4D97-AF65-F5344CB8AC3E}">
        <p14:creationId xmlns:p14="http://schemas.microsoft.com/office/powerpoint/2010/main" val="413777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56964-CA11-BC98-3A11-55BFB870A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64658B-571C-2F6C-D10C-0D0C94C1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182880" indent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800" b="0" dirty="0">
                <a:highlight>
                  <a:srgbClr val="F2F2F2"/>
                </a:highlight>
                <a:latin typeface="Arial" panose="020B0604020202020204" pitchFamily="34" charset="0"/>
              </a:rPr>
              <a:t>Grade Breakdown</a:t>
            </a:r>
          </a:p>
          <a:p>
            <a:pPr marL="182880" indent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3800" b="0" dirty="0">
              <a:highlight>
                <a:srgbClr val="F2F2F2"/>
              </a:highlight>
              <a:latin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AE06DF-9D9C-A5B9-46B5-C5A565EED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Return Exams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0B25AB-FF56-A08C-BE3C-B7D51A9C95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604563"/>
              </p:ext>
            </p:extLst>
          </p:nvPr>
        </p:nvGraphicFramePr>
        <p:xfrm>
          <a:off x="1727200" y="2143760"/>
          <a:ext cx="9821334" cy="4530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067">
                  <a:extLst>
                    <a:ext uri="{9D8B030D-6E8A-4147-A177-3AD203B41FA5}">
                      <a16:colId xmlns:a16="http://schemas.microsoft.com/office/drawing/2014/main" val="2829867882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658908791"/>
                    </a:ext>
                  </a:extLst>
                </a:gridCol>
                <a:gridCol w="4504267">
                  <a:extLst>
                    <a:ext uri="{9D8B030D-6E8A-4147-A177-3AD203B41FA5}">
                      <a16:colId xmlns:a16="http://schemas.microsoft.com/office/drawing/2014/main" val="2923261282"/>
                    </a:ext>
                  </a:extLst>
                </a:gridCol>
              </a:tblGrid>
              <a:tr h="545253">
                <a:tc>
                  <a:txBody>
                    <a:bodyPr/>
                    <a:lstStyle/>
                    <a:p>
                      <a:endParaRPr lang="en-US" sz="22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7389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Abadi" panose="020B0604020104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Abadi" panose="020B0604020104020204" pitchFamily="34" charset="0"/>
                        </a:rPr>
                        <a:t>110/100 - Perfect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Abadi" panose="020B0604020104020204" pitchFamily="34" charset="0"/>
                        </a:rPr>
                        <a:t>2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571878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Abadi" panose="020B0604020104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Abadi" panose="020B0604020104020204" pitchFamily="34" charset="0"/>
                        </a:rPr>
                        <a:t>106 to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Abadi" panose="020B0604020104020204" pitchFamily="34" charset="0"/>
                        </a:rPr>
                        <a:t>7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56143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Abadi" panose="020B0604020104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Abadi" panose="020B0604020104020204" pitchFamily="34" charset="0"/>
                        </a:rPr>
                        <a:t>99 to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Abadi" panose="020B0604020104020204" pitchFamily="34" charset="0"/>
                        </a:rPr>
                        <a:t>5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2872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Abadi" panose="020B0604020104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Abadi" panose="020B0604020104020204" pitchFamily="34" charset="0"/>
                        </a:rPr>
                        <a:t>89 to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Abadi" panose="020B0604020104020204" pitchFamily="34" charset="0"/>
                        </a:rPr>
                        <a:t>3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9133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Abadi" panose="020B060402010402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Abadi" panose="020B0604020104020204" pitchFamily="34" charset="0"/>
                        </a:rPr>
                        <a:t>79 to 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Abadi" panose="020B0604020104020204" pitchFamily="34" charset="0"/>
                        </a:rPr>
                        <a:t>1 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84291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Abadi" panose="020B0604020104020204" pitchFamily="34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Abadi" panose="020B0604020104020204" pitchFamily="34" charset="0"/>
                        </a:rPr>
                        <a:t>59 to 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Abadi" panose="020B0604020104020204" pitchFamily="34" charset="0"/>
                        </a:rPr>
                        <a:t>1 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967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361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 fontScale="92500"/>
          </a:bodyPr>
          <a:lstStyle/>
          <a:p>
            <a:pPr marL="182880" indent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800" b="0" dirty="0">
                <a:highlight>
                  <a:srgbClr val="F2F2F2"/>
                </a:highlight>
                <a:latin typeface="Arial" panose="020B0604020202020204" pitchFamily="34" charset="0"/>
              </a:rPr>
              <a:t>Good Steps to ID Sentence Patterns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Identify the Subject Headword and Predicate Headword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Identify all the Phrases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Work through the patterns in this order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Is it a Copular Be? – has a “be” verb and 1 complement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Is it a Linking Verb? – can replace main verb with “be” and 1 complement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Is it Intransitive? – has no objects or complements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Is it Transitive? – has ONE object 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Is it Ditransitive? – has TWO objects or 1 object and 1 complement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Homework Re-View</a:t>
            </a:r>
          </a:p>
        </p:txBody>
      </p:sp>
    </p:spTree>
    <p:extLst>
      <p:ext uri="{BB962C8B-B14F-4D97-AF65-F5344CB8AC3E}">
        <p14:creationId xmlns:p14="http://schemas.microsoft.com/office/powerpoint/2010/main" val="3833031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67A59-A25E-48C0-5A17-FC3E4EA61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8C5732-470C-A665-27A9-A3141F6D1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 fontScale="92500" lnSpcReduction="20000"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Extremely Important for Unit Two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Will Feel Better with Practice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Today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Copular “Be”  - subject complement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Linking Verbs – subject complement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Intransitive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Transitive – </a:t>
            </a:r>
            <a:r>
              <a:rPr lang="en-US" b="0">
                <a:ea typeface="Calibri" panose="020F0502020204030204" pitchFamily="34" charset="0"/>
                <a:cs typeface="Times New Roman" panose="02020603050405020304" pitchFamily="18" charset="0"/>
              </a:rPr>
              <a:t>direct object</a:t>
            </a: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Wednesday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Ditransitive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Optional Adverbials (separate handout)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A6B115-7728-C536-2F43-B605F2515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Sentence Patterns Handout</a:t>
            </a:r>
          </a:p>
        </p:txBody>
      </p:sp>
    </p:spTree>
    <p:extLst>
      <p:ext uri="{BB962C8B-B14F-4D97-AF65-F5344CB8AC3E}">
        <p14:creationId xmlns:p14="http://schemas.microsoft.com/office/powerpoint/2010/main" val="2897057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09FB5-16CB-70A2-D9AF-D1DE9BB8C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F864B2-FD82-8B6E-DD0C-C0870F5A3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 fontScale="85000" lnSpcReduction="20000"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Quick Note on Terminology: “Transitive”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Many linguists will only identify three types of sentences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Intransitive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Transitive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Ditransitive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They consider “copular be” and “linking verbs” as KINDS of Transitive sentences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For us, “Transitive” will always mean “has a direct object”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083905F-38AC-E182-9E28-EFDC74A25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Sentence Patterns Handout</a:t>
            </a:r>
          </a:p>
        </p:txBody>
      </p:sp>
    </p:spTree>
    <p:extLst>
      <p:ext uri="{BB962C8B-B14F-4D97-AF65-F5344CB8AC3E}">
        <p14:creationId xmlns:p14="http://schemas.microsoft.com/office/powerpoint/2010/main" val="1519344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Everything we have diagrammed so far is Intransitive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No Complements, Direct Objects, or Indirect Objects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Still Infinitely Generative and can be long!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Can add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adjectivals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and determiners to the noun phrase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Can add adverb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ials, modals, and aux verbs to the verb </a:t>
            </a: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phrase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Can add adverbials to modify the sentence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</a:t>
            </a:r>
            <a:r>
              <a:rPr lang="en-US" b="0" dirty="0"/>
              <a:t>transitive Sentence</a:t>
            </a:r>
          </a:p>
        </p:txBody>
      </p:sp>
    </p:spTree>
    <p:extLst>
      <p:ext uri="{BB962C8B-B14F-4D97-AF65-F5344CB8AC3E}">
        <p14:creationId xmlns:p14="http://schemas.microsoft.com/office/powerpoint/2010/main" val="452732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BF680-C6A3-F913-D89E-28E2E900B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095090-E49F-83B2-A495-E2AA6C257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 fontScale="92500" lnSpcReduction="10000"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All forms of BE (is, are, was, were, be, being, been)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We will see new stuff in Unit Three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In Unit Two anything with these 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words is Copular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“Copular” is the broader term for all languages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“Be” is the English copular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Has a “Subject Complement”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The book calls some of these “Adverbials” but we will call them all just “Subject Complements”</a:t>
            </a: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495A29B-07B2-0C2D-B41F-D80EB4E9B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Copular “Be”</a:t>
            </a:r>
          </a:p>
        </p:txBody>
      </p:sp>
    </p:spTree>
    <p:extLst>
      <p:ext uri="{BB962C8B-B14F-4D97-AF65-F5344CB8AC3E}">
        <p14:creationId xmlns:p14="http://schemas.microsoft.com/office/powerpoint/2010/main" val="4101419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89D16-F4B6-40DB-D6E4-2CB7B9D7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9D3730-923D-2F7F-D64C-E4773F1D9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 fontScale="92500" lnSpcReduction="10000"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All forms of BE (am, is, are, was, were, be, being, been)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We will see new stuff in Unit Three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In Unit Two anything with these 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words is Copular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“Copular” is the broader term for all languages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“Be” is the English copular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Has a “Subject Complement”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The book calls some of these “Adverbials” but we will call them all just “Subject Complements”</a:t>
            </a: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E8D1B1D-558C-5AC2-47F7-1BFA0583D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Copular “Be”</a:t>
            </a:r>
          </a:p>
        </p:txBody>
      </p:sp>
    </p:spTree>
    <p:extLst>
      <p:ext uri="{BB962C8B-B14F-4D97-AF65-F5344CB8AC3E}">
        <p14:creationId xmlns:p14="http://schemas.microsoft.com/office/powerpoint/2010/main" val="352346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Copular “Be” Sentence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778B46C-C32E-6E76-4E13-256403B01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466" y="1653619"/>
            <a:ext cx="3094739" cy="4166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0C593A7-76C7-A9D9-4CFE-F7C7688AA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063" y="1653619"/>
            <a:ext cx="3360737" cy="4050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11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8A08-03E1-F9DF-88E5-C01787D6A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925B6C-37BD-12E5-A249-C409AE7BA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Copular “Be” Sentence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9E47E9E-CB19-2733-545A-E4A6B7F99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997" y="1265234"/>
            <a:ext cx="5594546" cy="4398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5CEC32-7B2A-961D-4A42-52608713965D}"/>
              </a:ext>
            </a:extLst>
          </p:cNvPr>
          <p:cNvSpPr txBox="1"/>
          <p:nvPr/>
        </p:nvSpPr>
        <p:spPr>
          <a:xfrm>
            <a:off x="7557104" y="1417825"/>
            <a:ext cx="4064000" cy="409342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2600" dirty="0">
                <a:latin typeface="Abadi" panose="020B0604020104020204" pitchFamily="34" charset="0"/>
              </a:rPr>
              <a:t>Textbook will call “in the house” and “Adverbial”</a:t>
            </a:r>
          </a:p>
          <a:p>
            <a:endParaRPr lang="en-US" sz="2600" dirty="0">
              <a:latin typeface="Abadi" panose="020B0604020104020204" pitchFamily="34" charset="0"/>
            </a:endParaRPr>
          </a:p>
          <a:p>
            <a:endParaRPr lang="en-US" sz="2600" dirty="0">
              <a:latin typeface="Abadi" panose="020B0604020104020204" pitchFamily="34" charset="0"/>
            </a:endParaRPr>
          </a:p>
          <a:p>
            <a:endParaRPr lang="en-US" sz="2600" dirty="0">
              <a:latin typeface="Abadi" panose="020B0604020104020204" pitchFamily="34" charset="0"/>
            </a:endParaRPr>
          </a:p>
          <a:p>
            <a:r>
              <a:rPr lang="en-US" sz="2600" dirty="0">
                <a:latin typeface="Abadi" panose="020B0604020104020204" pitchFamily="34" charset="0"/>
              </a:rPr>
              <a:t>We will just call it a Subject Complement</a:t>
            </a:r>
          </a:p>
          <a:p>
            <a:endParaRPr lang="en-US" sz="2600" dirty="0">
              <a:latin typeface="Abadi" panose="020B0604020104020204" pitchFamily="34" charset="0"/>
            </a:endParaRPr>
          </a:p>
          <a:p>
            <a:endParaRPr lang="en-US" sz="2600" dirty="0">
              <a:latin typeface="Abadi" panose="020B0604020104020204" pitchFamily="34" charset="0"/>
            </a:endParaRPr>
          </a:p>
          <a:p>
            <a:endParaRPr lang="en-US" sz="26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374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F432F-0788-27BB-14E8-AAE7CB3D3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4EE338-AEB9-BBC4-5D17-259DE50C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Linking Verb Sentence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BEC79E4-04BC-BFF9-AD26-AAF129CF7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434" y="1653618"/>
            <a:ext cx="3516892" cy="3832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21A3E268-8780-073C-0DD1-3478B3FA5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997" y="1919984"/>
            <a:ext cx="4012489" cy="3669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3520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FC7AC-E53D-9FB3-5B75-E79D36F7E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E9D039-E8C8-755D-95FE-7EED9C194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Linking Verb Sentence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8EBF2E-569A-7519-5D9A-9E8F3E690CED}"/>
              </a:ext>
            </a:extLst>
          </p:cNvPr>
          <p:cNvSpPr txBox="1"/>
          <p:nvPr/>
        </p:nvSpPr>
        <p:spPr>
          <a:xfrm>
            <a:off x="7024914" y="1550540"/>
            <a:ext cx="4596190" cy="409342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2600" dirty="0">
                <a:latin typeface="Abadi" panose="020B0604020104020204" pitchFamily="34" charset="0"/>
              </a:rPr>
              <a:t>Textbook doesn’t even cover these [PPs with linking verbs]</a:t>
            </a:r>
          </a:p>
          <a:p>
            <a:endParaRPr lang="en-US" sz="2600" dirty="0">
              <a:latin typeface="Abadi" panose="020B0604020104020204" pitchFamily="34" charset="0"/>
            </a:endParaRPr>
          </a:p>
          <a:p>
            <a:endParaRPr lang="en-US" sz="2600" dirty="0">
              <a:latin typeface="Abadi" panose="020B0604020104020204" pitchFamily="34" charset="0"/>
            </a:endParaRPr>
          </a:p>
          <a:p>
            <a:endParaRPr lang="en-US" sz="2600" dirty="0">
              <a:latin typeface="Abadi" panose="020B0604020104020204" pitchFamily="34" charset="0"/>
            </a:endParaRPr>
          </a:p>
          <a:p>
            <a:r>
              <a:rPr lang="en-US" sz="2600" dirty="0">
                <a:latin typeface="Abadi" panose="020B0604020104020204" pitchFamily="34" charset="0"/>
              </a:rPr>
              <a:t>We will just call this a Subject Complement too.</a:t>
            </a:r>
          </a:p>
          <a:p>
            <a:endParaRPr lang="en-US" sz="2600" dirty="0">
              <a:latin typeface="Abadi" panose="020B0604020104020204" pitchFamily="34" charset="0"/>
            </a:endParaRPr>
          </a:p>
          <a:p>
            <a:endParaRPr lang="en-US" sz="2600" dirty="0">
              <a:latin typeface="Abadi" panose="020B0604020104020204" pitchFamily="34" charset="0"/>
            </a:endParaRPr>
          </a:p>
          <a:p>
            <a:endParaRPr lang="en-US" sz="2600" dirty="0">
              <a:latin typeface="Abadi" panose="020B060402010402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4C918CF-0F8A-F523-17A5-B82091D45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996" y="1362075"/>
            <a:ext cx="5085957" cy="4414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2645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You have to rely on meaning sometimes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Intransitive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		     </a:t>
            </a: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		     Linking Verb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Linking Verb Sentence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104BC5-4159-3754-4F09-774E5948F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115" y="2754845"/>
            <a:ext cx="3545114" cy="36985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7BB22C-ACF2-BE32-430A-DBA9586CD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078" y="2754845"/>
            <a:ext cx="4022340" cy="369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200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800" b="0" dirty="0">
                <a:ea typeface="Calibri" panose="020F0502020204030204" pitchFamily="34" charset="0"/>
                <a:cs typeface="Times New Roman" panose="02020603050405020304" pitchFamily="18" charset="0"/>
              </a:rPr>
              <a:t>If it has a “Loose” NP after the verb, its Transitive or Ditransitive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By “Loose” I mean – not inside a PP</a:t>
            </a:r>
          </a:p>
          <a:p>
            <a:pPr marL="457200" lvl="1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Intransitive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		                             </a:t>
            </a: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Transitive		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Intransitive Sentence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A511DD-C085-098E-76B2-746E5EDEE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587" y="3109239"/>
            <a:ext cx="2744544" cy="32019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3CD3E6-267E-ACAB-9696-42841D581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441" y="3109239"/>
            <a:ext cx="2921611" cy="320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97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8643D-1CAF-A53B-C1F6-B65C86BF3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C79D9F-25F7-64A5-A622-EACBDC3EC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66020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Remind me to take Questions after we look at the Answers!</a:t>
            </a:r>
          </a:p>
          <a:p>
            <a:pPr marL="457200" lvl="1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88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i="1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0F602EC-E583-2827-8564-6BE65D7DF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Homework Review</a:t>
            </a:r>
          </a:p>
        </p:txBody>
      </p:sp>
    </p:spTree>
    <p:extLst>
      <p:ext uri="{BB962C8B-B14F-4D97-AF65-F5344CB8AC3E}">
        <p14:creationId xmlns:p14="http://schemas.microsoft.com/office/powerpoint/2010/main" val="3461304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66020"/>
          </a:xfrm>
        </p:spPr>
        <p:txBody>
          <a:bodyPr>
            <a:normAutofit/>
          </a:bodyPr>
          <a:lstStyle/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The next slides contain four sentences each.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All four sentences are the SAME pattern.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Guess which pattern each slide is &amp; try to ID the parts.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i="1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Pattern ID Practice</a:t>
            </a:r>
          </a:p>
        </p:txBody>
      </p:sp>
    </p:spTree>
    <p:extLst>
      <p:ext uri="{BB962C8B-B14F-4D97-AF65-F5344CB8AC3E}">
        <p14:creationId xmlns:p14="http://schemas.microsoft.com/office/powerpoint/2010/main" val="282003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C9776-16BA-E124-6B1F-9C5FC3110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CB68E1-091D-E204-989B-841690A91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66020"/>
          </a:xfrm>
        </p:spPr>
        <p:txBody>
          <a:bodyPr>
            <a:normAutofit/>
          </a:bodyPr>
          <a:lstStyle/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The big bird on my roof screams every day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That classless fool never pays on time.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The AC adaptor does not fit in this port.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Steve sleeps well in his big waterbed.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i="1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FBCC1E-E26F-F428-749B-E90BF7F8C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Pattern ID Practice</a:t>
            </a:r>
          </a:p>
        </p:txBody>
      </p:sp>
    </p:spTree>
    <p:extLst>
      <p:ext uri="{BB962C8B-B14F-4D97-AF65-F5344CB8AC3E}">
        <p14:creationId xmlns:p14="http://schemas.microsoft.com/office/powerpoint/2010/main" val="438052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66020"/>
          </a:xfrm>
        </p:spPr>
        <p:txBody>
          <a:bodyPr>
            <a:normAutofit/>
          </a:bodyPr>
          <a:lstStyle/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Todd and his mother </a:t>
            </a: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are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not on speaking terms right now.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No, it </a:t>
            </a: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was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n’t.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 have </a:t>
            </a: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in a rush all semester.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Our test </a:t>
            </a: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very soon.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i="1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Pattern ID Practice</a:t>
            </a:r>
          </a:p>
        </p:txBody>
      </p:sp>
    </p:spTree>
    <p:extLst>
      <p:ext uri="{BB962C8B-B14F-4D97-AF65-F5344CB8AC3E}">
        <p14:creationId xmlns:p14="http://schemas.microsoft.com/office/powerpoint/2010/main" val="185907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66020"/>
          </a:xfrm>
        </p:spPr>
        <p:txBody>
          <a:bodyPr>
            <a:normAutofit/>
          </a:bodyPr>
          <a:lstStyle/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Tom’s new roommate seems sketchy.</a:t>
            </a:r>
            <a:b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It doesn’t appear so.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That clue smells fishy to me.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I looked like a fool last night.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i="1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Pattern ID Practice</a:t>
            </a:r>
          </a:p>
        </p:txBody>
      </p:sp>
    </p:spTree>
    <p:extLst>
      <p:ext uri="{BB962C8B-B14F-4D97-AF65-F5344CB8AC3E}">
        <p14:creationId xmlns:p14="http://schemas.microsoft.com/office/powerpoint/2010/main" val="3300082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66020"/>
          </a:xfrm>
        </p:spPr>
        <p:txBody>
          <a:bodyPr>
            <a:normAutofit/>
          </a:bodyPr>
          <a:lstStyle/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I was not bald last month!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Dogs are the best pets.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Cats have been human companions for millennia.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I’m happy for you.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i="1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Pattern ID Practice</a:t>
            </a:r>
          </a:p>
        </p:txBody>
      </p:sp>
    </p:spTree>
    <p:extLst>
      <p:ext uri="{BB962C8B-B14F-4D97-AF65-F5344CB8AC3E}">
        <p14:creationId xmlns:p14="http://schemas.microsoft.com/office/powerpoint/2010/main" val="3115744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66020"/>
          </a:xfrm>
        </p:spPr>
        <p:txBody>
          <a:bodyPr>
            <a:normAutofit/>
          </a:bodyPr>
          <a:lstStyle/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That guy over there ate all the food.</a:t>
            </a:r>
            <a:b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It found me!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Steve’s band played a killer set last night.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Next Wednesday, we will all take a test in class.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i="1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Pattern ID Practice</a:t>
            </a:r>
          </a:p>
        </p:txBody>
      </p:sp>
    </p:spTree>
    <p:extLst>
      <p:ext uri="{BB962C8B-B14F-4D97-AF65-F5344CB8AC3E}">
        <p14:creationId xmlns:p14="http://schemas.microsoft.com/office/powerpoint/2010/main" val="354218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66020"/>
          </a:xfrm>
        </p:spPr>
        <p:txBody>
          <a:bodyPr>
            <a:normAutofit/>
          </a:bodyPr>
          <a:lstStyle/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Dave gave Buster a big old smooch on the cheek.</a:t>
            </a:r>
            <a:b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Steve’s band played Janet a love song.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That gives me an idea.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Next Wednesday, I </a:t>
            </a: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will bring 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my grandmother a basket of fruit.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i="1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Pattern ID Practice</a:t>
            </a:r>
          </a:p>
        </p:txBody>
      </p:sp>
    </p:spTree>
    <p:extLst>
      <p:ext uri="{BB962C8B-B14F-4D97-AF65-F5344CB8AC3E}">
        <p14:creationId xmlns:p14="http://schemas.microsoft.com/office/powerpoint/2010/main" val="404767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66020"/>
          </a:xfrm>
        </p:spPr>
        <p:txBody>
          <a:bodyPr>
            <a:normAutofit/>
          </a:bodyPr>
          <a:lstStyle/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The Queen anointed him Sir Dingle of Dangle.</a:t>
            </a:r>
            <a:b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The law of the land deems that a serious crime.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 considered Jim’s text too thirsty by far.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Steve named his band “Rage Against the Caffeine.”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i="1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Pattern ID Practice</a:t>
            </a:r>
          </a:p>
        </p:txBody>
      </p:sp>
    </p:spTree>
    <p:extLst>
      <p:ext uri="{BB962C8B-B14F-4D97-AF65-F5344CB8AC3E}">
        <p14:creationId xmlns:p14="http://schemas.microsoft.com/office/powerpoint/2010/main" val="871531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If you have questions or concerns, hang around to talk.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End of Class</a:t>
            </a:r>
          </a:p>
        </p:txBody>
      </p:sp>
    </p:spTree>
    <p:extLst>
      <p:ext uri="{BB962C8B-B14F-4D97-AF65-F5344CB8AC3E}">
        <p14:creationId xmlns:p14="http://schemas.microsoft.com/office/powerpoint/2010/main" val="51460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d's tie design template">
  <a:themeElements>
    <a:clrScheme name="Custom 7">
      <a:dk1>
        <a:sysClr val="windowText" lastClr="000000"/>
      </a:dk1>
      <a:lt1>
        <a:sysClr val="window" lastClr="FFFFFF"/>
      </a:lt1>
      <a:dk2>
        <a:srgbClr val="323232"/>
      </a:dk2>
      <a:lt2>
        <a:srgbClr val="FFFFCC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Dad's tie design template" id="{D38B957D-588F-4953-A2A4-8835E8F79C65}" vid="{09887BB5-A875-44C0-9AF9-8FE92BB7EC5A}"/>
    </a:ext>
  </a:extLst>
</a:theme>
</file>

<file path=ppt/theme/theme2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C979567-0D27-4E98-9101-139E4F27BE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Dad's tie design slides</Template>
  <TotalTime>0</TotalTime>
  <Words>897</Words>
  <Application>Microsoft Office PowerPoint</Application>
  <PresentationFormat>Widescreen</PresentationFormat>
  <Paragraphs>180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Abadi</vt:lpstr>
      <vt:lpstr>Arial</vt:lpstr>
      <vt:lpstr>Calibri</vt:lpstr>
      <vt:lpstr>Century Gothic</vt:lpstr>
      <vt:lpstr>Palatino Linotype</vt:lpstr>
      <vt:lpstr>Verdana</vt:lpstr>
      <vt:lpstr>Wingdings 2</vt:lpstr>
      <vt:lpstr>Dad's tie design template</vt:lpstr>
      <vt:lpstr>Course Introduction</vt:lpstr>
      <vt:lpstr>Return Exams</vt:lpstr>
      <vt:lpstr>Homework Re-View</vt:lpstr>
      <vt:lpstr>Sentence Patterns Handout</vt:lpstr>
      <vt:lpstr>Sentence Patterns Handout</vt:lpstr>
      <vt:lpstr>Intransitive Sentence</vt:lpstr>
      <vt:lpstr>Copular “Be”</vt:lpstr>
      <vt:lpstr>Copular “Be”</vt:lpstr>
      <vt:lpstr>Copular “Be” Sentence</vt:lpstr>
      <vt:lpstr>Copular “Be” Sentence</vt:lpstr>
      <vt:lpstr>Linking Verb Sentence</vt:lpstr>
      <vt:lpstr>Linking Verb Sentence</vt:lpstr>
      <vt:lpstr>Linking Verb Sentence</vt:lpstr>
      <vt:lpstr>Intransitive Sentence</vt:lpstr>
      <vt:lpstr>Homework Review</vt:lpstr>
      <vt:lpstr>Pattern ID Practice</vt:lpstr>
      <vt:lpstr>Pattern ID Practice</vt:lpstr>
      <vt:lpstr>Pattern ID Practice</vt:lpstr>
      <vt:lpstr>Pattern ID Practice</vt:lpstr>
      <vt:lpstr>Pattern ID Practice</vt:lpstr>
      <vt:lpstr>Pattern ID Practice</vt:lpstr>
      <vt:lpstr>Pattern ID Practice</vt:lpstr>
      <vt:lpstr>Pattern ID Practice</vt:lpstr>
      <vt:lpstr>End of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2016-07-22T17:40:32Z</dcterms:created>
  <dcterms:modified xsi:type="dcterms:W3CDTF">2025-09-29T22:16:10Z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TC034605139991</vt:lpwstr>
  </property>
</Properties>
</file>