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saveSubsetFonts="1">
  <p:sldMasterIdLst>
    <p:sldMasterId id="2147483696" r:id="rId2"/>
  </p:sldMasterIdLst>
  <p:notesMasterIdLst>
    <p:notesMasterId r:id="rId17"/>
  </p:notesMasterIdLst>
  <p:handoutMasterIdLst>
    <p:handoutMasterId r:id="rId18"/>
  </p:handoutMasterIdLst>
  <p:sldIdLst>
    <p:sldId id="270" r:id="rId3"/>
    <p:sldId id="397" r:id="rId4"/>
    <p:sldId id="400" r:id="rId5"/>
    <p:sldId id="435" r:id="rId6"/>
    <p:sldId id="436" r:id="rId7"/>
    <p:sldId id="438" r:id="rId8"/>
    <p:sldId id="439" r:id="rId9"/>
    <p:sldId id="455" r:id="rId10"/>
    <p:sldId id="459" r:id="rId11"/>
    <p:sldId id="458" r:id="rId12"/>
    <p:sldId id="456" r:id="rId13"/>
    <p:sldId id="442" r:id="rId14"/>
    <p:sldId id="457" r:id="rId15"/>
    <p:sldId id="405" r:id="rId16"/>
  </p:sldIdLst>
  <p:sldSz cx="12192000" cy="6858000"/>
  <p:notesSz cx="6858000" cy="9144000"/>
  <p:embeddedFontLst>
    <p:embeddedFont>
      <p:font typeface="Abadi" panose="020B0604020104020204" pitchFamily="34" charset="0"/>
      <p:regular r:id="rId19"/>
    </p:embeddedFont>
    <p:embeddedFont>
      <p:font typeface="Century Gothic" panose="020B0502020202020204" pitchFamily="34" charset="0"/>
      <p:regular r:id="rId20"/>
      <p:bold r:id="rId21"/>
      <p:italic r:id="rId22"/>
      <p:boldItalic r:id="rId23"/>
    </p:embeddedFont>
    <p:embeddedFont>
      <p:font typeface="Palatino Linotype" panose="02040502050505030304" pitchFamily="18" charset="0"/>
      <p:regular r:id="rId24"/>
      <p:bold r:id="rId25"/>
      <p:italic r:id="rId26"/>
      <p:boldItalic r:id="rId27"/>
    </p:embeddedFont>
    <p:embeddedFont>
      <p:font typeface="Verdana" panose="020B0604030504040204" pitchFamily="34" charset="0"/>
      <p:regular r:id="rId28"/>
      <p:bold r:id="rId29"/>
      <p:italic r:id="rId30"/>
      <p:boldItalic r:id="rId31"/>
    </p:embeddedFont>
    <p:embeddedFont>
      <p:font typeface="Wingdings 2" panose="05020102010507070707" pitchFamily="18" charset="2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E8E8E8"/>
    <a:srgbClr val="D5ECFF"/>
    <a:srgbClr val="B9DFFF"/>
    <a:srgbClr val="97D0FF"/>
    <a:srgbClr val="C4E5FC"/>
    <a:srgbClr val="C6BD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8F45DC-5497-4512-B07D-002307A77068}" v="18" dt="2025-01-20T01:41:31.976"/>
    <p1510:client id="{28026130-88F6-4038-BD05-B3F0F85625B7}" v="1" dt="2025-01-20T18:06:23.9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573" y="3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253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7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EF702-0714-4E08-A299-FB7CD6DD53DC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0F021-7EF0-4BDC-ABAA-3F31888D2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8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835DD-85A7-4A1D-B5D6-4471BFC8E4FB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45845-826A-4014-B98A-97266F305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69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45845-826A-4014-B98A-97266F3057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38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040309"/>
          </a:xfrm>
          <a:solidFill>
            <a:srgbClr val="F3F3F3"/>
          </a:solidFill>
          <a:ln>
            <a:solidFill>
              <a:schemeClr val="tx1"/>
            </a:solidFill>
          </a:ln>
        </p:spPr>
        <p:txBody>
          <a:bodyPr tIns="91440"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3200" b="1" u="none" kern="1200" spc="0" baseline="0">
                <a:latin typeface="Calibri" panose="020F050202020403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800" i="0" kern="1200" spc="0" baseline="0">
                <a:latin typeface="Calibri" panose="020F050202020403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400" i="1" kern="1200" spc="0" baseline="0">
                <a:latin typeface="Calibri" panose="020F0502020204030204" pitchFamily="3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200" i="1" kern="1200" spc="0" baseline="0">
                <a:latin typeface="Calibri" panose="020F0502020204030204" pitchFamily="3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200" i="1" kern="1200" spc="0" baseline="0">
                <a:latin typeface="Calibri" panose="020F0502020204030204" pitchFamily="34" charset="0"/>
              </a:defRPr>
            </a:lvl5pPr>
          </a:lstStyle>
          <a:p>
            <a:pPr lvl="0" eaLnBrk="1" latinLnBrk="0" hangingPunct="1"/>
            <a:r>
              <a:rPr lang="en-US" dirty="0"/>
              <a:t>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60997" y="546793"/>
            <a:ext cx="10461669" cy="718441"/>
          </a:xfrm>
          <a:noFill/>
        </p:spPr>
        <p:txBody>
          <a:bodyPr>
            <a:noAutofit/>
          </a:bodyPr>
          <a:lstStyle>
            <a:lvl1pPr algn="ctr">
              <a:defRPr sz="3600" b="1" u="sng" baseline="0">
                <a:effectLst/>
                <a:latin typeface="Calibri" panose="020F0502020204030204" pitchFamily="34" charset="0"/>
              </a:defRPr>
            </a:lvl1pPr>
          </a:lstStyle>
          <a:p>
            <a:r>
              <a:rPr kumimoji="0" lang="en-US" dirty="0"/>
              <a:t>SLIDE TITLE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1545844" y="621403"/>
            <a:ext cx="8779256" cy="72479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Calibri" panose="020F0502020204030204" pitchFamily="34" charset="0"/>
                <a:ea typeface="+mj-ea"/>
                <a:cs typeface="+mj-cs"/>
              </a:defRPr>
            </a:lvl1pPr>
            <a:extLst/>
          </a:lstStyle>
          <a:p>
            <a:endParaRPr lang="en-US" sz="3200" b="1" dirty="0"/>
          </a:p>
        </p:txBody>
      </p:sp>
      <p:sp>
        <p:nvSpPr>
          <p:cNvPr id="11" name="Title 1"/>
          <p:cNvSpPr txBox="1">
            <a:spLocks/>
          </p:cNvSpPr>
          <p:nvPr userDrawn="1"/>
        </p:nvSpPr>
        <p:spPr>
          <a:xfrm>
            <a:off x="1545843" y="88897"/>
            <a:ext cx="10476823" cy="4515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algn="l" rtl="0" eaLnBrk="1" latinLnBrk="0" hangingPunct="1">
              <a:lnSpc>
                <a:spcPts val="4500"/>
              </a:lnSpc>
              <a:spcBef>
                <a:spcPct val="0"/>
              </a:spcBef>
              <a:buNone/>
              <a:defRPr kumimoji="0" sz="4000" b="1" kern="1200" cap="all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anose="020F0502020204030204" pitchFamily="34" charset="0"/>
              </a:rPr>
              <a:t>ENGL 3110 – Advanced Grammar</a:t>
            </a:r>
          </a:p>
        </p:txBody>
      </p:sp>
    </p:spTree>
    <p:extLst>
      <p:ext uri="{BB962C8B-B14F-4D97-AF65-F5344CB8AC3E}">
        <p14:creationId xmlns:p14="http://schemas.microsoft.com/office/powerpoint/2010/main" val="1865394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9BA0-A3F1-4AE0-A095-A691F325988D}" type="datetime1">
              <a:rPr lang="en-US" smtClean="0"/>
              <a:t>1/20/2025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910080" y="1850064"/>
            <a:ext cx="987552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910080" y="359898"/>
            <a:ext cx="987552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03323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1BA8-14CB-402F-AB5D-65EFB4CEE9BA}" type="datetime1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7856" y="1066800"/>
            <a:ext cx="85344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9644" y="2600325"/>
            <a:ext cx="10382612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812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792A-0B0D-4D75-99F7-2870465BBD14}" type="datetime1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478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414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162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  <p15:guide id="2" pos="1200" userDrawn="1">
          <p15:clr>
            <a:srgbClr val="FBAE40"/>
          </p15:clr>
        </p15:guide>
        <p15:guide id="3" pos="7512" userDrawn="1">
          <p15:clr>
            <a:srgbClr val="FBAE40"/>
          </p15:clr>
        </p15:guide>
        <p15:guide id="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14D2-C15B-4C78-A526-4D8666FA99F8}" type="datetime1">
              <a:rPr lang="en-US" smtClean="0"/>
              <a:t>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51548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051548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908975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8975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0490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1200" userDrawn="1">
          <p15:clr>
            <a:srgbClr val="FBAE40"/>
          </p15:clr>
        </p15:guide>
        <p15:guide id="2" pos="751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1A27-4218-4094-BEAE-9A3589DB2B89}" type="datetime1">
              <a:rPr lang="en-US" smtClean="0"/>
              <a:t>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508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9AB3-3BFC-4457-B471-ADCDC73FC5EE}" type="datetime1">
              <a:rPr lang="en-US" smtClean="0"/>
              <a:t>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9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905000" y="2133601"/>
            <a:ext cx="95758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00674-BE8F-4CEA-9736-5FEE3AB227F1}" type="datetime1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905000" y="1406964"/>
            <a:ext cx="5516078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16778"/>
            <a:ext cx="5516078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9833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120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953A3-A3BE-4323-8A5F-3F3FB07EB2DE}" type="datetime1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16000" y="1066800"/>
            <a:ext cx="6096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143004"/>
            <a:ext cx="58928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marL="0" indent="0" algn="l" eaLnBrk="1" latinLnBrk="0" hangingPunct="1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528967" y="954341"/>
            <a:ext cx="9144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6671556" y="936786"/>
            <a:ext cx="865632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7600" y="4800600"/>
            <a:ext cx="58928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9195" y="1066800"/>
            <a:ext cx="36576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1076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DF06-9503-4BFC-9BDB-01518A2C34BB}" type="datetime1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5680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D803-E824-49BC-A33E-A6A786BEDB3D}" type="datetime1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274640"/>
            <a:ext cx="2438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356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3032-ACFF-440E-8C29-E047F0CC3352}" type="datetime1">
              <a:rPr lang="en-US" smtClean="0"/>
              <a:t>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51548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051548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908975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8975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1234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200" userDrawn="1">
          <p15:clr>
            <a:srgbClr val="FBAE40"/>
          </p15:clr>
        </p15:guide>
        <p15:guide id="3" pos="751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A93063ED-E45C-4ACA-BFCF-74D8FA5A001B}" type="datetime1">
              <a:rPr lang="en-US" smtClean="0"/>
              <a:t>1/20/2025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tx2"/>
                </a:solidFill>
                <a:effectLst/>
              </a:defRPr>
            </a:lvl1pPr>
            <a:extLst/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tx2"/>
                </a:solidFill>
                <a:effectLst/>
              </a:defRPr>
            </a:lvl1pPr>
            <a:extLst/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-13023" y="-5589"/>
            <a:ext cx="1482350" cy="6868109"/>
            <a:chOff x="-13023" y="-5589"/>
            <a:chExt cx="1482350" cy="6868109"/>
          </a:xfrm>
        </p:grpSpPr>
        <p:grpSp>
          <p:nvGrpSpPr>
            <p:cNvPr id="6" name="Group 5"/>
            <p:cNvGrpSpPr/>
            <p:nvPr userDrawn="1"/>
          </p:nvGrpSpPr>
          <p:grpSpPr>
            <a:xfrm>
              <a:off x="20147" y="-5589"/>
              <a:ext cx="1397008" cy="6858000"/>
              <a:chOff x="1097" y="-4624"/>
              <a:chExt cx="1397008" cy="6857406"/>
            </a:xfrm>
          </p:grpSpPr>
          <p:sp>
            <p:nvSpPr>
              <p:cNvPr id="18" name="Freeform 4"/>
              <p:cNvSpPr>
                <a:spLocks/>
              </p:cNvSpPr>
              <p:nvPr/>
            </p:nvSpPr>
            <p:spPr bwMode="ltGray">
              <a:xfrm flipH="1">
                <a:off x="13149" y="-4624"/>
                <a:ext cx="1367425" cy="6837767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720 h 720"/>
                  <a:gd name="T4" fmla="*/ 1000 w 1000"/>
                  <a:gd name="T5" fmla="*/ 720 h 720"/>
                  <a:gd name="T6" fmla="*/ 1000 w 1000"/>
                  <a:gd name="T7" fmla="*/ 0 h 720"/>
                  <a:gd name="T8" fmla="*/ 0 w 1000"/>
                  <a:gd name="T9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Freeform 5"/>
              <p:cNvSpPr>
                <a:spLocks/>
              </p:cNvSpPr>
              <p:nvPr/>
            </p:nvSpPr>
            <p:spPr bwMode="ltGray">
              <a:xfrm flipH="1">
                <a:off x="13149" y="1692618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Freeform 6"/>
              <p:cNvSpPr>
                <a:spLocks/>
              </p:cNvSpPr>
              <p:nvPr/>
            </p:nvSpPr>
            <p:spPr bwMode="ltGray">
              <a:xfrm flipH="1">
                <a:off x="14245" y="1286160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Freeform 7"/>
              <p:cNvSpPr>
                <a:spLocks/>
              </p:cNvSpPr>
              <p:nvPr/>
            </p:nvSpPr>
            <p:spPr bwMode="ltGray">
              <a:xfrm flipH="1">
                <a:off x="13149" y="148913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Freeform 8"/>
              <p:cNvSpPr>
                <a:spLocks/>
              </p:cNvSpPr>
              <p:nvPr/>
            </p:nvSpPr>
            <p:spPr bwMode="ltGray">
              <a:xfrm flipH="1">
                <a:off x="14245" y="983847"/>
                <a:ext cx="1367425" cy="3499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/>
              </p:cNvSpPr>
              <p:nvPr/>
            </p:nvSpPr>
            <p:spPr bwMode="ltGray">
              <a:xfrm flipH="1">
                <a:off x="14245" y="679152"/>
                <a:ext cx="1367425" cy="430857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Freeform 10"/>
              <p:cNvSpPr>
                <a:spLocks/>
              </p:cNvSpPr>
              <p:nvPr/>
            </p:nvSpPr>
            <p:spPr bwMode="ltGray">
              <a:xfrm flipH="1">
                <a:off x="13149" y="371483"/>
                <a:ext cx="1384956" cy="37491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Freeform 11"/>
              <p:cNvSpPr>
                <a:spLocks/>
              </p:cNvSpPr>
              <p:nvPr/>
            </p:nvSpPr>
            <p:spPr bwMode="ltGray">
              <a:xfrm flipH="1">
                <a:off x="2192" y="3939738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/>
              </p:cNvSpPr>
              <p:nvPr/>
            </p:nvSpPr>
            <p:spPr bwMode="ltGray">
              <a:xfrm flipH="1">
                <a:off x="3288" y="3533280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/>
              </p:cNvSpPr>
              <p:nvPr/>
            </p:nvSpPr>
            <p:spPr bwMode="ltGray">
              <a:xfrm flipH="1">
                <a:off x="2192" y="2394843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Freeform 14"/>
              <p:cNvSpPr>
                <a:spLocks/>
              </p:cNvSpPr>
              <p:nvPr/>
            </p:nvSpPr>
            <p:spPr bwMode="ltGray">
              <a:xfrm flipH="1">
                <a:off x="3288" y="3229776"/>
                <a:ext cx="1367425" cy="3499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/>
              </p:cNvSpPr>
              <p:nvPr/>
            </p:nvSpPr>
            <p:spPr bwMode="ltGray">
              <a:xfrm flipH="1">
                <a:off x="2192" y="2926868"/>
                <a:ext cx="1367425" cy="429666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Freeform 16"/>
              <p:cNvSpPr>
                <a:spLocks/>
              </p:cNvSpPr>
              <p:nvPr/>
            </p:nvSpPr>
            <p:spPr bwMode="ltGray">
              <a:xfrm flipH="1">
                <a:off x="3288" y="2616817"/>
                <a:ext cx="1384956" cy="37610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Freeform 17"/>
              <p:cNvSpPr>
                <a:spLocks/>
              </p:cNvSpPr>
              <p:nvPr/>
            </p:nvSpPr>
            <p:spPr bwMode="ltGray">
              <a:xfrm flipH="1">
                <a:off x="13149" y="4970461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Freeform 18"/>
              <p:cNvSpPr>
                <a:spLocks/>
              </p:cNvSpPr>
              <p:nvPr/>
            </p:nvSpPr>
            <p:spPr bwMode="ltGray">
              <a:xfrm flipH="1">
                <a:off x="14245" y="4564004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Freeform 19"/>
              <p:cNvSpPr>
                <a:spLocks/>
              </p:cNvSpPr>
              <p:nvPr/>
            </p:nvSpPr>
            <p:spPr bwMode="ltGray">
              <a:xfrm flipH="1">
                <a:off x="2192" y="5672686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/>
              </p:cNvSpPr>
              <p:nvPr/>
            </p:nvSpPr>
            <p:spPr bwMode="ltGray">
              <a:xfrm rot="16200000" flipH="1">
                <a:off x="512729" y="5994798"/>
                <a:ext cx="346352" cy="1369616"/>
              </a:xfrm>
              <a:custGeom>
                <a:avLst/>
                <a:gdLst>
                  <a:gd name="T0" fmla="*/ 0 w 291"/>
                  <a:gd name="T1" fmla="*/ 624 h 625"/>
                  <a:gd name="T2" fmla="*/ 291 w 291"/>
                  <a:gd name="T3" fmla="*/ 625 h 625"/>
                  <a:gd name="T4" fmla="*/ 291 w 291"/>
                  <a:gd name="T5" fmla="*/ 6 h 625"/>
                  <a:gd name="T6" fmla="*/ 0 w 291"/>
                  <a:gd name="T7" fmla="*/ 0 h 625"/>
                  <a:gd name="T8" fmla="*/ 0 w 291"/>
                  <a:gd name="T9" fmla="*/ 624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Freeform 21"/>
              <p:cNvSpPr>
                <a:spLocks/>
              </p:cNvSpPr>
              <p:nvPr/>
            </p:nvSpPr>
            <p:spPr bwMode="ltGray">
              <a:xfrm flipH="1">
                <a:off x="2192" y="6204711"/>
                <a:ext cx="1367425" cy="429666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Freeform 22"/>
              <p:cNvSpPr>
                <a:spLocks/>
              </p:cNvSpPr>
              <p:nvPr/>
            </p:nvSpPr>
            <p:spPr bwMode="ltGray">
              <a:xfrm flipH="1">
                <a:off x="3288" y="5894661"/>
                <a:ext cx="1384956" cy="37610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" name="Freeform 23"/>
            <p:cNvSpPr>
              <a:spLocks/>
            </p:cNvSpPr>
            <p:nvPr/>
          </p:nvSpPr>
          <p:spPr bwMode="ltGray">
            <a:xfrm rot="16200000" flipH="1">
              <a:off x="-2995169" y="2977523"/>
              <a:ext cx="6867143" cy="902851"/>
            </a:xfrm>
            <a:custGeom>
              <a:avLst/>
              <a:gdLst>
                <a:gd name="T0" fmla="*/ 0 w 5762"/>
                <a:gd name="T1" fmla="*/ 196 h 385"/>
                <a:gd name="T2" fmla="*/ 5762 w 5762"/>
                <a:gd name="T3" fmla="*/ 188 h 385"/>
                <a:gd name="T4" fmla="*/ 5762 w 5762"/>
                <a:gd name="T5" fmla="*/ 4 h 385"/>
                <a:gd name="T6" fmla="*/ 0 w 5762"/>
                <a:gd name="T7" fmla="*/ 0 h 385"/>
                <a:gd name="T8" fmla="*/ 0 w 5762"/>
                <a:gd name="T9" fmla="*/ 196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Freeform 24"/>
            <p:cNvSpPr>
              <a:spLocks/>
            </p:cNvSpPr>
            <p:nvPr/>
          </p:nvSpPr>
          <p:spPr bwMode="ltGray">
            <a:xfrm rot="16200000" flipH="1">
              <a:off x="-2170536" y="3221067"/>
              <a:ext cx="6865553" cy="414172"/>
            </a:xfrm>
            <a:custGeom>
              <a:avLst/>
              <a:gdLst>
                <a:gd name="T0" fmla="*/ 0 w 5761"/>
                <a:gd name="T1" fmla="*/ 28 h 189"/>
                <a:gd name="T2" fmla="*/ 5761 w 5761"/>
                <a:gd name="T3" fmla="*/ 0 h 189"/>
                <a:gd name="T4" fmla="*/ 5761 w 5761"/>
                <a:gd name="T5" fmla="*/ 189 h 189"/>
                <a:gd name="T6" fmla="*/ 1 w 5761"/>
                <a:gd name="T7" fmla="*/ 189 h 189"/>
                <a:gd name="T8" fmla="*/ 0 w 5761"/>
                <a:gd name="T9" fmla="*/ 28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Text Placeholder 8"/>
          <p:cNvSpPr>
            <a:spLocks noGrp="1"/>
          </p:cNvSpPr>
          <p:nvPr userDrawn="1"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5" name="Title Placeholder 4"/>
          <p:cNvSpPr>
            <a:spLocks noGrp="1"/>
          </p:cNvSpPr>
          <p:nvPr userDrawn="1"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51484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7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68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berlitz.com/blog/english-prepositions-place-time-location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753780" y="375411"/>
            <a:ext cx="10071027" cy="1608839"/>
          </a:xfrm>
        </p:spPr>
        <p:txBody>
          <a:bodyPr>
            <a:noAutofit/>
          </a:bodyPr>
          <a:lstStyle/>
          <a:p>
            <a:pPr algn="ctr"/>
            <a:r>
              <a:rPr lang="en-US" sz="8800" u="sng" dirty="0">
                <a:latin typeface="Calibri" panose="020F0502020204030204" pitchFamily="34" charset="0"/>
              </a:rPr>
              <a:t>Course 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FA763A-849E-46B9-8AEE-24CEB780A7C9}"/>
              </a:ext>
            </a:extLst>
          </p:cNvPr>
          <p:cNvSpPr txBox="1"/>
          <p:nvPr/>
        </p:nvSpPr>
        <p:spPr>
          <a:xfrm>
            <a:off x="2112884" y="3407689"/>
            <a:ext cx="9099613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4800" dirty="0">
                <a:latin typeface="Abadi" panose="020B0604020202020204" pitchFamily="34" charset="0"/>
              </a:rPr>
              <a:t>Welcome to ENGL 3110</a:t>
            </a:r>
          </a:p>
        </p:txBody>
      </p:sp>
    </p:spTree>
    <p:extLst>
      <p:ext uri="{BB962C8B-B14F-4D97-AF65-F5344CB8AC3E}">
        <p14:creationId xmlns:p14="http://schemas.microsoft.com/office/powerpoint/2010/main" val="413777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Core Elements of all Sentences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Noun (head of a noun phrase)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Verb (head of a verb phrase)</a:t>
            </a: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Open-Class Modifiers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Adjectives (head of an adjective phrase) 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odify nouns or words acting as nouns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Adverbs (head of an adverb phrase)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modify verbs, adjectives, 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other adverbs</a:t>
            </a:r>
            <a:r>
              <a:rPr lang="en-US">
                <a:ea typeface="Calibri" panose="020F0502020204030204" pitchFamily="34" charset="0"/>
                <a:cs typeface="Times New Roman" panose="02020603050405020304" pitchFamily="18" charset="0"/>
              </a:rPr>
              <a:t>, or </a:t>
            </a:r>
            <a:r>
              <a:rPr lang="en-US" b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whole sentences</a:t>
            </a:r>
            <a:endParaRPr lang="en-US" b="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1654078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Diagrams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2C2B43C-2CEF-6986-AA0A-F0D008373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996" y="1265234"/>
            <a:ext cx="1890416" cy="2171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64380ED-31C3-01DB-9B7E-0510E7B6F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5530" y="2086379"/>
            <a:ext cx="3820366" cy="2971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2310299-6C9B-26AC-11B7-85B43E761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314" y="3429001"/>
            <a:ext cx="4307473" cy="2882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2427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Nouns and Noun Phrases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Nouns can….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Usually become plural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Usually be replaced by a pronoun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Usually be modified by a determiner (a, an, the)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Noun Phrases can be…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Subjects: </a:t>
            </a:r>
            <a:r>
              <a:rPr lang="en-US" b="0" u="sng" dirty="0">
                <a:ea typeface="Calibri" panose="020F0502020204030204" pitchFamily="34" charset="0"/>
                <a:cs typeface="Times New Roman" panose="02020603050405020304" pitchFamily="18" charset="0"/>
              </a:rPr>
              <a:t>Pettiness</a:t>
            </a: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 is a grave sin.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Objects: I gave </a:t>
            </a:r>
            <a:r>
              <a:rPr lang="en-US" b="0" u="sng" dirty="0">
                <a:ea typeface="Calibri" panose="020F0502020204030204" pitchFamily="34" charset="0"/>
                <a:cs typeface="Times New Roman" panose="02020603050405020304" pitchFamily="18" charset="0"/>
              </a:rPr>
              <a:t>a high-five</a:t>
            </a: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en-US" b="0" u="sng" dirty="0">
                <a:ea typeface="Calibri" panose="020F0502020204030204" pitchFamily="34" charset="0"/>
                <a:cs typeface="Times New Roman" panose="02020603050405020304" pitchFamily="18" charset="0"/>
              </a:rPr>
              <a:t>my nurse</a:t>
            </a: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Complements: John is </a:t>
            </a:r>
            <a:r>
              <a:rPr lang="en-US" b="0" u="sng" dirty="0">
                <a:ea typeface="Calibri" panose="020F0502020204030204" pitchFamily="34" charset="0"/>
                <a:cs typeface="Times New Roman" panose="02020603050405020304" pitchFamily="18" charset="0"/>
              </a:rPr>
              <a:t>a right bastard</a:t>
            </a: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182880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157220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Verbs and Verb Phrases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Verbs can….</a:t>
            </a: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Usually become past tense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Usually be preceded by a modal (can, may, will)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Verb Phrases can be…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Predicates: I </a:t>
            </a:r>
            <a:r>
              <a:rPr lang="en-US" b="0" u="sng" dirty="0">
                <a:ea typeface="Calibri" panose="020F0502020204030204" pitchFamily="34" charset="0"/>
                <a:cs typeface="Times New Roman" panose="02020603050405020304" pitchFamily="18" charset="0"/>
              </a:rPr>
              <a:t>truly love readin</a:t>
            </a: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g books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Gerunds (in a subject position): </a:t>
            </a:r>
            <a:r>
              <a:rPr lang="en-US" b="0" u="sng" dirty="0">
                <a:ea typeface="Calibri" panose="020F0502020204030204" pitchFamily="34" charset="0"/>
                <a:cs typeface="Times New Roman" panose="02020603050405020304" pitchFamily="18" charset="0"/>
              </a:rPr>
              <a:t>Mowing the lawn </a:t>
            </a: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is not my favorite thing.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Gerunds (in an object position): I hate </a:t>
            </a:r>
            <a:r>
              <a:rPr lang="en-US" b="0" u="sng" dirty="0">
                <a:ea typeface="Calibri" panose="020F0502020204030204" pitchFamily="34" charset="0"/>
                <a:cs typeface="Times New Roman" panose="02020603050405020304" pitchFamily="18" charset="0"/>
              </a:rPr>
              <a:t>mowing the lawn</a:t>
            </a: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182880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2369434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Adjectives and Adjective Phrases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Adjectives can….</a:t>
            </a: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Often become Adverbs by adding –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ly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(happy – Happily)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Often be made comparative by adding –er (</a:t>
            </a: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happier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Usually be modified by an adverb (very </a:t>
            </a: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tall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Usually modify a noun: The </a:t>
            </a: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tall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man.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Adjective Phrases can be…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Noun Modifiers: 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tall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man…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Compliments: I am </a:t>
            </a:r>
            <a:r>
              <a:rPr lang="en-US" b="0" u="sng" dirty="0">
                <a:ea typeface="Calibri" panose="020F0502020204030204" pitchFamily="34" charset="0"/>
                <a:cs typeface="Times New Roman" panose="02020603050405020304" pitchFamily="18" charset="0"/>
              </a:rPr>
              <a:t>tall</a:t>
            </a: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182880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2177666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Adverbs and Adverb Phrases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Adjectives can….</a:t>
            </a: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Often end in –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ly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Usually modify a verb (</a:t>
            </a: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suddenly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appeared)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Usually be modified by other adverbs (very </a:t>
            </a: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suddenly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Adverb Phrases can be…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Verb modifiers: It </a:t>
            </a:r>
            <a:r>
              <a:rPr lang="en-US" b="0" u="sng" dirty="0">
                <a:ea typeface="Calibri" panose="020F0502020204030204" pitchFamily="34" charset="0"/>
                <a:cs typeface="Times New Roman" panose="02020603050405020304" pitchFamily="18" charset="0"/>
              </a:rPr>
              <a:t>suddenly</a:t>
            </a: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 appeared.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Adjective modifiers: He is </a:t>
            </a: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truly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unhappy.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Sentence modifiers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Unfortunately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, I ate the whole cake.</a:t>
            </a: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82880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177526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0" dirty="0"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Pronouns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Closed Class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Replaces an entire Noun Phrase (not just a noun)</a:t>
            </a: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8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Personal (I, You, We, They)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Reflexive (Itself, Ourselves) 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Demonstrative (This, These, Those)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Interrogative/Relative (</a:t>
            </a:r>
            <a:r>
              <a:rPr lang="en-US" sz="2400" b="1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That</a:t>
            </a: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Who, What, Where)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247503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62CAF-0CAE-BA11-86D6-C8D090DDC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04768A-A8C1-1F92-AABA-CDECFB46F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0" dirty="0"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Pronouns replace Noun </a:t>
            </a:r>
            <a:r>
              <a:rPr lang="en-US" i="0" u="sng" dirty="0"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Phrases</a:t>
            </a:r>
          </a:p>
          <a:p>
            <a:pPr marL="182880" indent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i="0" dirty="0">
              <a:effectLst/>
              <a:highlight>
                <a:srgbClr val="F2F2F2"/>
              </a:highlight>
              <a:latin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3153E6-0729-8B1A-0FC4-AD7D1504D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ED0E7A-1C9E-B8B3-A277-A8A8B35EE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997" y="2228849"/>
            <a:ext cx="5977737" cy="40823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ACF0AB-55C4-1A35-565A-12FD12BC1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380" y="2228849"/>
            <a:ext cx="3678607" cy="408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494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CEA19-45F3-561A-EE4C-9884D5173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4B96FB-BC22-2267-3E6B-3E24C55AD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 fontScale="92500" lnSpcReduction="10000"/>
          </a:bodyPr>
          <a:lstStyle/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0" dirty="0"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Determiners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Determiners a “closed class” that modify nouns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 every noun phrase has a determiner</a:t>
            </a: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8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Types of Determiners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Articles (a, an, the)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Demonstratives (this, that, those)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Possessives (Bob’s, my, their, its)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Quantifiers (many, some, all)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Numbers (one, three, a hundred)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0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 linguists classify numbers as their own separate closed class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3B96C86-FA4A-422A-19C6-8B3C870E6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3071102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8DDAC-5E04-CC60-0DDA-EA6E5A170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4A4A0E-EC3F-4C7E-1B87-8A4477027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i="0" dirty="0"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What are some tricks to be able to tell apart a determiner and an adjective?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Determiners usually precede Adjectives.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000" b="0" i="0" dirty="0">
                <a:solidFill>
                  <a:srgbClr val="FF0000"/>
                </a:solidFill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sz="2000" b="0" i="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big, red, bouncy ball.</a:t>
            </a:r>
            <a:endParaRPr lang="en-US" b="0" i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Most nouns can only take one or two determiner but infinite pronouns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200" i="0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 few </a:t>
            </a:r>
            <a:r>
              <a:rPr lang="en-US" sz="2200" i="0" dirty="0">
                <a:ea typeface="Calibri" panose="020F0502020204030204" pitchFamily="34" charset="0"/>
                <a:cs typeface="Times New Roman" panose="02020603050405020304" pitchFamily="18" charset="0"/>
              </a:rPr>
              <a:t>big, red, bouncy balls.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Most adjectives are “</a:t>
            </a:r>
            <a:r>
              <a:rPr lang="en-US" sz="2400" dirty="0" err="1">
                <a:ea typeface="Calibri" panose="020F0502020204030204" pitchFamily="34" charset="0"/>
                <a:cs typeface="Times New Roman" panose="02020603050405020304" pitchFamily="18" charset="0"/>
              </a:rPr>
              <a:t>gradeable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” but most determiners are not.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0" dirty="0">
                <a:ea typeface="Calibri" panose="020F0502020204030204" pitchFamily="34" charset="0"/>
                <a:cs typeface="Times New Roman" panose="02020603050405020304" pitchFamily="18" charset="0"/>
              </a:rPr>
              <a:t>I lost </a:t>
            </a:r>
            <a:r>
              <a:rPr lang="en-US" i="0" u="sng" dirty="0">
                <a:ea typeface="Calibri" panose="020F0502020204030204" pitchFamily="34" charset="0"/>
                <a:cs typeface="Times New Roman" panose="02020603050405020304" pitchFamily="18" charset="0"/>
              </a:rPr>
              <a:t>very my </a:t>
            </a:r>
            <a:r>
              <a:rPr lang="en-US" i="0" dirty="0">
                <a:ea typeface="Calibri" panose="020F0502020204030204" pitchFamily="34" charset="0"/>
                <a:cs typeface="Times New Roman" panose="02020603050405020304" pitchFamily="18" charset="0"/>
              </a:rPr>
              <a:t>books. 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i="0" dirty="0">
                <a:ea typeface="Calibri" panose="020F0502020204030204" pitchFamily="34" charset="0"/>
                <a:cs typeface="Times New Roman" panose="02020603050405020304" pitchFamily="18" charset="0"/>
              </a:rPr>
              <a:t>I love </a:t>
            </a:r>
            <a:r>
              <a:rPr lang="en-US" i="0" u="sng" dirty="0">
                <a:ea typeface="Calibri" panose="020F0502020204030204" pitchFamily="34" charset="0"/>
                <a:cs typeface="Times New Roman" panose="02020603050405020304" pitchFamily="18" charset="0"/>
              </a:rPr>
              <a:t>very special </a:t>
            </a:r>
            <a:r>
              <a:rPr lang="en-US" i="0" dirty="0">
                <a:ea typeface="Calibri" panose="020F0502020204030204" pitchFamily="34" charset="0"/>
                <a:cs typeface="Times New Roman" panose="02020603050405020304" pitchFamily="18" charset="0"/>
              </a:rPr>
              <a:t>books.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173A8E-CCB0-719A-A4FC-30864ED0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3562882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Prepositions (Closed Class)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“Anywhere a cat can be”</a:t>
            </a:r>
          </a:p>
          <a:p>
            <a:pPr marL="1218438" lvl="2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In, On, Of, To, With, For, By, Near, Towards, </a:t>
            </a:r>
            <a:r>
              <a:rPr lang="en-US">
                <a:ea typeface="Calibri" panose="020F0502020204030204" pitchFamily="34" charset="0"/>
                <a:cs typeface="Times New Roman" panose="02020603050405020304" pitchFamily="18" charset="0"/>
              </a:rPr>
              <a:t>“Away 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From”…. 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LIST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Prepositional Phrases (P + NP)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Prepositions are usually followed by a Noun Phrase</a:t>
            </a:r>
          </a:p>
          <a:p>
            <a:pPr marL="457200" lvl="1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6A02F1-2BF9-7BA1-9C36-78F519334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473" y="4320240"/>
            <a:ext cx="2269241" cy="22238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0A9FD4-2257-526B-DACF-6B16B1072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4023" y="4314644"/>
            <a:ext cx="1314209" cy="21953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5E209D-EFD5-52B3-D4E6-03393641A7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956" y="4314644"/>
            <a:ext cx="2168203" cy="222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50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40B69-EE1E-F293-B29A-CFC6EC904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AA391F-0B5F-0A43-9190-87B218F20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21655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Prepositional Phrase Positions and Functions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Noun modifiers: The man </a:t>
            </a:r>
            <a:r>
              <a:rPr lang="en-US" b="0" u="sng" dirty="0">
                <a:ea typeface="Calibri" panose="020F0502020204030204" pitchFamily="34" charset="0"/>
                <a:cs typeface="Times New Roman" panose="02020603050405020304" pitchFamily="18" charset="0"/>
              </a:rPr>
              <a:t>in the hat</a:t>
            </a: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Verb modifiers:   …swam </a:t>
            </a: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in the sea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Adjective Modifiers:  …high </a:t>
            </a: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on the mountain</a:t>
            </a:r>
          </a:p>
          <a:p>
            <a:pPr marL="971550" lvl="1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Sentence modifiers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:  </a:t>
            </a:r>
            <a:r>
              <a:rPr lang="en-US" u="sng" dirty="0">
                <a:ea typeface="Calibri" panose="020F0502020204030204" pitchFamily="34" charset="0"/>
                <a:cs typeface="Times New Roman" panose="02020603050405020304" pitchFamily="18" charset="0"/>
              </a:rPr>
              <a:t>In the morning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, I shall perish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A090D0-A9E3-F885-383E-B45A9D58D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301984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If you have questions or concerns, hang around to talk.</a:t>
            </a: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End of Class</a:t>
            </a:r>
          </a:p>
        </p:txBody>
      </p:sp>
    </p:spTree>
    <p:extLst>
      <p:ext uri="{BB962C8B-B14F-4D97-AF65-F5344CB8AC3E}">
        <p14:creationId xmlns:p14="http://schemas.microsoft.com/office/powerpoint/2010/main" val="51460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d's tie design template">
  <a:themeElements>
    <a:clrScheme name="Custom 7">
      <a:dk1>
        <a:sysClr val="windowText" lastClr="000000"/>
      </a:dk1>
      <a:lt1>
        <a:sysClr val="window" lastClr="FFFFFF"/>
      </a:lt1>
      <a:dk2>
        <a:srgbClr val="323232"/>
      </a:dk2>
      <a:lt2>
        <a:srgbClr val="FFFFCC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Dad's tie design template" id="{D38B957D-588F-4953-A2A4-8835E8F79C65}" vid="{09887BB5-A875-44C0-9AF9-8FE92BB7EC5A}"/>
    </a:ext>
  </a:extLst>
</a:theme>
</file>

<file path=ppt/theme/theme2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C979567-0D27-4E98-9101-139E4F27BE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Dad's tie design slides</Template>
  <TotalTime>0</TotalTime>
  <Words>641</Words>
  <Application>Microsoft Office PowerPoint</Application>
  <PresentationFormat>Widescreen</PresentationFormat>
  <Paragraphs>97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Calibri</vt:lpstr>
      <vt:lpstr>Century Gothic</vt:lpstr>
      <vt:lpstr>Wingdings 2</vt:lpstr>
      <vt:lpstr>Abadi</vt:lpstr>
      <vt:lpstr>Palatino Linotype</vt:lpstr>
      <vt:lpstr>Arial</vt:lpstr>
      <vt:lpstr>Verdana</vt:lpstr>
      <vt:lpstr>Dad's tie design template</vt:lpstr>
      <vt:lpstr>Course Introduction</vt:lpstr>
      <vt:lpstr>Refresher</vt:lpstr>
      <vt:lpstr>Sample Diagrams</vt:lpstr>
      <vt:lpstr>Refresher</vt:lpstr>
      <vt:lpstr>Refresher</vt:lpstr>
      <vt:lpstr>Refresher</vt:lpstr>
      <vt:lpstr>Refresher</vt:lpstr>
      <vt:lpstr>Refresher</vt:lpstr>
      <vt:lpstr>Refresher</vt:lpstr>
      <vt:lpstr>Refresher</vt:lpstr>
      <vt:lpstr>Refresher</vt:lpstr>
      <vt:lpstr>Refresher</vt:lpstr>
      <vt:lpstr>Refresher</vt:lpstr>
      <vt:lpstr>End of 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2016-07-22T17:40:32Z</dcterms:created>
  <dcterms:modified xsi:type="dcterms:W3CDTF">2025-01-20T18:07:17Z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TC034605139991</vt:lpwstr>
  </property>
</Properties>
</file>