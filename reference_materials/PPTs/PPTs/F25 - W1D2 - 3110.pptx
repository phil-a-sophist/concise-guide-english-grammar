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6" r:id="rId2"/>
  </p:sldMasterIdLst>
  <p:notesMasterIdLst>
    <p:notesMasterId r:id="rId38"/>
  </p:notesMasterIdLst>
  <p:handoutMasterIdLst>
    <p:handoutMasterId r:id="rId39"/>
  </p:handoutMasterIdLst>
  <p:sldIdLst>
    <p:sldId id="270" r:id="rId3"/>
    <p:sldId id="271" r:id="rId4"/>
    <p:sldId id="371" r:id="rId5"/>
    <p:sldId id="453" r:id="rId6"/>
    <p:sldId id="396" r:id="rId7"/>
    <p:sldId id="397" r:id="rId8"/>
    <p:sldId id="400" r:id="rId9"/>
    <p:sldId id="418" r:id="rId10"/>
    <p:sldId id="419" r:id="rId11"/>
    <p:sldId id="452" r:id="rId12"/>
    <p:sldId id="428" r:id="rId13"/>
    <p:sldId id="420" r:id="rId14"/>
    <p:sldId id="394" r:id="rId15"/>
    <p:sldId id="448" r:id="rId16"/>
    <p:sldId id="449" r:id="rId17"/>
    <p:sldId id="417" r:id="rId18"/>
    <p:sldId id="413" r:id="rId19"/>
    <p:sldId id="414" r:id="rId20"/>
    <p:sldId id="415" r:id="rId21"/>
    <p:sldId id="416" r:id="rId22"/>
    <p:sldId id="340" r:id="rId23"/>
    <p:sldId id="446" r:id="rId24"/>
    <p:sldId id="447" r:id="rId25"/>
    <p:sldId id="441" r:id="rId26"/>
    <p:sldId id="341" r:id="rId27"/>
    <p:sldId id="342" r:id="rId28"/>
    <p:sldId id="429" r:id="rId29"/>
    <p:sldId id="450" r:id="rId30"/>
    <p:sldId id="431" r:id="rId31"/>
    <p:sldId id="451" r:id="rId32"/>
    <p:sldId id="432" r:id="rId33"/>
    <p:sldId id="440" r:id="rId34"/>
    <p:sldId id="433" r:id="rId35"/>
    <p:sldId id="454" r:id="rId36"/>
    <p:sldId id="40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3F3"/>
    <a:srgbClr val="E8E8E8"/>
    <a:srgbClr val="D5ECFF"/>
    <a:srgbClr val="B9DFFF"/>
    <a:srgbClr val="97D0FF"/>
    <a:srgbClr val="C4E5FC"/>
    <a:srgbClr val="C6BD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9A5372-2520-4B5D-89A2-F4C1FFF6234D}" v="9" dt="2025-08-27T16:40:44.6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40" autoAdjust="0"/>
    <p:restoredTop sz="94660"/>
  </p:normalViewPr>
  <p:slideViewPr>
    <p:cSldViewPr snapToGrid="0">
      <p:cViewPr varScale="1">
        <p:scale>
          <a:sx n="107" d="100"/>
          <a:sy n="107" d="100"/>
        </p:scale>
        <p:origin x="612" y="102"/>
      </p:cViewPr>
      <p:guideLst/>
    </p:cSldViewPr>
  </p:slideViewPr>
  <p:notesTextViewPr>
    <p:cViewPr>
      <p:scale>
        <a:sx n="3" d="2"/>
        <a:sy n="3" d="2"/>
      </p:scale>
      <p:origin x="0" y="0"/>
    </p:cViewPr>
  </p:notesTextViewPr>
  <p:notesViewPr>
    <p:cSldViewPr snapToGrid="0">
      <p:cViewPr varScale="1">
        <p:scale>
          <a:sx n="76" d="100"/>
          <a:sy n="76" d="100"/>
        </p:scale>
        <p:origin x="2538"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handoutMaster" Target="handoutMasters/handout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CEF702-0714-4E08-A299-FB7CD6DD53DC}" type="datetimeFigureOut">
              <a:rPr lang="en-US" smtClean="0"/>
              <a:t>8/27/2025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B0F021-7EF0-4BDC-ABAA-3F31888D271E}" type="slidenum">
              <a:rPr lang="en-US" smtClean="0"/>
              <a:t>‹#›</a:t>
            </a:fld>
            <a:endParaRPr lang="en-US"/>
          </a:p>
        </p:txBody>
      </p:sp>
    </p:spTree>
    <p:extLst>
      <p:ext uri="{BB962C8B-B14F-4D97-AF65-F5344CB8AC3E}">
        <p14:creationId xmlns:p14="http://schemas.microsoft.com/office/powerpoint/2010/main" val="390408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3835DD-85A7-4A1D-B5D6-4471BFC8E4FB}" type="datetimeFigureOut">
              <a:rPr lang="en-US" smtClean="0"/>
              <a:t>8/27/2025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B45845-826A-4014-B98A-97266F3057F4}" type="slidenum">
              <a:rPr lang="en-US" smtClean="0"/>
              <a:t>‹#›</a:t>
            </a:fld>
            <a:endParaRPr lang="en-US"/>
          </a:p>
        </p:txBody>
      </p:sp>
    </p:spTree>
    <p:extLst>
      <p:ext uri="{BB962C8B-B14F-4D97-AF65-F5344CB8AC3E}">
        <p14:creationId xmlns:p14="http://schemas.microsoft.com/office/powerpoint/2010/main" val="1775869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B45845-826A-4014-B98A-97266F3057F4}" type="slidenum">
              <a:rPr lang="en-US" smtClean="0"/>
              <a:t>1</a:t>
            </a:fld>
            <a:endParaRPr lang="en-US"/>
          </a:p>
        </p:txBody>
      </p:sp>
    </p:spTree>
    <p:extLst>
      <p:ext uri="{BB962C8B-B14F-4D97-AF65-F5344CB8AC3E}">
        <p14:creationId xmlns:p14="http://schemas.microsoft.com/office/powerpoint/2010/main" val="3495538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5841" y="1305716"/>
            <a:ext cx="10476826" cy="5040309"/>
          </a:xfrm>
          <a:solidFill>
            <a:srgbClr val="F3F3F3"/>
          </a:solidFill>
          <a:ln>
            <a:solidFill>
              <a:schemeClr val="tx1"/>
            </a:solidFill>
          </a:ln>
        </p:spPr>
        <p:txBody>
          <a:bodyPr tIns="91440"/>
          <a:lstStyle>
            <a:lvl1pPr>
              <a:lnSpc>
                <a:spcPct val="100000"/>
              </a:lnSpc>
              <a:spcBef>
                <a:spcPts val="600"/>
              </a:spcBef>
              <a:spcAft>
                <a:spcPts val="600"/>
              </a:spcAft>
              <a:defRPr sz="3200" b="1" u="none" kern="1200" spc="0" baseline="0">
                <a:latin typeface="Calibri" panose="020F0502020204030204" pitchFamily="34" charset="0"/>
              </a:defRPr>
            </a:lvl1pPr>
            <a:lvl2pPr>
              <a:lnSpc>
                <a:spcPct val="100000"/>
              </a:lnSpc>
              <a:spcBef>
                <a:spcPts val="600"/>
              </a:spcBef>
              <a:spcAft>
                <a:spcPts val="600"/>
              </a:spcAft>
              <a:defRPr sz="2800" i="0" kern="1200" spc="0" baseline="0">
                <a:latin typeface="Calibri" panose="020F0502020204030204" pitchFamily="34" charset="0"/>
              </a:defRPr>
            </a:lvl2pPr>
            <a:lvl3pPr>
              <a:lnSpc>
                <a:spcPct val="100000"/>
              </a:lnSpc>
              <a:spcBef>
                <a:spcPts val="600"/>
              </a:spcBef>
              <a:spcAft>
                <a:spcPts val="600"/>
              </a:spcAft>
              <a:defRPr sz="2400" i="1" kern="1200" spc="0" baseline="0">
                <a:latin typeface="Calibri" panose="020F0502020204030204" pitchFamily="34" charset="0"/>
              </a:defRPr>
            </a:lvl3pPr>
            <a:lvl4pPr>
              <a:lnSpc>
                <a:spcPct val="100000"/>
              </a:lnSpc>
              <a:spcBef>
                <a:spcPts val="600"/>
              </a:spcBef>
              <a:spcAft>
                <a:spcPts val="600"/>
              </a:spcAft>
              <a:defRPr sz="2200" i="1" kern="1200" spc="0" baseline="0">
                <a:latin typeface="Calibri" panose="020F0502020204030204" pitchFamily="34" charset="0"/>
              </a:defRPr>
            </a:lvl4pPr>
            <a:lvl5pPr>
              <a:lnSpc>
                <a:spcPct val="100000"/>
              </a:lnSpc>
              <a:spcBef>
                <a:spcPts val="600"/>
              </a:spcBef>
              <a:spcAft>
                <a:spcPts val="600"/>
              </a:spcAft>
              <a:defRPr sz="2200" i="1" kern="1200" spc="0" baseline="0">
                <a:latin typeface="Calibri" panose="020F0502020204030204" pitchFamily="34" charset="0"/>
              </a:defRPr>
            </a:lvl5pPr>
          </a:lstStyle>
          <a:p>
            <a:pPr lvl="0" eaLnBrk="1" latinLnBrk="0" hangingPunct="1"/>
            <a:r>
              <a:rPr lang="en-US" dirty="0"/>
              <a:t>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2" name="Title 1"/>
          <p:cNvSpPr>
            <a:spLocks noGrp="1"/>
          </p:cNvSpPr>
          <p:nvPr>
            <p:ph type="title" hasCustomPrompt="1"/>
          </p:nvPr>
        </p:nvSpPr>
        <p:spPr>
          <a:xfrm>
            <a:off x="1560997" y="546793"/>
            <a:ext cx="10461669" cy="718441"/>
          </a:xfrm>
          <a:noFill/>
        </p:spPr>
        <p:txBody>
          <a:bodyPr>
            <a:noAutofit/>
          </a:bodyPr>
          <a:lstStyle>
            <a:lvl1pPr algn="ctr">
              <a:defRPr sz="3600" b="1" u="sng" baseline="0">
                <a:effectLst/>
                <a:latin typeface="Calibri" panose="020F0502020204030204" pitchFamily="34" charset="0"/>
              </a:defRPr>
            </a:lvl1pPr>
          </a:lstStyle>
          <a:p>
            <a:r>
              <a:rPr kumimoji="0" lang="en-US" dirty="0"/>
              <a:t>SLIDE TITLE</a:t>
            </a:r>
          </a:p>
        </p:txBody>
      </p:sp>
      <p:sp>
        <p:nvSpPr>
          <p:cNvPr id="8" name="Title 1"/>
          <p:cNvSpPr txBox="1">
            <a:spLocks/>
          </p:cNvSpPr>
          <p:nvPr userDrawn="1"/>
        </p:nvSpPr>
        <p:spPr>
          <a:xfrm>
            <a:off x="1545844" y="621403"/>
            <a:ext cx="8779256" cy="724798"/>
          </a:xfrm>
          <a:prstGeom prst="rect">
            <a:avLst/>
          </a:prstGeom>
        </p:spPr>
        <p:txBody>
          <a:bodyPr anchor="ctr">
            <a:no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Calibri" panose="020F0502020204030204" pitchFamily="34" charset="0"/>
                <a:ea typeface="+mj-ea"/>
                <a:cs typeface="+mj-cs"/>
              </a:defRPr>
            </a:lvl1pPr>
            <a:extLst/>
          </a:lstStyle>
          <a:p>
            <a:endParaRPr lang="en-US" sz="3200" b="1" dirty="0"/>
          </a:p>
        </p:txBody>
      </p:sp>
      <p:sp>
        <p:nvSpPr>
          <p:cNvPr id="11" name="Title 1"/>
          <p:cNvSpPr txBox="1">
            <a:spLocks/>
          </p:cNvSpPr>
          <p:nvPr userDrawn="1"/>
        </p:nvSpPr>
        <p:spPr>
          <a:xfrm>
            <a:off x="1545843" y="88897"/>
            <a:ext cx="10476823" cy="451540"/>
          </a:xfrm>
          <a:prstGeom prst="rect">
            <a:avLst/>
          </a:prstGeom>
          <a:solidFill>
            <a:schemeClr val="bg2">
              <a:lumMod val="90000"/>
            </a:schemeClr>
          </a:solidFill>
          <a:ln>
            <a:solidFill>
              <a:schemeClr val="tx1"/>
            </a:solidFill>
          </a:ln>
        </p:spPr>
        <p:txBody>
          <a:bodyPr anchor="ctr">
            <a:noAutofit/>
          </a:bodyPr>
          <a:lstStyle>
            <a:lvl1pPr algn="l" rtl="0" eaLnBrk="1" latinLnBrk="0" hangingPunct="1">
              <a:lnSpc>
                <a:spcPts val="4500"/>
              </a:lnSpc>
              <a:spcBef>
                <a:spcPct val="0"/>
              </a:spcBef>
              <a:buNone/>
              <a:defRPr kumimoji="0" sz="4000" b="1" kern="1200" cap="all">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pPr algn="ctr">
              <a:lnSpc>
                <a:spcPct val="100000"/>
              </a:lnSpc>
            </a:pPr>
            <a:r>
              <a:rPr lang="en-US" sz="2000" b="0" dirty="0">
                <a:latin typeface="Calibri" panose="020F0502020204030204" pitchFamily="34" charset="0"/>
              </a:rPr>
              <a:t>ENGL 3110 – Advanced Grammar</a:t>
            </a:r>
          </a:p>
        </p:txBody>
      </p:sp>
    </p:spTree>
    <p:extLst>
      <p:ext uri="{BB962C8B-B14F-4D97-AF65-F5344CB8AC3E}">
        <p14:creationId xmlns:p14="http://schemas.microsoft.com/office/powerpoint/2010/main" val="18653946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719BA0-A3F1-4AE0-A095-A691F325988D}" type="datetime1">
              <a:rPr lang="en-US" smtClean="0"/>
              <a:t>8/27/2025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01CF334-2D5C-4859-84A6-CA7E6E43FAEB}" type="slidenum">
              <a:rPr lang="en-US" smtClean="0"/>
              <a:pPr/>
              <a:t>‹#›</a:t>
            </a:fld>
            <a:endParaRPr lang="en-US"/>
          </a:p>
        </p:txBody>
      </p:sp>
      <p:sp>
        <p:nvSpPr>
          <p:cNvPr id="22" name="Subtitle 21"/>
          <p:cNvSpPr>
            <a:spLocks noGrp="1"/>
          </p:cNvSpPr>
          <p:nvPr>
            <p:ph type="subTitle" idx="1"/>
          </p:nvPr>
        </p:nvSpPr>
        <p:spPr>
          <a:xfrm>
            <a:off x="1910080" y="1850064"/>
            <a:ext cx="987552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14" name="Title 13"/>
          <p:cNvSpPr>
            <a:spLocks noGrp="1"/>
          </p:cNvSpPr>
          <p:nvPr>
            <p:ph type="ctrTitle"/>
          </p:nvPr>
        </p:nvSpPr>
        <p:spPr>
          <a:xfrm>
            <a:off x="1910080" y="359898"/>
            <a:ext cx="9875520" cy="1472184"/>
          </a:xfrm>
        </p:spPr>
        <p:txBody>
          <a:bodyPr anchor="b"/>
          <a:lstStyle>
            <a:lvl1pPr algn="l">
              <a:defRPr/>
            </a:lvl1pPr>
            <a:extLst/>
          </a:lstStyle>
          <a:p>
            <a:r>
              <a:rPr kumimoji="0" lang="en-US"/>
              <a:t>Click to edit Master title style</a:t>
            </a:r>
          </a:p>
        </p:txBody>
      </p:sp>
    </p:spTree>
    <p:extLst>
      <p:ext uri="{BB962C8B-B14F-4D97-AF65-F5344CB8AC3E}">
        <p14:creationId xmlns:p14="http://schemas.microsoft.com/office/powerpoint/2010/main" val="503323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7C1BA8-14CB-402F-AB5D-65EFB4CEE9BA}" type="datetime1">
              <a:rPr lang="en-US" smtClean="0"/>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a:p>
        </p:txBody>
      </p:sp>
      <p:sp>
        <p:nvSpPr>
          <p:cNvPr id="3" name="Text Placeholder 2"/>
          <p:cNvSpPr>
            <a:spLocks noGrp="1"/>
          </p:cNvSpPr>
          <p:nvPr>
            <p:ph type="body" idx="1"/>
          </p:nvPr>
        </p:nvSpPr>
        <p:spPr>
          <a:xfrm>
            <a:off x="3437856" y="1066800"/>
            <a:ext cx="85344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Edit Master text styles</a:t>
            </a:r>
          </a:p>
        </p:txBody>
      </p:sp>
      <p:sp>
        <p:nvSpPr>
          <p:cNvPr id="2" name="Title 1"/>
          <p:cNvSpPr>
            <a:spLocks noGrp="1"/>
          </p:cNvSpPr>
          <p:nvPr>
            <p:ph type="title"/>
          </p:nvPr>
        </p:nvSpPr>
        <p:spPr>
          <a:xfrm>
            <a:off x="1589644" y="2600325"/>
            <a:ext cx="10382612" cy="2286000"/>
          </a:xfrm>
        </p:spPr>
        <p:txBody>
          <a:bodyPr anchor="t"/>
          <a:lstStyle>
            <a:lvl1pPr algn="l">
              <a:lnSpc>
                <a:spcPts val="4500"/>
              </a:lnSpc>
              <a:buNone/>
              <a:defRPr sz="4000" b="1" cap="all"/>
            </a:lvl1pPr>
            <a:extLst/>
          </a:lstStyle>
          <a:p>
            <a:r>
              <a:rPr kumimoji="0" lang="en-US"/>
              <a:t>Click to edit Master title style</a:t>
            </a:r>
          </a:p>
        </p:txBody>
      </p:sp>
    </p:spTree>
    <p:extLst>
      <p:ext uri="{BB962C8B-B14F-4D97-AF65-F5344CB8AC3E}">
        <p14:creationId xmlns:p14="http://schemas.microsoft.com/office/powerpoint/2010/main" val="798125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D9FC792A-0B0D-4D75-99F7-2870465BBD14}" type="datetime1">
              <a:rPr lang="en-US" smtClean="0"/>
              <a:t>8/27/2025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1CF334-2D5C-4859-84A6-CA7E6E43FAEB}" type="slidenum">
              <a:rPr lang="en-US" smtClean="0"/>
              <a:t>‹#›</a:t>
            </a:fld>
            <a:endParaRPr lang="en-US"/>
          </a:p>
        </p:txBody>
      </p:sp>
      <p:sp>
        <p:nvSpPr>
          <p:cNvPr id="4" name="Content Placeholder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3" name="Content Placeholder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Title 1"/>
          <p:cNvSpPr>
            <a:spLocks noGrp="1"/>
          </p:cNvSpPr>
          <p:nvPr>
            <p:ph type="title"/>
          </p:nvPr>
        </p:nvSpPr>
        <p:spPr>
          <a:xfrm>
            <a:off x="1914144" y="274320"/>
            <a:ext cx="9997440" cy="1143000"/>
          </a:xfrm>
        </p:spPr>
        <p:txBody>
          <a:bodyPr/>
          <a:lstStyle/>
          <a:p>
            <a:r>
              <a:rPr kumimoji="0" lang="en-US"/>
              <a:t>Click to edit Master title style</a:t>
            </a:r>
          </a:p>
        </p:txBody>
      </p:sp>
    </p:spTree>
    <p:extLst>
      <p:ext uri="{BB962C8B-B14F-4D97-AF65-F5344CB8AC3E}">
        <p14:creationId xmlns:p14="http://schemas.microsoft.com/office/powerpoint/2010/main" val="1961629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3840" userDrawn="1">
          <p15:clr>
            <a:srgbClr val="FBAE40"/>
          </p15:clr>
        </p15:guide>
        <p15:guide id="2" pos="1200" userDrawn="1">
          <p15:clr>
            <a:srgbClr val="FBAE40"/>
          </p15:clr>
        </p15:guide>
        <p15:guide id="3" pos="7512" userDrawn="1">
          <p15:clr>
            <a:srgbClr val="FBAE40"/>
          </p15:clr>
        </p15:guide>
        <p15:guide id="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D84A14D2-C15B-4C78-A526-4D8666FA99F8}" type="datetime1">
              <a:rPr lang="en-US" smtClean="0"/>
              <a:t>8/27/2025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1CF334-2D5C-4859-84A6-CA7E6E43FAEB}" type="slidenum">
              <a:rPr lang="en-US" smtClean="0"/>
              <a:t>‹#›</a:t>
            </a:fld>
            <a:endParaRPr lang="en-US"/>
          </a:p>
        </p:txBody>
      </p:sp>
      <p:sp>
        <p:nvSpPr>
          <p:cNvPr id="6" name="Content Placeholder 5"/>
          <p:cNvSpPr>
            <a:spLocks noGrp="1"/>
          </p:cNvSpPr>
          <p:nvPr>
            <p:ph sz="quarter" idx="4"/>
          </p:nvPr>
        </p:nvSpPr>
        <p:spPr>
          <a:xfrm>
            <a:off x="7051548" y="969336"/>
            <a:ext cx="4873752"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3"/>
          </p:nvPr>
        </p:nvSpPr>
        <p:spPr>
          <a:xfrm>
            <a:off x="7051548" y="328278"/>
            <a:ext cx="4873752"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Edit Master text styles</a:t>
            </a:r>
          </a:p>
        </p:txBody>
      </p:sp>
      <p:sp>
        <p:nvSpPr>
          <p:cNvPr id="5" name="Content Placeholder 4"/>
          <p:cNvSpPr>
            <a:spLocks noGrp="1"/>
          </p:cNvSpPr>
          <p:nvPr>
            <p:ph sz="quarter" idx="2"/>
          </p:nvPr>
        </p:nvSpPr>
        <p:spPr>
          <a:xfrm>
            <a:off x="1908975" y="969336"/>
            <a:ext cx="4873752"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3" name="Text Placeholder 2"/>
          <p:cNvSpPr>
            <a:spLocks noGrp="1"/>
          </p:cNvSpPr>
          <p:nvPr>
            <p:ph type="body" idx="1"/>
          </p:nvPr>
        </p:nvSpPr>
        <p:spPr>
          <a:xfrm>
            <a:off x="1908975" y="328278"/>
            <a:ext cx="4873752"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Edit Master text styles</a:t>
            </a:r>
          </a:p>
        </p:txBody>
      </p:sp>
      <p:sp>
        <p:nvSpPr>
          <p:cNvPr id="2" name="Title 1"/>
          <p:cNvSpPr>
            <a:spLocks noGrp="1"/>
          </p:cNvSpPr>
          <p:nvPr>
            <p:ph type="title"/>
          </p:nvPr>
        </p:nvSpPr>
        <p:spPr>
          <a:xfrm>
            <a:off x="609600" y="5160336"/>
            <a:ext cx="10972800" cy="1143000"/>
          </a:xfrm>
        </p:spPr>
        <p:txBody>
          <a:bodyPr anchor="ctr"/>
          <a:lstStyle>
            <a:lvl1pPr algn="ctr">
              <a:defRPr sz="4500" b="1" cap="none" baseline="0"/>
            </a:lvl1pPr>
            <a:extLst/>
          </a:lstStyle>
          <a:p>
            <a:r>
              <a:rPr kumimoji="0" lang="en-US"/>
              <a:t>Click to edit Master title style</a:t>
            </a:r>
            <a:endParaRPr kumimoji="0" lang="en-US" dirty="0"/>
          </a:p>
        </p:txBody>
      </p:sp>
    </p:spTree>
    <p:extLst>
      <p:ext uri="{BB962C8B-B14F-4D97-AF65-F5344CB8AC3E}">
        <p14:creationId xmlns:p14="http://schemas.microsoft.com/office/powerpoint/2010/main" val="3104903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1200" userDrawn="1">
          <p15:clr>
            <a:srgbClr val="FBAE40"/>
          </p15:clr>
        </p15:guide>
        <p15:guide id="2" pos="751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CAF1A27-4218-4094-BEAE-9A3589DB2B89}" type="datetime1">
              <a:rPr lang="en-US" smtClean="0"/>
              <a:t>8/27/2025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1CF334-2D5C-4859-84A6-CA7E6E43FAEB}" type="slidenum">
              <a:rPr lang="en-US" smtClean="0"/>
              <a:t>‹#›</a:t>
            </a:fld>
            <a:endParaRPr lang="en-US"/>
          </a:p>
        </p:txBody>
      </p:sp>
      <p:sp>
        <p:nvSpPr>
          <p:cNvPr id="2" name="Title 1"/>
          <p:cNvSpPr>
            <a:spLocks noGrp="1"/>
          </p:cNvSpPr>
          <p:nvPr>
            <p:ph type="title"/>
          </p:nvPr>
        </p:nvSpPr>
        <p:spPr>
          <a:xfrm>
            <a:off x="1914144" y="274320"/>
            <a:ext cx="9997440" cy="1143000"/>
          </a:xfrm>
        </p:spPr>
        <p:txBody>
          <a:bodyPr anchor="ctr"/>
          <a:lstStyle/>
          <a:p>
            <a:r>
              <a:rPr kumimoji="0" lang="en-US"/>
              <a:t>Click to edit Master title style</a:t>
            </a:r>
          </a:p>
        </p:txBody>
      </p:sp>
    </p:spTree>
    <p:extLst>
      <p:ext uri="{BB962C8B-B14F-4D97-AF65-F5344CB8AC3E}">
        <p14:creationId xmlns:p14="http://schemas.microsoft.com/office/powerpoint/2010/main" val="3515087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0" y="-3632"/>
            <a:ext cx="12188952" cy="6858000"/>
          </a:xfrm>
          <a:prstGeom prst="rect">
            <a:avLst/>
          </a:prstGeom>
          <a:gradFill flip="none" rotWithShape="1">
            <a:gsLst>
              <a:gs pos="0">
                <a:schemeClr val="bg2">
                  <a:lumMod val="90000"/>
                </a:schemeClr>
              </a:gs>
              <a:gs pos="50000">
                <a:schemeClr val="bg2"/>
              </a:gs>
              <a:gs pos="100000">
                <a:schemeClr val="bg1"/>
              </a:gs>
            </a:gsLst>
            <a:path path="circle">
              <a:fillToRect l="100000" t="100000"/>
            </a:path>
            <a:tileRect r="-100000" b="-100000"/>
          </a:gra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dirty="0"/>
          </a:p>
        </p:txBody>
      </p:sp>
      <p:sp>
        <p:nvSpPr>
          <p:cNvPr id="2" name="Date Placeholder 1"/>
          <p:cNvSpPr>
            <a:spLocks noGrp="1"/>
          </p:cNvSpPr>
          <p:nvPr>
            <p:ph type="dt" sz="half" idx="10"/>
          </p:nvPr>
        </p:nvSpPr>
        <p:spPr/>
        <p:txBody>
          <a:bodyPr/>
          <a:lstStyle/>
          <a:p>
            <a:fld id="{B0C39AB3-3BFC-4457-B471-ADCDC73FC5EE}" type="datetime1">
              <a:rPr lang="en-US" smtClean="0"/>
              <a:t>8/27/2025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1CF334-2D5C-4859-84A6-CA7E6E43FAEB}" type="slidenum">
              <a:rPr lang="en-US" smtClean="0"/>
              <a:t>‹#›</a:t>
            </a:fld>
            <a:endParaRPr lang="en-US"/>
          </a:p>
        </p:txBody>
      </p:sp>
    </p:spTree>
    <p:extLst>
      <p:ext uri="{BB962C8B-B14F-4D97-AF65-F5344CB8AC3E}">
        <p14:creationId xmlns:p14="http://schemas.microsoft.com/office/powerpoint/2010/main" val="2834597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Content Placeholder 3"/>
          <p:cNvSpPr>
            <a:spLocks noGrp="1"/>
          </p:cNvSpPr>
          <p:nvPr>
            <p:ph sz="half" idx="1"/>
          </p:nvPr>
        </p:nvSpPr>
        <p:spPr>
          <a:xfrm>
            <a:off x="1905000" y="2133601"/>
            <a:ext cx="95758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A5E00674-BE8F-4CEA-9736-5FEE3AB227F1}" type="datetime1">
              <a:rPr lang="en-US" smtClean="0"/>
              <a:t>8/27/2025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1CF334-2D5C-4859-84A6-CA7E6E43FAEB}" type="slidenum">
              <a:rPr lang="en-US" smtClean="0"/>
              <a:t>‹#›</a:t>
            </a:fld>
            <a:endParaRPr lang="en-US"/>
          </a:p>
        </p:txBody>
      </p:sp>
      <p:sp>
        <p:nvSpPr>
          <p:cNvPr id="3" name="Text Placeholder 2"/>
          <p:cNvSpPr>
            <a:spLocks noGrp="1"/>
          </p:cNvSpPr>
          <p:nvPr>
            <p:ph type="body" idx="2"/>
          </p:nvPr>
        </p:nvSpPr>
        <p:spPr>
          <a:xfrm>
            <a:off x="1905000" y="1406964"/>
            <a:ext cx="5516078"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Edit Master text styles</a:t>
            </a:r>
          </a:p>
        </p:txBody>
      </p:sp>
      <p:sp>
        <p:nvSpPr>
          <p:cNvPr id="2" name="Title 1"/>
          <p:cNvSpPr>
            <a:spLocks noGrp="1"/>
          </p:cNvSpPr>
          <p:nvPr>
            <p:ph type="title"/>
          </p:nvPr>
        </p:nvSpPr>
        <p:spPr>
          <a:xfrm>
            <a:off x="1905000" y="216778"/>
            <a:ext cx="5516078" cy="1162050"/>
          </a:xfrm>
          <a:ln>
            <a:noFill/>
          </a:ln>
        </p:spPr>
        <p:txBody>
          <a:bodyPr anchor="b"/>
          <a:lstStyle>
            <a:lvl1pPr algn="l">
              <a:lnSpc>
                <a:spcPts val="2000"/>
              </a:lnSpc>
              <a:buNone/>
              <a:defRPr sz="2200" b="1" cap="all" baseline="0"/>
            </a:lvl1pPr>
            <a:extLst/>
          </a:lstStyle>
          <a:p>
            <a:r>
              <a:rPr kumimoji="0" lang="en-US"/>
              <a:t>Click to edit Master title style</a:t>
            </a:r>
          </a:p>
        </p:txBody>
      </p:sp>
    </p:spTree>
    <p:extLst>
      <p:ext uri="{BB962C8B-B14F-4D97-AF65-F5344CB8AC3E}">
        <p14:creationId xmlns:p14="http://schemas.microsoft.com/office/powerpoint/2010/main" val="4219833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120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7" name="Rectangle 36"/>
          <p:cNvSpPr/>
          <p:nvPr/>
        </p:nvSpPr>
        <p:spPr>
          <a:xfrm>
            <a:off x="0" y="-3632"/>
            <a:ext cx="12188952" cy="6858000"/>
          </a:xfrm>
          <a:prstGeom prst="rect">
            <a:avLst/>
          </a:prstGeom>
          <a:gradFill flip="none" rotWithShape="1">
            <a:gsLst>
              <a:gs pos="0">
                <a:schemeClr val="bg2">
                  <a:lumMod val="90000"/>
                </a:schemeClr>
              </a:gs>
              <a:gs pos="50000">
                <a:schemeClr val="bg2"/>
              </a:gs>
              <a:gs pos="100000">
                <a:schemeClr val="bg1"/>
              </a:gs>
            </a:gsLst>
            <a:path path="circle">
              <a:fillToRect l="100000" t="100000"/>
            </a:path>
            <a:tileRect r="-100000" b="-100000"/>
          </a:gra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dirty="0"/>
          </a:p>
        </p:txBody>
      </p:sp>
      <p:sp>
        <p:nvSpPr>
          <p:cNvPr id="5" name="Date Placeholder 4"/>
          <p:cNvSpPr>
            <a:spLocks noGrp="1"/>
          </p:cNvSpPr>
          <p:nvPr>
            <p:ph type="dt" sz="half" idx="10"/>
          </p:nvPr>
        </p:nvSpPr>
        <p:spPr/>
        <p:txBody>
          <a:bodyPr/>
          <a:lstStyle/>
          <a:p>
            <a:fld id="{F77953A3-A3BE-4323-8A5F-3F3FB07EB2DE}" type="datetime1">
              <a:rPr lang="en-US" smtClean="0"/>
              <a:t>8/27/2025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1CF334-2D5C-4859-84A6-CA7E6E43FAEB}" type="slidenum">
              <a:rPr lang="en-US" smtClean="0"/>
              <a:t>‹#›</a:t>
            </a:fld>
            <a:endParaRPr lang="en-US"/>
          </a:p>
        </p:txBody>
      </p:sp>
      <p:sp>
        <p:nvSpPr>
          <p:cNvPr id="8" name="Rectangle 7"/>
          <p:cNvSpPr/>
          <p:nvPr/>
        </p:nvSpPr>
        <p:spPr>
          <a:xfrm>
            <a:off x="1016000"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1117600" y="1143004"/>
            <a:ext cx="5892800" cy="3514531"/>
          </a:xfrm>
          <a:prstGeom prst="roundRect">
            <a:avLst>
              <a:gd name="adj" fmla="val 783"/>
            </a:avLst>
          </a:prstGeom>
          <a:solidFill>
            <a:schemeClr val="bg2"/>
          </a:solidFill>
          <a:ln w="127000">
            <a:noFill/>
            <a:miter lim="800000"/>
          </a:ln>
          <a:effectLst/>
        </p:spPr>
        <p:txBody>
          <a:bodyPr lIns="91440" tIns="274320" anchor="t"/>
          <a:lstStyle>
            <a:lvl1pPr marL="0" indent="0" algn="l" eaLnBrk="1" latinLnBrk="0" hangingPunct="1">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528967" y="954341"/>
            <a:ext cx="9144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Flowchart: Process 9"/>
          <p:cNvSpPr/>
          <p:nvPr/>
        </p:nvSpPr>
        <p:spPr>
          <a:xfrm rot="2103354" flipH="1">
            <a:off x="6671556" y="936786"/>
            <a:ext cx="86563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4" name="Text Placeholder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Edit Master text styles</a:t>
            </a:r>
          </a:p>
        </p:txBody>
      </p:sp>
      <p:sp>
        <p:nvSpPr>
          <p:cNvPr id="2" name="Title 1"/>
          <p:cNvSpPr>
            <a:spLocks noGrp="1"/>
          </p:cNvSpPr>
          <p:nvPr>
            <p:ph type="title"/>
          </p:nvPr>
        </p:nvSpPr>
        <p:spPr>
          <a:xfrm>
            <a:off x="7849195" y="1066800"/>
            <a:ext cx="3657600" cy="1981200"/>
          </a:xfrm>
        </p:spPr>
        <p:txBody>
          <a:bodyPr anchor="b">
            <a:noAutofit/>
          </a:bodyPr>
          <a:lstStyle>
            <a:lvl1pPr algn="l">
              <a:buNone/>
              <a:defRPr sz="2100" b="1">
                <a:effectLst/>
              </a:defRPr>
            </a:lvl1pPr>
            <a:extLst/>
          </a:lstStyle>
          <a:p>
            <a:r>
              <a:rPr kumimoji="0" lang="en-US"/>
              <a:t>Click to edit Master title style</a:t>
            </a:r>
          </a:p>
        </p:txBody>
      </p:sp>
    </p:spTree>
    <p:extLst>
      <p:ext uri="{BB962C8B-B14F-4D97-AF65-F5344CB8AC3E}">
        <p14:creationId xmlns:p14="http://schemas.microsoft.com/office/powerpoint/2010/main" val="2110765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749DF06-9503-4BFC-9BDB-01518A2C34BB}" type="datetime1">
              <a:rPr lang="en-US" smtClean="0"/>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a:p>
        </p:txBody>
      </p:sp>
      <p:sp>
        <p:nvSpPr>
          <p:cNvPr id="3" name="Vertical Text Placeholder 2"/>
          <p:cNvSpPr>
            <a:spLocks noGrp="1"/>
          </p:cNvSpPr>
          <p:nvPr>
            <p:ph type="body" orient="vert" idx="1"/>
          </p:nvPr>
        </p:nvSpPr>
        <p:spPr/>
        <p:txBody>
          <a:bodyPr vert="eaVer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Title 1"/>
          <p:cNvSpPr>
            <a:spLocks noGrp="1"/>
          </p:cNvSpPr>
          <p:nvPr>
            <p:ph type="title"/>
          </p:nvPr>
        </p:nvSpPr>
        <p:spPr/>
        <p:txBody>
          <a:bodyPr/>
          <a:lstStyle/>
          <a:p>
            <a:r>
              <a:rPr kumimoji="0" lang="en-US"/>
              <a:t>Click to edit Master title style</a:t>
            </a:r>
          </a:p>
        </p:txBody>
      </p:sp>
    </p:spTree>
    <p:extLst>
      <p:ext uri="{BB962C8B-B14F-4D97-AF65-F5344CB8AC3E}">
        <p14:creationId xmlns:p14="http://schemas.microsoft.com/office/powerpoint/2010/main" val="1675680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596D803-E824-49BC-A33E-A6A786BEDB3D}" type="datetime1">
              <a:rPr lang="en-US" smtClean="0"/>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a:p>
        </p:txBody>
      </p:sp>
      <p:sp>
        <p:nvSpPr>
          <p:cNvPr id="3" name="Vertical Text Placeholder 2"/>
          <p:cNvSpPr>
            <a:spLocks noGrp="1"/>
          </p:cNvSpPr>
          <p:nvPr>
            <p:ph type="body" orient="vert" idx="1"/>
          </p:nvPr>
        </p:nvSpPr>
        <p:spPr>
          <a:xfrm>
            <a:off x="1524000" y="274641"/>
            <a:ext cx="7416800" cy="5851525"/>
          </a:xfrm>
        </p:spPr>
        <p:txBody>
          <a:bodyPr vert="eaVer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Vertical Title 1"/>
          <p:cNvSpPr>
            <a:spLocks noGrp="1"/>
          </p:cNvSpPr>
          <p:nvPr>
            <p:ph type="title" orient="vert"/>
          </p:nvPr>
        </p:nvSpPr>
        <p:spPr>
          <a:xfrm>
            <a:off x="9144000" y="274640"/>
            <a:ext cx="2438400" cy="5851525"/>
          </a:xfrm>
        </p:spPr>
        <p:txBody>
          <a:bodyPr vert="eaVert"/>
          <a:lstStyle/>
          <a:p>
            <a:r>
              <a:rPr kumimoji="0" lang="en-US"/>
              <a:t>Click to edit Master title style</a:t>
            </a:r>
          </a:p>
        </p:txBody>
      </p:sp>
    </p:spTree>
    <p:extLst>
      <p:ext uri="{BB962C8B-B14F-4D97-AF65-F5344CB8AC3E}">
        <p14:creationId xmlns:p14="http://schemas.microsoft.com/office/powerpoint/2010/main" val="154356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989D3032-ACFF-440E-8C29-E047F0CC3352}" type="datetime1">
              <a:rPr lang="en-US" smtClean="0"/>
              <a:t>8/27/2025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1CF334-2D5C-4859-84A6-CA7E6E43FAEB}" type="slidenum">
              <a:rPr lang="en-US" smtClean="0"/>
              <a:t>‹#›</a:t>
            </a:fld>
            <a:endParaRPr lang="en-US"/>
          </a:p>
        </p:txBody>
      </p:sp>
      <p:sp>
        <p:nvSpPr>
          <p:cNvPr id="6" name="Content Placeholder 5"/>
          <p:cNvSpPr>
            <a:spLocks noGrp="1"/>
          </p:cNvSpPr>
          <p:nvPr>
            <p:ph sz="quarter" idx="4"/>
          </p:nvPr>
        </p:nvSpPr>
        <p:spPr>
          <a:xfrm>
            <a:off x="7051548" y="969336"/>
            <a:ext cx="4873752"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3"/>
          </p:nvPr>
        </p:nvSpPr>
        <p:spPr>
          <a:xfrm>
            <a:off x="7051548" y="328278"/>
            <a:ext cx="4873752"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Edit Master text styles</a:t>
            </a:r>
          </a:p>
        </p:txBody>
      </p:sp>
      <p:sp>
        <p:nvSpPr>
          <p:cNvPr id="5" name="Content Placeholder 4"/>
          <p:cNvSpPr>
            <a:spLocks noGrp="1"/>
          </p:cNvSpPr>
          <p:nvPr>
            <p:ph sz="quarter" idx="2"/>
          </p:nvPr>
        </p:nvSpPr>
        <p:spPr>
          <a:xfrm>
            <a:off x="1908975" y="969336"/>
            <a:ext cx="4873752"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3" name="Text Placeholder 2"/>
          <p:cNvSpPr>
            <a:spLocks noGrp="1"/>
          </p:cNvSpPr>
          <p:nvPr>
            <p:ph type="body" idx="1"/>
          </p:nvPr>
        </p:nvSpPr>
        <p:spPr>
          <a:xfrm>
            <a:off x="1908975" y="328278"/>
            <a:ext cx="4873752"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Edit Master text styles</a:t>
            </a:r>
          </a:p>
        </p:txBody>
      </p:sp>
      <p:sp>
        <p:nvSpPr>
          <p:cNvPr id="2" name="Title 1"/>
          <p:cNvSpPr>
            <a:spLocks noGrp="1"/>
          </p:cNvSpPr>
          <p:nvPr>
            <p:ph type="title"/>
          </p:nvPr>
        </p:nvSpPr>
        <p:spPr>
          <a:xfrm>
            <a:off x="609600" y="5160336"/>
            <a:ext cx="10972800" cy="1143000"/>
          </a:xfrm>
        </p:spPr>
        <p:txBody>
          <a:bodyPr anchor="ctr"/>
          <a:lstStyle>
            <a:lvl1pPr algn="ctr">
              <a:defRPr sz="4500" b="1" cap="none" baseline="0"/>
            </a:lvl1pPr>
            <a:extLst/>
          </a:lstStyle>
          <a:p>
            <a:r>
              <a:rPr kumimoji="0" lang="en-US"/>
              <a:t>Click to edit Master title style</a:t>
            </a:r>
            <a:endParaRPr kumimoji="0" lang="en-US" dirty="0"/>
          </a:p>
        </p:txBody>
      </p:sp>
    </p:spTree>
    <p:extLst>
      <p:ext uri="{BB962C8B-B14F-4D97-AF65-F5344CB8AC3E}">
        <p14:creationId xmlns:p14="http://schemas.microsoft.com/office/powerpoint/2010/main" val="2812342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1200" userDrawn="1">
          <p15:clr>
            <a:srgbClr val="FBAE40"/>
          </p15:clr>
        </p15:guide>
        <p15:guide id="3" pos="751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 name="Date Placeholder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200">
                <a:solidFill>
                  <a:schemeClr val="tx2"/>
                </a:solidFill>
              </a:defRPr>
            </a:lvl1pPr>
            <a:extLst/>
          </a:lstStyle>
          <a:p>
            <a:fld id="{A93063ED-E45C-4ACA-BFCF-74D8FA5A001B}" type="datetime1">
              <a:rPr lang="en-US" smtClean="0"/>
              <a:t>8/27/2025</a:t>
            </a:fld>
            <a:endParaRPr lang="en-US" dirty="0"/>
          </a:p>
        </p:txBody>
      </p:sp>
      <p:sp>
        <p:nvSpPr>
          <p:cNvPr id="10" name="Footer Placeholder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200">
                <a:solidFill>
                  <a:schemeClr val="tx2"/>
                </a:solidFill>
                <a:effectLst/>
              </a:defRPr>
            </a:lvl1pPr>
            <a:extLst/>
          </a:lstStyle>
          <a:p>
            <a:endParaRPr lang="en-US" dirty="0"/>
          </a:p>
        </p:txBody>
      </p:sp>
      <p:sp>
        <p:nvSpPr>
          <p:cNvPr id="22" name="Slide Number Placeholder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200">
                <a:solidFill>
                  <a:schemeClr val="tx2"/>
                </a:solidFill>
                <a:effectLst/>
              </a:defRPr>
            </a:lvl1pPr>
            <a:extLst/>
          </a:lstStyle>
          <a:p>
            <a:fld id="{401CF334-2D5C-4859-84A6-CA7E6E43FAEB}" type="slidenum">
              <a:rPr lang="en-US" smtClean="0"/>
              <a:pPr/>
              <a:t>‹#›</a:t>
            </a:fld>
            <a:endParaRPr lang="en-US"/>
          </a:p>
        </p:txBody>
      </p:sp>
      <p:sp>
        <p:nvSpPr>
          <p:cNvPr id="3" name="Rectangle 2"/>
          <p:cNvSpPr/>
          <p:nvPr/>
        </p:nvSpPr>
        <p:spPr>
          <a:xfrm>
            <a:off x="0" y="-3632"/>
            <a:ext cx="12188952" cy="6858000"/>
          </a:xfrm>
          <a:prstGeom prst="rect">
            <a:avLst/>
          </a:prstGeom>
          <a:gradFill flip="none" rotWithShape="1">
            <a:gsLst>
              <a:gs pos="0">
                <a:schemeClr val="bg2">
                  <a:lumMod val="90000"/>
                </a:schemeClr>
              </a:gs>
              <a:gs pos="50000">
                <a:schemeClr val="bg2"/>
              </a:gs>
              <a:gs pos="100000">
                <a:schemeClr val="bg1"/>
              </a:gs>
            </a:gsLst>
            <a:path path="circle">
              <a:fillToRect l="100000" t="100000"/>
            </a:path>
            <a:tileRect r="-100000" b="-100000"/>
          </a:gradFill>
          <a:ln>
            <a:noFill/>
          </a:ln>
          <a:effectLst/>
        </p:spPr>
        <p:style>
          <a:lnRef idx="3">
            <a:schemeClr val="lt1"/>
          </a:lnRef>
          <a:fillRef idx="1">
            <a:schemeClr val="accent2"/>
          </a:fillRef>
          <a:effectRef idx="1">
            <a:schemeClr val="accent2"/>
          </a:effectRef>
          <a:fontRef idx="minor">
            <a:schemeClr val="lt1"/>
          </a:fontRef>
        </p:style>
        <p:txBody>
          <a:bodyPr rtlCol="0" anchor="ctr"/>
          <a:lstStyle/>
          <a:p>
            <a:pPr algn="ctr"/>
            <a:endParaRPr lang="en-US" dirty="0"/>
          </a:p>
        </p:txBody>
      </p:sp>
      <p:grpSp>
        <p:nvGrpSpPr>
          <p:cNvPr id="8" name="Group 7"/>
          <p:cNvGrpSpPr/>
          <p:nvPr userDrawn="1"/>
        </p:nvGrpSpPr>
        <p:grpSpPr>
          <a:xfrm>
            <a:off x="-13023" y="-5589"/>
            <a:ext cx="1482350" cy="6868109"/>
            <a:chOff x="-13023" y="-5589"/>
            <a:chExt cx="1482350" cy="6868109"/>
          </a:xfrm>
        </p:grpSpPr>
        <p:grpSp>
          <p:nvGrpSpPr>
            <p:cNvPr id="6" name="Group 5"/>
            <p:cNvGrpSpPr/>
            <p:nvPr userDrawn="1"/>
          </p:nvGrpSpPr>
          <p:grpSpPr>
            <a:xfrm>
              <a:off x="20147" y="-5589"/>
              <a:ext cx="1397008" cy="6858000"/>
              <a:chOff x="1097" y="-4624"/>
              <a:chExt cx="1397008" cy="6857406"/>
            </a:xfrm>
          </p:grpSpPr>
          <p:sp>
            <p:nvSpPr>
              <p:cNvPr id="18" name="Freeform 4"/>
              <p:cNvSpPr>
                <a:spLocks/>
              </p:cNvSpPr>
              <p:nvPr/>
            </p:nvSpPr>
            <p:spPr bwMode="ltGray">
              <a:xfrm flipH="1">
                <a:off x="13149" y="-4624"/>
                <a:ext cx="1367425" cy="6837767"/>
              </a:xfrm>
              <a:custGeom>
                <a:avLst/>
                <a:gdLst>
                  <a:gd name="T0" fmla="*/ 0 w 1000"/>
                  <a:gd name="T1" fmla="*/ 0 h 720"/>
                  <a:gd name="T2" fmla="*/ 0 w 1000"/>
                  <a:gd name="T3" fmla="*/ 720 h 720"/>
                  <a:gd name="T4" fmla="*/ 1000 w 1000"/>
                  <a:gd name="T5" fmla="*/ 720 h 720"/>
                  <a:gd name="T6" fmla="*/ 1000 w 1000"/>
                  <a:gd name="T7" fmla="*/ 0 h 720"/>
                  <a:gd name="T8" fmla="*/ 0 w 1000"/>
                  <a:gd name="T9" fmla="*/ 0 h 720"/>
                </a:gdLst>
                <a:ahLst/>
                <a:cxnLst>
                  <a:cxn ang="0">
                    <a:pos x="T0" y="T1"/>
                  </a:cxn>
                  <a:cxn ang="0">
                    <a:pos x="T2" y="T3"/>
                  </a:cxn>
                  <a:cxn ang="0">
                    <a:pos x="T4" y="T5"/>
                  </a:cxn>
                  <a:cxn ang="0">
                    <a:pos x="T6" y="T7"/>
                  </a:cxn>
                  <a:cxn ang="0">
                    <a:pos x="T8" y="T9"/>
                  </a:cxn>
                </a:cxnLst>
                <a:rect l="0" t="0" r="r" b="b"/>
                <a:pathLst>
                  <a:path w="1000" h="720">
                    <a:moveTo>
                      <a:pt x="0" y="0"/>
                    </a:moveTo>
                    <a:lnTo>
                      <a:pt x="0" y="720"/>
                    </a:lnTo>
                    <a:lnTo>
                      <a:pt x="1000" y="720"/>
                    </a:lnTo>
                    <a:lnTo>
                      <a:pt x="1000" y="0"/>
                    </a:lnTo>
                    <a:lnTo>
                      <a:pt x="0" y="0"/>
                    </a:lnTo>
                    <a:close/>
                  </a:path>
                </a:pathLst>
              </a:custGeom>
              <a:solidFill>
                <a:schemeClr val="accent1"/>
              </a:solidFill>
              <a:ln w="9525">
                <a:solidFill>
                  <a:schemeClr val="tx1"/>
                </a:solidFill>
                <a:round/>
                <a:headEnd/>
                <a:tailEnd/>
              </a:ln>
            </p:spPr>
            <p:txBody>
              <a:bodyPr wrap="none" anchor="ctr"/>
              <a:lstStyle/>
              <a:p>
                <a:endParaRPr lang="en-US"/>
              </a:p>
            </p:txBody>
          </p:sp>
          <p:sp>
            <p:nvSpPr>
              <p:cNvPr id="19" name="Freeform 5"/>
              <p:cNvSpPr>
                <a:spLocks/>
              </p:cNvSpPr>
              <p:nvPr/>
            </p:nvSpPr>
            <p:spPr bwMode="ltGray">
              <a:xfrm flipH="1">
                <a:off x="13149" y="1692618"/>
                <a:ext cx="1367425" cy="501079"/>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w="9525">
                <a:solidFill>
                  <a:schemeClr val="tx1"/>
                </a:solidFill>
                <a:round/>
                <a:headEnd/>
                <a:tailEnd/>
              </a:ln>
            </p:spPr>
            <p:txBody>
              <a:bodyPr wrap="none" anchor="ctr"/>
              <a:lstStyle/>
              <a:p>
                <a:endParaRPr lang="en-US"/>
              </a:p>
            </p:txBody>
          </p:sp>
          <p:sp>
            <p:nvSpPr>
              <p:cNvPr id="20" name="Freeform 6"/>
              <p:cNvSpPr>
                <a:spLocks/>
              </p:cNvSpPr>
              <p:nvPr/>
            </p:nvSpPr>
            <p:spPr bwMode="ltGray">
              <a:xfrm flipH="1">
                <a:off x="14245" y="1286160"/>
                <a:ext cx="1367425" cy="502269"/>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w="9525">
                <a:solidFill>
                  <a:schemeClr val="tx1"/>
                </a:solidFill>
                <a:round/>
                <a:headEnd/>
                <a:tailEnd/>
              </a:ln>
            </p:spPr>
            <p:txBody>
              <a:bodyPr wrap="none" anchor="ctr"/>
              <a:lstStyle/>
              <a:p>
                <a:endParaRPr lang="en-US"/>
              </a:p>
            </p:txBody>
          </p:sp>
          <p:sp>
            <p:nvSpPr>
              <p:cNvPr id="21" name="Freeform 7"/>
              <p:cNvSpPr>
                <a:spLocks/>
              </p:cNvSpPr>
              <p:nvPr/>
            </p:nvSpPr>
            <p:spPr bwMode="ltGray">
              <a:xfrm flipH="1">
                <a:off x="13149" y="148913"/>
                <a:ext cx="1367425" cy="303504"/>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w="9525">
                <a:solidFill>
                  <a:schemeClr val="tx2"/>
                </a:solidFill>
                <a:round/>
                <a:headEnd/>
                <a:tailEnd/>
              </a:ln>
            </p:spPr>
            <p:txBody>
              <a:bodyPr wrap="none" anchor="ctr"/>
              <a:lstStyle/>
              <a:p>
                <a:endParaRPr lang="en-US"/>
              </a:p>
            </p:txBody>
          </p:sp>
          <p:sp>
            <p:nvSpPr>
              <p:cNvPr id="23" name="Freeform 8"/>
              <p:cNvSpPr>
                <a:spLocks/>
              </p:cNvSpPr>
              <p:nvPr/>
            </p:nvSpPr>
            <p:spPr bwMode="ltGray">
              <a:xfrm flipH="1">
                <a:off x="14245" y="983847"/>
                <a:ext cx="1367425" cy="3499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w="9525">
                <a:solidFill>
                  <a:schemeClr val="tx1"/>
                </a:solidFill>
                <a:round/>
                <a:headEnd/>
                <a:tailEnd/>
              </a:ln>
            </p:spPr>
            <p:txBody>
              <a:bodyPr wrap="none" anchor="ctr"/>
              <a:lstStyle/>
              <a:p>
                <a:endParaRPr lang="en-US"/>
              </a:p>
            </p:txBody>
          </p:sp>
          <p:sp>
            <p:nvSpPr>
              <p:cNvPr id="25" name="Freeform 9"/>
              <p:cNvSpPr>
                <a:spLocks/>
              </p:cNvSpPr>
              <p:nvPr/>
            </p:nvSpPr>
            <p:spPr bwMode="ltGray">
              <a:xfrm flipH="1">
                <a:off x="14245" y="679152"/>
                <a:ext cx="1367425" cy="430857"/>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w="9525">
                <a:solidFill>
                  <a:schemeClr val="tx1"/>
                </a:solidFill>
                <a:round/>
                <a:headEnd/>
                <a:tailEnd/>
              </a:ln>
            </p:spPr>
            <p:txBody>
              <a:bodyPr wrap="none" anchor="ctr"/>
              <a:lstStyle/>
              <a:p>
                <a:endParaRPr lang="en-US"/>
              </a:p>
            </p:txBody>
          </p:sp>
          <p:sp>
            <p:nvSpPr>
              <p:cNvPr id="26" name="Freeform 10"/>
              <p:cNvSpPr>
                <a:spLocks/>
              </p:cNvSpPr>
              <p:nvPr/>
            </p:nvSpPr>
            <p:spPr bwMode="ltGray">
              <a:xfrm flipH="1">
                <a:off x="13149" y="371483"/>
                <a:ext cx="1384956" cy="374917"/>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w="9525">
                <a:solidFill>
                  <a:schemeClr val="tx1"/>
                </a:solidFill>
                <a:round/>
                <a:headEnd/>
                <a:tailEnd/>
              </a:ln>
            </p:spPr>
            <p:txBody>
              <a:bodyPr wrap="none" anchor="ctr"/>
              <a:lstStyle/>
              <a:p>
                <a:endParaRPr lang="en-US"/>
              </a:p>
            </p:txBody>
          </p:sp>
          <p:sp>
            <p:nvSpPr>
              <p:cNvPr id="27" name="Freeform 11"/>
              <p:cNvSpPr>
                <a:spLocks/>
              </p:cNvSpPr>
              <p:nvPr/>
            </p:nvSpPr>
            <p:spPr bwMode="ltGray">
              <a:xfrm flipH="1">
                <a:off x="2192" y="3939738"/>
                <a:ext cx="1367425" cy="501079"/>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w="9525">
                <a:solidFill>
                  <a:schemeClr val="tx1"/>
                </a:solidFill>
                <a:round/>
                <a:headEnd/>
                <a:tailEnd/>
              </a:ln>
            </p:spPr>
            <p:txBody>
              <a:bodyPr wrap="none" anchor="ctr"/>
              <a:lstStyle/>
              <a:p>
                <a:endParaRPr lang="en-US"/>
              </a:p>
            </p:txBody>
          </p:sp>
          <p:sp>
            <p:nvSpPr>
              <p:cNvPr id="28" name="Freeform 12"/>
              <p:cNvSpPr>
                <a:spLocks/>
              </p:cNvSpPr>
              <p:nvPr/>
            </p:nvSpPr>
            <p:spPr bwMode="ltGray">
              <a:xfrm flipH="1">
                <a:off x="3288" y="3533280"/>
                <a:ext cx="1367425" cy="502269"/>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w="9525">
                <a:solidFill>
                  <a:schemeClr val="tx1"/>
                </a:solidFill>
                <a:round/>
                <a:headEnd/>
                <a:tailEnd/>
              </a:ln>
            </p:spPr>
            <p:txBody>
              <a:bodyPr wrap="none" anchor="ctr"/>
              <a:lstStyle/>
              <a:p>
                <a:endParaRPr lang="en-US"/>
              </a:p>
            </p:txBody>
          </p:sp>
          <p:sp>
            <p:nvSpPr>
              <p:cNvPr id="29" name="Freeform 13"/>
              <p:cNvSpPr>
                <a:spLocks/>
              </p:cNvSpPr>
              <p:nvPr/>
            </p:nvSpPr>
            <p:spPr bwMode="ltGray">
              <a:xfrm flipH="1">
                <a:off x="2192" y="2394843"/>
                <a:ext cx="1367425" cy="303504"/>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w="9525">
                <a:solidFill>
                  <a:schemeClr val="tx2"/>
                </a:solidFill>
                <a:round/>
                <a:headEnd/>
                <a:tailEnd/>
              </a:ln>
            </p:spPr>
            <p:txBody>
              <a:bodyPr wrap="none" anchor="ctr"/>
              <a:lstStyle/>
              <a:p>
                <a:endParaRPr lang="en-US"/>
              </a:p>
            </p:txBody>
          </p:sp>
          <p:sp>
            <p:nvSpPr>
              <p:cNvPr id="30" name="Freeform 14"/>
              <p:cNvSpPr>
                <a:spLocks/>
              </p:cNvSpPr>
              <p:nvPr/>
            </p:nvSpPr>
            <p:spPr bwMode="ltGray">
              <a:xfrm flipH="1">
                <a:off x="3288" y="3229776"/>
                <a:ext cx="1367425" cy="3499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w="9525">
                <a:solidFill>
                  <a:schemeClr val="tx1"/>
                </a:solidFill>
                <a:round/>
                <a:headEnd/>
                <a:tailEnd/>
              </a:ln>
            </p:spPr>
            <p:txBody>
              <a:bodyPr wrap="none" anchor="ctr"/>
              <a:lstStyle/>
              <a:p>
                <a:endParaRPr lang="en-US"/>
              </a:p>
            </p:txBody>
          </p:sp>
          <p:sp>
            <p:nvSpPr>
              <p:cNvPr id="31" name="Freeform 15"/>
              <p:cNvSpPr>
                <a:spLocks/>
              </p:cNvSpPr>
              <p:nvPr/>
            </p:nvSpPr>
            <p:spPr bwMode="ltGray">
              <a:xfrm flipH="1">
                <a:off x="2192" y="2926868"/>
                <a:ext cx="1367425" cy="429666"/>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w="9525">
                <a:solidFill>
                  <a:schemeClr val="tx1"/>
                </a:solidFill>
                <a:round/>
                <a:headEnd/>
                <a:tailEnd/>
              </a:ln>
            </p:spPr>
            <p:txBody>
              <a:bodyPr wrap="none" anchor="ctr"/>
              <a:lstStyle/>
              <a:p>
                <a:endParaRPr lang="en-US"/>
              </a:p>
            </p:txBody>
          </p:sp>
          <p:sp>
            <p:nvSpPr>
              <p:cNvPr id="32" name="Freeform 16"/>
              <p:cNvSpPr>
                <a:spLocks/>
              </p:cNvSpPr>
              <p:nvPr/>
            </p:nvSpPr>
            <p:spPr bwMode="ltGray">
              <a:xfrm flipH="1">
                <a:off x="3288" y="2616817"/>
                <a:ext cx="1384956" cy="376107"/>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w="9525">
                <a:solidFill>
                  <a:schemeClr val="tx1"/>
                </a:solidFill>
                <a:round/>
                <a:headEnd/>
                <a:tailEnd/>
              </a:ln>
            </p:spPr>
            <p:txBody>
              <a:bodyPr wrap="none" anchor="ctr"/>
              <a:lstStyle/>
              <a:p>
                <a:endParaRPr lang="en-US"/>
              </a:p>
            </p:txBody>
          </p:sp>
          <p:sp>
            <p:nvSpPr>
              <p:cNvPr id="33" name="Freeform 17"/>
              <p:cNvSpPr>
                <a:spLocks/>
              </p:cNvSpPr>
              <p:nvPr/>
            </p:nvSpPr>
            <p:spPr bwMode="ltGray">
              <a:xfrm flipH="1">
                <a:off x="13149" y="4970461"/>
                <a:ext cx="1367425" cy="501079"/>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w="9525">
                <a:solidFill>
                  <a:schemeClr val="tx1"/>
                </a:solidFill>
                <a:round/>
                <a:headEnd/>
                <a:tailEnd/>
              </a:ln>
            </p:spPr>
            <p:txBody>
              <a:bodyPr wrap="none" anchor="ctr"/>
              <a:lstStyle/>
              <a:p>
                <a:endParaRPr lang="en-US"/>
              </a:p>
            </p:txBody>
          </p:sp>
          <p:sp>
            <p:nvSpPr>
              <p:cNvPr id="34" name="Freeform 18"/>
              <p:cNvSpPr>
                <a:spLocks/>
              </p:cNvSpPr>
              <p:nvPr/>
            </p:nvSpPr>
            <p:spPr bwMode="ltGray">
              <a:xfrm flipH="1">
                <a:off x="14245" y="4564004"/>
                <a:ext cx="1367425" cy="502269"/>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w="9525">
                <a:solidFill>
                  <a:schemeClr val="tx1"/>
                </a:solidFill>
                <a:round/>
                <a:headEnd/>
                <a:tailEnd/>
              </a:ln>
            </p:spPr>
            <p:txBody>
              <a:bodyPr wrap="none" anchor="ctr"/>
              <a:lstStyle/>
              <a:p>
                <a:endParaRPr lang="en-US"/>
              </a:p>
            </p:txBody>
          </p:sp>
          <p:sp>
            <p:nvSpPr>
              <p:cNvPr id="35" name="Freeform 19"/>
              <p:cNvSpPr>
                <a:spLocks/>
              </p:cNvSpPr>
              <p:nvPr/>
            </p:nvSpPr>
            <p:spPr bwMode="ltGray">
              <a:xfrm flipH="1">
                <a:off x="2192" y="5672686"/>
                <a:ext cx="1367425" cy="303504"/>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w="9525">
                <a:solidFill>
                  <a:schemeClr val="tx2"/>
                </a:solidFill>
                <a:round/>
                <a:headEnd/>
                <a:tailEnd/>
              </a:ln>
            </p:spPr>
            <p:txBody>
              <a:bodyPr wrap="none" anchor="ctr"/>
              <a:lstStyle/>
              <a:p>
                <a:endParaRPr lang="en-US"/>
              </a:p>
            </p:txBody>
          </p:sp>
          <p:sp>
            <p:nvSpPr>
              <p:cNvPr id="36" name="Freeform 20"/>
              <p:cNvSpPr>
                <a:spLocks/>
              </p:cNvSpPr>
              <p:nvPr/>
            </p:nvSpPr>
            <p:spPr bwMode="ltGray">
              <a:xfrm rot="16200000" flipH="1">
                <a:off x="512729" y="5994798"/>
                <a:ext cx="346352" cy="1369616"/>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Lst>
                <a:ahLst/>
                <a:cxnLst>
                  <a:cxn ang="0">
                    <a:pos x="T0" y="T1"/>
                  </a:cxn>
                  <a:cxn ang="0">
                    <a:pos x="T2" y="T3"/>
                  </a:cxn>
                  <a:cxn ang="0">
                    <a:pos x="T4" y="T5"/>
                  </a:cxn>
                  <a:cxn ang="0">
                    <a:pos x="T6" y="T7"/>
                  </a:cxn>
                  <a:cxn ang="0">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w="9525">
                <a:solidFill>
                  <a:schemeClr val="tx1"/>
                </a:solidFill>
                <a:round/>
                <a:headEnd/>
                <a:tailEnd/>
              </a:ln>
            </p:spPr>
            <p:txBody>
              <a:bodyPr wrap="none" anchor="ctr"/>
              <a:lstStyle/>
              <a:p>
                <a:endParaRPr lang="en-US"/>
              </a:p>
            </p:txBody>
          </p:sp>
          <p:sp>
            <p:nvSpPr>
              <p:cNvPr id="37" name="Freeform 21"/>
              <p:cNvSpPr>
                <a:spLocks/>
              </p:cNvSpPr>
              <p:nvPr/>
            </p:nvSpPr>
            <p:spPr bwMode="ltGray">
              <a:xfrm flipH="1">
                <a:off x="2192" y="6204711"/>
                <a:ext cx="1367425" cy="429666"/>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w="9525">
                <a:solidFill>
                  <a:schemeClr val="tx1"/>
                </a:solidFill>
                <a:round/>
                <a:headEnd/>
                <a:tailEnd/>
              </a:ln>
            </p:spPr>
            <p:txBody>
              <a:bodyPr wrap="none" anchor="ctr"/>
              <a:lstStyle/>
              <a:p>
                <a:endParaRPr lang="en-US"/>
              </a:p>
            </p:txBody>
          </p:sp>
          <p:sp>
            <p:nvSpPr>
              <p:cNvPr id="38" name="Freeform 22"/>
              <p:cNvSpPr>
                <a:spLocks/>
              </p:cNvSpPr>
              <p:nvPr/>
            </p:nvSpPr>
            <p:spPr bwMode="ltGray">
              <a:xfrm flipH="1">
                <a:off x="3288" y="5894661"/>
                <a:ext cx="1384956" cy="376107"/>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w="9525">
                <a:solidFill>
                  <a:schemeClr val="tx1"/>
                </a:solidFill>
                <a:round/>
                <a:headEnd/>
                <a:tailEnd/>
              </a:ln>
            </p:spPr>
            <p:txBody>
              <a:bodyPr wrap="none" anchor="ctr"/>
              <a:lstStyle/>
              <a:p>
                <a:endParaRPr lang="en-US"/>
              </a:p>
            </p:txBody>
          </p:sp>
        </p:grpSp>
        <p:sp>
          <p:nvSpPr>
            <p:cNvPr id="16" name="Freeform 23"/>
            <p:cNvSpPr>
              <a:spLocks/>
            </p:cNvSpPr>
            <p:nvPr/>
          </p:nvSpPr>
          <p:spPr bwMode="ltGray">
            <a:xfrm rot="16200000" flipH="1">
              <a:off x="-2995169" y="2977523"/>
              <a:ext cx="6867143" cy="902851"/>
            </a:xfrm>
            <a:custGeom>
              <a:avLst/>
              <a:gdLst>
                <a:gd name="T0" fmla="*/ 0 w 5762"/>
                <a:gd name="T1" fmla="*/ 196 h 385"/>
                <a:gd name="T2" fmla="*/ 5762 w 5762"/>
                <a:gd name="T3" fmla="*/ 188 h 385"/>
                <a:gd name="T4" fmla="*/ 5762 w 5762"/>
                <a:gd name="T5" fmla="*/ 4 h 385"/>
                <a:gd name="T6" fmla="*/ 0 w 5762"/>
                <a:gd name="T7" fmla="*/ 0 h 385"/>
                <a:gd name="T8" fmla="*/ 0 w 5762"/>
                <a:gd name="T9" fmla="*/ 196 h 385"/>
              </a:gdLst>
              <a:ahLst/>
              <a:cxnLst>
                <a:cxn ang="0">
                  <a:pos x="T0" y="T1"/>
                </a:cxn>
                <a:cxn ang="0">
                  <a:pos x="T2" y="T3"/>
                </a:cxn>
                <a:cxn ang="0">
                  <a:pos x="T4" y="T5"/>
                </a:cxn>
                <a:cxn ang="0">
                  <a:pos x="T6" y="T7"/>
                </a:cxn>
                <a:cxn ang="0">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0" scaled="1"/>
            </a:gradFill>
            <a:ln w="9525" cap="flat">
              <a:no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Freeform 24"/>
            <p:cNvSpPr>
              <a:spLocks/>
            </p:cNvSpPr>
            <p:nvPr/>
          </p:nvSpPr>
          <p:spPr bwMode="ltGray">
            <a:xfrm rot="16200000" flipH="1">
              <a:off x="-2170536" y="3221067"/>
              <a:ext cx="6865553" cy="414172"/>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Lst>
              <a:ahLst/>
              <a:cxnLst>
                <a:cxn ang="0">
                  <a:pos x="T0" y="T1"/>
                </a:cxn>
                <a:cxn ang="0">
                  <a:pos x="T2" y="T3"/>
                </a:cxn>
                <a:cxn ang="0">
                  <a:pos x="T4" y="T5"/>
                </a:cxn>
                <a:cxn ang="0">
                  <a:pos x="T6" y="T7"/>
                </a:cxn>
                <a:cxn ang="0">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0" scaled="1"/>
            </a:gradFill>
            <a:ln w="9525" cap="flat">
              <a:no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9" name="Text Placeholder 8"/>
          <p:cNvSpPr>
            <a:spLocks noGrp="1"/>
          </p:cNvSpPr>
          <p:nvPr userDrawn="1">
            <p:ph type="body" idx="1"/>
          </p:nvPr>
        </p:nvSpPr>
        <p:spPr>
          <a:xfrm>
            <a:off x="1914144" y="1447800"/>
            <a:ext cx="9997440" cy="4800600"/>
          </a:xfrm>
          <a:prstGeom prst="rect">
            <a:avLst/>
          </a:prstGeom>
        </p:spPr>
        <p:txBody>
          <a:bodyPr>
            <a:normAutofit/>
          </a:bodyPr>
          <a:lstStyle/>
          <a:p>
            <a:pPr lvl="0" eaLnBrk="1" latinLnBrk="0" hangingPunct="1"/>
            <a:r>
              <a:rPr kumimoji="0" lang="en-US"/>
              <a:t>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endParaRPr kumimoji="0" lang="en-US" dirty="0"/>
          </a:p>
        </p:txBody>
      </p:sp>
      <p:sp>
        <p:nvSpPr>
          <p:cNvPr id="5" name="Title Placeholder 4"/>
          <p:cNvSpPr>
            <a:spLocks noGrp="1"/>
          </p:cNvSpPr>
          <p:nvPr userDrawn="1">
            <p:ph type="title"/>
          </p:nvPr>
        </p:nvSpPr>
        <p:spPr>
          <a:xfrm>
            <a:off x="1914144" y="274638"/>
            <a:ext cx="9997440" cy="1143000"/>
          </a:xfrm>
          <a:prstGeom prst="rect">
            <a:avLst/>
          </a:prstGeom>
        </p:spPr>
        <p:txBody>
          <a:bodyPr anchor="ctr">
            <a:normAutofit/>
          </a:bodyPr>
          <a:lstStyle/>
          <a:p>
            <a:r>
              <a:rPr kumimoji="0" lang="en-US"/>
              <a:t>Click to edit Master title style</a:t>
            </a:r>
            <a:endParaRPr kumimoji="0" lang="en-US" dirty="0"/>
          </a:p>
        </p:txBody>
      </p:sp>
    </p:spTree>
    <p:extLst>
      <p:ext uri="{BB962C8B-B14F-4D97-AF65-F5344CB8AC3E}">
        <p14:creationId xmlns:p14="http://schemas.microsoft.com/office/powerpoint/2010/main" val="2514842057"/>
      </p:ext>
    </p:extLst>
  </p:cSld>
  <p:clrMap bg1="lt1" tx1="dk1" bg2="lt2" tx2="dk2" accent1="accent1" accent2="accent2" accent3="accent3" accent4="accent4" accent5="accent5" accent6="accent6" hlink="hlink" folHlink="folHlink"/>
  <p:sldLayoutIdLst>
    <p:sldLayoutId id="2147483698" r:id="rId1"/>
    <p:sldLayoutId id="2147483697"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68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hyperlink" Target="http://www.verbicidemagazine.com/wp-content/uploads/2011/09/Oxford-Comma.jpg" TargetMode="Externa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1.xml"/><Relationship Id="rId1" Type="http://schemas.openxmlformats.org/officeDocument/2006/relationships/video" Target="https://www.youtube.com/embed/kUiziVEoi1s" TargetMode="External"/><Relationship Id="rId4" Type="http://schemas.openxmlformats.org/officeDocument/2006/relationships/hyperlink" Target="https://www.youtube.com/watch?v=kUiziVEoi1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1753780" y="375411"/>
            <a:ext cx="10071027" cy="1608839"/>
          </a:xfrm>
        </p:spPr>
        <p:txBody>
          <a:bodyPr>
            <a:noAutofit/>
          </a:bodyPr>
          <a:lstStyle/>
          <a:p>
            <a:pPr algn="ctr"/>
            <a:r>
              <a:rPr lang="en-US" sz="8800" u="sng" dirty="0">
                <a:latin typeface="Calibri" panose="020F0502020204030204" pitchFamily="34" charset="0"/>
              </a:rPr>
              <a:t>Course Introduction</a:t>
            </a:r>
          </a:p>
        </p:txBody>
      </p:sp>
      <p:sp>
        <p:nvSpPr>
          <p:cNvPr id="2" name="TextBox 1">
            <a:extLst>
              <a:ext uri="{FF2B5EF4-FFF2-40B4-BE49-F238E27FC236}">
                <a16:creationId xmlns:a16="http://schemas.microsoft.com/office/drawing/2014/main" id="{63FA763A-849E-46B9-8AEE-24CEB780A7C9}"/>
              </a:ext>
            </a:extLst>
          </p:cNvPr>
          <p:cNvSpPr txBox="1"/>
          <p:nvPr/>
        </p:nvSpPr>
        <p:spPr>
          <a:xfrm>
            <a:off x="2112884" y="3407689"/>
            <a:ext cx="9099613" cy="830997"/>
          </a:xfrm>
          <a:prstGeom prst="rect">
            <a:avLst/>
          </a:prstGeom>
          <a:solidFill>
            <a:schemeClr val="bg1"/>
          </a:solidFill>
          <a:ln>
            <a:solidFill>
              <a:schemeClr val="tx1"/>
            </a:solidFill>
          </a:ln>
        </p:spPr>
        <p:txBody>
          <a:bodyPr wrap="square" rtlCol="0" anchor="ctr" anchorCtr="1">
            <a:spAutoFit/>
          </a:bodyPr>
          <a:lstStyle/>
          <a:p>
            <a:r>
              <a:rPr lang="en-US" sz="4800" dirty="0">
                <a:latin typeface="Abadi" panose="020B0604020202020204" pitchFamily="34" charset="0"/>
              </a:rPr>
              <a:t>Welcome to ENGL 3110</a:t>
            </a:r>
          </a:p>
        </p:txBody>
      </p:sp>
    </p:spTree>
    <p:extLst>
      <p:ext uri="{BB962C8B-B14F-4D97-AF65-F5344CB8AC3E}">
        <p14:creationId xmlns:p14="http://schemas.microsoft.com/office/powerpoint/2010/main" val="4137776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60997" y="1351112"/>
            <a:ext cx="10476826" cy="5040309"/>
          </a:xfrm>
        </p:spPr>
        <p:txBody>
          <a:bodyPr>
            <a:normAutofit/>
          </a:bodyPr>
          <a:lstStyle/>
          <a:p>
            <a:pPr marL="0" marR="0" lvl="0" indent="0">
              <a:lnSpc>
                <a:spcPct val="107000"/>
              </a:lnSpc>
              <a:spcBef>
                <a:spcPts val="0"/>
              </a:spcBef>
              <a:spcAft>
                <a:spcPts val="0"/>
              </a:spcAft>
              <a:buNone/>
            </a:pPr>
            <a:r>
              <a:rPr lang="en-US" dirty="0">
                <a:effectLst/>
                <a:latin typeface="Calibri" panose="020F0502020204030204" pitchFamily="34" charset="0"/>
                <a:ea typeface="Calibri" panose="020F0502020204030204" pitchFamily="34" charset="0"/>
                <a:cs typeface="Times New Roman" panose="02020603050405020304" pitchFamily="18" charset="0"/>
              </a:rPr>
              <a:t>Good things to do while everyone gets here.</a:t>
            </a:r>
          </a:p>
          <a:p>
            <a:pPr marL="742950" marR="0" lvl="1" indent="-285750">
              <a:lnSpc>
                <a:spcPct val="107000"/>
              </a:lnSpc>
              <a:buFont typeface="+mj-lt"/>
              <a:buAutoNum type="alphaLcPeriod"/>
            </a:pPr>
            <a:r>
              <a:rPr lang="en-US" dirty="0">
                <a:effectLst/>
                <a:latin typeface="Calibri" panose="020F0502020204030204" pitchFamily="34" charset="0"/>
                <a:ea typeface="Calibri" panose="020F0502020204030204" pitchFamily="34" charset="0"/>
                <a:cs typeface="Times New Roman" panose="02020603050405020304" pitchFamily="18" charset="0"/>
              </a:rPr>
              <a:t>Explore Canvas</a:t>
            </a:r>
          </a:p>
          <a:p>
            <a:pPr marL="742950" marR="0" lvl="1" indent="-285750">
              <a:lnSpc>
                <a:spcPct val="107000"/>
              </a:lnSpc>
              <a:buFont typeface="+mj-lt"/>
              <a:buAutoNum type="alphaLcPeriod"/>
            </a:pPr>
            <a:r>
              <a:rPr lang="en-US" dirty="0">
                <a:effectLst/>
                <a:latin typeface="Calibri" panose="020F0502020204030204" pitchFamily="34" charset="0"/>
                <a:ea typeface="Calibri" panose="020F0502020204030204" pitchFamily="34" charset="0"/>
                <a:cs typeface="Times New Roman" panose="02020603050405020304" pitchFamily="18" charset="0"/>
              </a:rPr>
              <a:t>Look at the Course Schedule</a:t>
            </a:r>
          </a:p>
          <a:p>
            <a:pPr marL="742950" marR="0" lvl="1" indent="-285750">
              <a:lnSpc>
                <a:spcPct val="107000"/>
              </a:lnSpc>
              <a:buFont typeface="+mj-lt"/>
              <a:buAutoNum type="alphaLcPeriod"/>
            </a:pPr>
            <a:r>
              <a:rPr lang="en-US" dirty="0">
                <a:effectLst/>
                <a:latin typeface="Calibri" panose="020F0502020204030204" pitchFamily="34" charset="0"/>
                <a:ea typeface="Calibri" panose="020F0502020204030204" pitchFamily="34" charset="0"/>
                <a:cs typeface="Times New Roman" panose="02020603050405020304" pitchFamily="18" charset="0"/>
              </a:rPr>
              <a:t>Look over the Syllabus</a:t>
            </a:r>
            <a:endParaRPr lang="en-US" dirty="0">
              <a:latin typeface="Segoe UI" panose="020B0502040204020203" pitchFamily="34" charset="0"/>
              <a:ea typeface="Calibri" panose="020F0502020204030204" pitchFamily="34" charset="0"/>
              <a:cs typeface="Times New Roman" panose="02020603050405020304" pitchFamily="18" charset="0"/>
            </a:endParaRPr>
          </a:p>
          <a:p>
            <a:pPr marL="742950" marR="0" lvl="1" indent="-285750">
              <a:lnSpc>
                <a:spcPct val="107000"/>
              </a:lnSpc>
              <a:buFont typeface="+mj-lt"/>
              <a:buAutoNum type="alphaLcPeriod"/>
            </a:pPr>
            <a:r>
              <a:rPr lang="en-US" dirty="0">
                <a:effectLst/>
                <a:latin typeface="Segoe UI" panose="020B0502040204020203" pitchFamily="34" charset="0"/>
                <a:ea typeface="Calibri" panose="020F0502020204030204" pitchFamily="34" charset="0"/>
                <a:cs typeface="Times New Roman" panose="02020603050405020304" pitchFamily="18" charset="0"/>
              </a:rPr>
              <a:t>Explore the “Resources” on the front page of Canvas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itle 3"/>
          <p:cNvSpPr>
            <a:spLocks noGrp="1"/>
          </p:cNvSpPr>
          <p:nvPr>
            <p:ph type="title"/>
          </p:nvPr>
        </p:nvSpPr>
        <p:spPr/>
        <p:txBody>
          <a:bodyPr>
            <a:normAutofit/>
          </a:bodyPr>
          <a:lstStyle/>
          <a:p>
            <a:r>
              <a:rPr lang="en-US" dirty="0"/>
              <a:t>Please Be Patient!</a:t>
            </a:r>
          </a:p>
        </p:txBody>
      </p:sp>
    </p:spTree>
    <p:extLst>
      <p:ext uri="{BB962C8B-B14F-4D97-AF65-F5344CB8AC3E}">
        <p14:creationId xmlns:p14="http://schemas.microsoft.com/office/powerpoint/2010/main" val="1544953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a:lnSpc>
                <a:spcPct val="150000"/>
              </a:lnSpc>
            </a:pPr>
            <a:r>
              <a:rPr lang="en-US" sz="2800" b="0" dirty="0"/>
              <a:t>Check gradebook. Can you see…</a:t>
            </a:r>
          </a:p>
          <a:p>
            <a:pPr lvl="1">
              <a:lnSpc>
                <a:spcPct val="150000"/>
              </a:lnSpc>
            </a:pPr>
            <a:r>
              <a:rPr lang="en-US" sz="2400" dirty="0"/>
              <a:t>Your attendance at the top</a:t>
            </a:r>
          </a:p>
          <a:p>
            <a:pPr lvl="1">
              <a:lnSpc>
                <a:spcPct val="150000"/>
              </a:lnSpc>
            </a:pPr>
            <a:r>
              <a:rPr lang="en-US" sz="2400" dirty="0"/>
              <a:t>Your total points at the bottom</a:t>
            </a:r>
          </a:p>
          <a:p>
            <a:pPr lvl="1">
              <a:lnSpc>
                <a:spcPct val="150000"/>
              </a:lnSpc>
            </a:pPr>
            <a:r>
              <a:rPr lang="en-US" sz="2400" b="0" dirty="0"/>
              <a:t>Your 10 points for the homework</a:t>
            </a:r>
          </a:p>
          <a:p>
            <a:pPr lvl="2">
              <a:lnSpc>
                <a:spcPct val="150000"/>
              </a:lnSpc>
            </a:pPr>
            <a:r>
              <a:rPr lang="en-US" sz="2000" dirty="0"/>
              <a:t>Take a moment to look at my </a:t>
            </a:r>
            <a:r>
              <a:rPr lang="en-US" sz="2000" b="1" dirty="0"/>
              <a:t>feedback</a:t>
            </a:r>
            <a:r>
              <a:rPr lang="en-US" sz="2000" dirty="0"/>
              <a:t> on the homework</a:t>
            </a:r>
            <a:endParaRPr lang="en-US" sz="2000" b="0" dirty="0"/>
          </a:p>
        </p:txBody>
      </p:sp>
      <p:sp>
        <p:nvSpPr>
          <p:cNvPr id="4" name="Title 3"/>
          <p:cNvSpPr>
            <a:spLocks noGrp="1"/>
          </p:cNvSpPr>
          <p:nvPr>
            <p:ph type="title"/>
          </p:nvPr>
        </p:nvSpPr>
        <p:spPr/>
        <p:txBody>
          <a:bodyPr>
            <a:normAutofit/>
          </a:bodyPr>
          <a:lstStyle/>
          <a:p>
            <a:r>
              <a:rPr lang="en-US" dirty="0"/>
              <a:t>House Keeping</a:t>
            </a:r>
          </a:p>
        </p:txBody>
      </p:sp>
    </p:spTree>
    <p:extLst>
      <p:ext uri="{BB962C8B-B14F-4D97-AF65-F5344CB8AC3E}">
        <p14:creationId xmlns:p14="http://schemas.microsoft.com/office/powerpoint/2010/main" val="738295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EBB71-B487-4075-3B01-532B3F1C2A2F}"/>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F0974FE-8FCF-6A85-77FD-30C73142A48B}"/>
              </a:ext>
            </a:extLst>
          </p:cNvPr>
          <p:cNvSpPr>
            <a:spLocks noGrp="1"/>
          </p:cNvSpPr>
          <p:nvPr>
            <p:ph idx="1"/>
          </p:nvPr>
        </p:nvSpPr>
        <p:spPr>
          <a:xfrm>
            <a:off x="1545841" y="1305716"/>
            <a:ext cx="10476826" cy="5397009"/>
          </a:xfrm>
        </p:spPr>
        <p:txBody>
          <a:bodyPr>
            <a:normAutofit/>
          </a:bodyPr>
          <a:lstStyle/>
          <a:p>
            <a:pPr>
              <a:lnSpc>
                <a:spcPct val="170000"/>
              </a:lnSpc>
              <a:spcBef>
                <a:spcPts val="0"/>
              </a:spcBef>
              <a:spcAft>
                <a:spcPts val="0"/>
              </a:spcAft>
            </a:pPr>
            <a:r>
              <a:rPr lang="en-US" sz="3000" dirty="0"/>
              <a:t>Unit One Schedule</a:t>
            </a:r>
          </a:p>
          <a:p>
            <a:pPr lvl="1">
              <a:lnSpc>
                <a:spcPct val="170000"/>
              </a:lnSpc>
              <a:spcBef>
                <a:spcPts val="0"/>
              </a:spcBef>
              <a:spcAft>
                <a:spcPts val="0"/>
              </a:spcAft>
            </a:pPr>
            <a:r>
              <a:rPr lang="en-US" sz="3000" dirty="0"/>
              <a:t>Homework and Quizzes until Sept 19</a:t>
            </a:r>
            <a:r>
              <a:rPr lang="en-US" sz="3000" baseline="30000" dirty="0"/>
              <a:t>th</a:t>
            </a:r>
            <a:r>
              <a:rPr lang="en-US" sz="3000" dirty="0"/>
              <a:t> </a:t>
            </a:r>
          </a:p>
          <a:p>
            <a:pPr lvl="1">
              <a:lnSpc>
                <a:spcPct val="170000"/>
              </a:lnSpc>
              <a:spcBef>
                <a:spcPts val="0"/>
              </a:spcBef>
              <a:spcAft>
                <a:spcPts val="0"/>
              </a:spcAft>
            </a:pPr>
            <a:r>
              <a:rPr lang="en-US" sz="3000" b="0" dirty="0"/>
              <a:t>Study Guide  - </a:t>
            </a:r>
            <a:r>
              <a:rPr lang="en-US" sz="3000" dirty="0"/>
              <a:t>Sept 22</a:t>
            </a:r>
            <a:r>
              <a:rPr lang="en-US" sz="3000" baseline="30000" dirty="0"/>
              <a:t>nd</a:t>
            </a:r>
            <a:r>
              <a:rPr lang="en-US" sz="3000" dirty="0"/>
              <a:t> </a:t>
            </a:r>
            <a:endParaRPr lang="en-US" sz="3000" b="0" dirty="0"/>
          </a:p>
          <a:p>
            <a:pPr lvl="2">
              <a:lnSpc>
                <a:spcPct val="170000"/>
              </a:lnSpc>
              <a:spcBef>
                <a:spcPts val="0"/>
              </a:spcBef>
              <a:spcAft>
                <a:spcPts val="0"/>
              </a:spcAft>
            </a:pPr>
            <a:r>
              <a:rPr lang="en-US" sz="2600" dirty="0"/>
              <a:t>Due as homework</a:t>
            </a:r>
            <a:endParaRPr lang="en-US" sz="2600" b="0" dirty="0"/>
          </a:p>
          <a:p>
            <a:pPr lvl="1">
              <a:lnSpc>
                <a:spcPct val="170000"/>
              </a:lnSpc>
              <a:spcBef>
                <a:spcPts val="0"/>
              </a:spcBef>
              <a:spcAft>
                <a:spcPts val="0"/>
              </a:spcAft>
            </a:pPr>
            <a:r>
              <a:rPr lang="en-US" sz="3000" dirty="0"/>
              <a:t>Exam – Sept 24</a:t>
            </a:r>
            <a:r>
              <a:rPr lang="en-US" sz="3000" baseline="30000" dirty="0"/>
              <a:t>th</a:t>
            </a:r>
            <a:r>
              <a:rPr lang="en-US" sz="3000" dirty="0"/>
              <a:t> </a:t>
            </a:r>
          </a:p>
          <a:p>
            <a:pPr lvl="2">
              <a:lnSpc>
                <a:spcPct val="170000"/>
              </a:lnSpc>
              <a:spcBef>
                <a:spcPts val="0"/>
              </a:spcBef>
              <a:spcAft>
                <a:spcPts val="0"/>
              </a:spcAft>
            </a:pPr>
            <a:r>
              <a:rPr lang="en-US" sz="2600" dirty="0"/>
              <a:t>Take in class (open note, open book)</a:t>
            </a:r>
          </a:p>
        </p:txBody>
      </p:sp>
      <p:sp>
        <p:nvSpPr>
          <p:cNvPr id="4" name="Title 3">
            <a:extLst>
              <a:ext uri="{FF2B5EF4-FFF2-40B4-BE49-F238E27FC236}">
                <a16:creationId xmlns:a16="http://schemas.microsoft.com/office/drawing/2014/main" id="{4C30C948-2925-B776-3C2F-07308737DBF3}"/>
              </a:ext>
            </a:extLst>
          </p:cNvPr>
          <p:cNvSpPr>
            <a:spLocks noGrp="1"/>
          </p:cNvSpPr>
          <p:nvPr>
            <p:ph type="title"/>
          </p:nvPr>
        </p:nvSpPr>
        <p:spPr/>
        <p:txBody>
          <a:bodyPr>
            <a:normAutofit/>
          </a:bodyPr>
          <a:lstStyle/>
          <a:p>
            <a:r>
              <a:rPr lang="en-US" dirty="0"/>
              <a:t>House Keeping</a:t>
            </a:r>
          </a:p>
        </p:txBody>
      </p:sp>
    </p:spTree>
    <p:extLst>
      <p:ext uri="{BB962C8B-B14F-4D97-AF65-F5344CB8AC3E}">
        <p14:creationId xmlns:p14="http://schemas.microsoft.com/office/powerpoint/2010/main" val="1079255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marL="697230" indent="-514350">
              <a:lnSpc>
                <a:spcPct val="107000"/>
              </a:lnSpc>
              <a:spcBef>
                <a:spcPts val="1200"/>
              </a:spcBef>
              <a:spcAft>
                <a:spcPts val="0"/>
              </a:spcAft>
            </a:pPr>
            <a:r>
              <a:rPr lang="en-US" b="0" dirty="0">
                <a:effectLst/>
                <a:latin typeface="Calibri" panose="020F0502020204030204" pitchFamily="34" charset="0"/>
                <a:ea typeface="Calibri" panose="020F0502020204030204" pitchFamily="34" charset="0"/>
                <a:cs typeface="Times New Roman" panose="02020603050405020304" pitchFamily="18" charset="0"/>
              </a:rPr>
              <a:t>Language is “infinitely generative”</a:t>
            </a:r>
          </a:p>
          <a:p>
            <a:pPr marL="971550" lvl="1"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Sentences can be infinitely long and still grammatically correct</a:t>
            </a:r>
            <a:endParaRPr lang="en-US" b="0" dirty="0">
              <a:effectLst/>
              <a:latin typeface="Calibri" panose="020F0502020204030204" pitchFamily="34" charset="0"/>
              <a:ea typeface="Calibri" panose="020F0502020204030204" pitchFamily="34" charset="0"/>
              <a:cs typeface="Times New Roman" panose="02020603050405020304" pitchFamily="18" charset="0"/>
            </a:endParaRPr>
          </a:p>
          <a:p>
            <a:pPr marL="697230" indent="-514350">
              <a:lnSpc>
                <a:spcPct val="107000"/>
              </a:lnSpc>
              <a:spcBef>
                <a:spcPts val="1200"/>
              </a:spcBef>
              <a:spcAft>
                <a:spcPts val="0"/>
              </a:spcAft>
            </a:pPr>
            <a:endParaRPr lang="en-US" b="0" dirty="0">
              <a:ea typeface="Calibri" panose="020F0502020204030204" pitchFamily="34" charset="0"/>
              <a:cs typeface="Times New Roman" panose="02020603050405020304" pitchFamily="18" charset="0"/>
            </a:endParaRPr>
          </a:p>
          <a:p>
            <a:pPr marL="697230"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Words fall in two categories</a:t>
            </a:r>
          </a:p>
          <a:p>
            <a:pPr marL="971550" lvl="1"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Open Classes (new words can be added all the time)</a:t>
            </a:r>
          </a:p>
          <a:p>
            <a:pPr marL="1218438" lvl="2"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Nouns, </a:t>
            </a:r>
            <a:r>
              <a:rPr lang="en-US" dirty="0">
                <a:ea typeface="Calibri" panose="020F0502020204030204" pitchFamily="34" charset="0"/>
                <a:cs typeface="Times New Roman" panose="02020603050405020304" pitchFamily="18" charset="0"/>
              </a:rPr>
              <a:t>Verbs, Adjectives, Adverbs</a:t>
            </a:r>
            <a:endParaRPr lang="en-US" b="0" dirty="0">
              <a:ea typeface="Calibri" panose="020F0502020204030204" pitchFamily="34" charset="0"/>
              <a:cs typeface="Times New Roman" panose="02020603050405020304" pitchFamily="18" charset="0"/>
            </a:endParaRPr>
          </a:p>
          <a:p>
            <a:pPr marL="971550" lvl="1"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Closed Classes (relatively fixed list over time)</a:t>
            </a:r>
          </a:p>
          <a:p>
            <a:pPr marL="1218438" lvl="2"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Prepositions, Pronouns, Determiners, etc.</a:t>
            </a:r>
          </a:p>
        </p:txBody>
      </p:sp>
      <p:sp>
        <p:nvSpPr>
          <p:cNvPr id="4" name="Title 3"/>
          <p:cNvSpPr>
            <a:spLocks noGrp="1"/>
          </p:cNvSpPr>
          <p:nvPr>
            <p:ph type="title"/>
          </p:nvPr>
        </p:nvSpPr>
        <p:spPr/>
        <p:txBody>
          <a:bodyPr>
            <a:normAutofit/>
          </a:bodyPr>
          <a:lstStyle/>
          <a:p>
            <a:r>
              <a:rPr lang="en-US" dirty="0"/>
              <a:t>Refresher</a:t>
            </a:r>
          </a:p>
        </p:txBody>
      </p:sp>
    </p:spTree>
    <p:extLst>
      <p:ext uri="{BB962C8B-B14F-4D97-AF65-F5344CB8AC3E}">
        <p14:creationId xmlns:p14="http://schemas.microsoft.com/office/powerpoint/2010/main" val="285565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marL="697230"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Core Elements of all Sentences</a:t>
            </a:r>
          </a:p>
          <a:p>
            <a:pPr marL="971550" lvl="1" indent="-514350">
              <a:lnSpc>
                <a:spcPct val="107000"/>
              </a:lnSpc>
              <a:spcBef>
                <a:spcPts val="1200"/>
              </a:spcBef>
              <a:spcAft>
                <a:spcPts val="0"/>
              </a:spcAft>
            </a:pPr>
            <a:r>
              <a:rPr lang="en-US" dirty="0">
                <a:effectLst/>
                <a:latin typeface="Calibri" panose="020F0502020204030204" pitchFamily="34" charset="0"/>
                <a:ea typeface="Calibri" panose="020F0502020204030204" pitchFamily="34" charset="0"/>
                <a:cs typeface="Times New Roman" panose="02020603050405020304" pitchFamily="18" charset="0"/>
              </a:rPr>
              <a:t>Noun (head of a noun phrase - VP)</a:t>
            </a:r>
          </a:p>
          <a:p>
            <a:pPr marL="971550" lvl="1" indent="-514350">
              <a:lnSpc>
                <a:spcPct val="107000"/>
              </a:lnSpc>
              <a:spcBef>
                <a:spcPts val="1200"/>
              </a:spcBef>
              <a:spcAft>
                <a:spcPts val="0"/>
              </a:spcAft>
            </a:pPr>
            <a:r>
              <a:rPr lang="en-US" b="0" dirty="0">
                <a:effectLst/>
                <a:latin typeface="Calibri" panose="020F0502020204030204" pitchFamily="34" charset="0"/>
                <a:ea typeface="Calibri" panose="020F0502020204030204" pitchFamily="34" charset="0"/>
                <a:cs typeface="Times New Roman" panose="02020603050405020304" pitchFamily="18" charset="0"/>
              </a:rPr>
              <a:t>Verb (head of a verb phrase - NP)</a:t>
            </a:r>
          </a:p>
          <a:p>
            <a:pPr marL="697230" indent="-514350">
              <a:lnSpc>
                <a:spcPct val="107000"/>
              </a:lnSpc>
              <a:spcBef>
                <a:spcPts val="1200"/>
              </a:spcBef>
              <a:spcAft>
                <a:spcPts val="0"/>
              </a:spcAft>
            </a:pPr>
            <a:r>
              <a:rPr lang="en-US" dirty="0">
                <a:effectLst/>
                <a:latin typeface="Calibri" panose="020F0502020204030204" pitchFamily="34" charset="0"/>
                <a:ea typeface="Calibri" panose="020F0502020204030204" pitchFamily="34" charset="0"/>
                <a:cs typeface="Times New Roman" panose="02020603050405020304" pitchFamily="18" charset="0"/>
              </a:rPr>
              <a:t>Open-Class Modifiers</a:t>
            </a:r>
          </a:p>
          <a:p>
            <a:pPr marL="971550" lvl="1" indent="-514350">
              <a:lnSpc>
                <a:spcPct val="107000"/>
              </a:lnSpc>
              <a:spcBef>
                <a:spcPts val="1200"/>
              </a:spcBef>
              <a:spcAft>
                <a:spcPts val="0"/>
              </a:spcAft>
            </a:pPr>
            <a:r>
              <a:rPr lang="en-US" b="0" dirty="0">
                <a:effectLst/>
                <a:latin typeface="Calibri" panose="020F0502020204030204" pitchFamily="34" charset="0"/>
                <a:ea typeface="Calibri" panose="020F0502020204030204" pitchFamily="34" charset="0"/>
                <a:cs typeface="Times New Roman" panose="02020603050405020304" pitchFamily="18" charset="0"/>
              </a:rPr>
              <a:t>Adjectives (head of an adjective phrase - AdjP) </a:t>
            </a:r>
          </a:p>
          <a:p>
            <a:pPr marL="1218438" lvl="2" indent="-514350">
              <a:lnSpc>
                <a:spcPct val="107000"/>
              </a:lnSpc>
              <a:spcBef>
                <a:spcPts val="1200"/>
              </a:spcBef>
              <a:spcAft>
                <a:spcPts val="0"/>
              </a:spcAft>
            </a:pPr>
            <a:r>
              <a:rPr lang="en-US" b="0" dirty="0">
                <a:effectLst/>
                <a:latin typeface="Calibri" panose="020F0502020204030204" pitchFamily="34" charset="0"/>
                <a:ea typeface="Calibri" panose="020F0502020204030204" pitchFamily="34" charset="0"/>
                <a:cs typeface="Times New Roman" panose="02020603050405020304" pitchFamily="18" charset="0"/>
              </a:rPr>
              <a:t>Can </a:t>
            </a:r>
            <a:r>
              <a:rPr lang="en-US" dirty="0">
                <a:ea typeface="Calibri" panose="020F0502020204030204" pitchFamily="34" charset="0"/>
                <a:cs typeface="Times New Roman" panose="02020603050405020304" pitchFamily="18" charset="0"/>
              </a:rPr>
              <a:t>m</a:t>
            </a:r>
            <a:r>
              <a:rPr lang="en-US" b="0" dirty="0">
                <a:effectLst/>
                <a:latin typeface="Calibri" panose="020F0502020204030204" pitchFamily="34" charset="0"/>
                <a:ea typeface="Calibri" panose="020F0502020204030204" pitchFamily="34" charset="0"/>
                <a:cs typeface="Times New Roman" panose="02020603050405020304" pitchFamily="18" charset="0"/>
              </a:rPr>
              <a:t>odify nouns, prepositional phrases, or words acting as nouns</a:t>
            </a:r>
          </a:p>
          <a:p>
            <a:pPr marL="971550" lvl="1" indent="-514350">
              <a:lnSpc>
                <a:spcPct val="107000"/>
              </a:lnSpc>
              <a:spcBef>
                <a:spcPts val="1200"/>
              </a:spcBef>
              <a:spcAft>
                <a:spcPts val="0"/>
              </a:spcAft>
            </a:pPr>
            <a:r>
              <a:rPr lang="en-US" b="0" dirty="0">
                <a:effectLst/>
                <a:latin typeface="Calibri" panose="020F0502020204030204" pitchFamily="34" charset="0"/>
                <a:ea typeface="Calibri" panose="020F0502020204030204" pitchFamily="34" charset="0"/>
                <a:cs typeface="Times New Roman" panose="02020603050405020304" pitchFamily="18" charset="0"/>
              </a:rPr>
              <a:t>Adverbs (head of an adverb phrase - </a:t>
            </a:r>
            <a:r>
              <a:rPr lang="en-US" b="0" dirty="0" err="1">
                <a:effectLst/>
                <a:latin typeface="Calibri" panose="020F0502020204030204" pitchFamily="34" charset="0"/>
                <a:ea typeface="Calibri" panose="020F0502020204030204" pitchFamily="34" charset="0"/>
                <a:cs typeface="Times New Roman" panose="02020603050405020304" pitchFamily="18" charset="0"/>
              </a:rPr>
              <a:t>AdvP</a:t>
            </a:r>
            <a:r>
              <a:rPr lang="en-US" b="0" dirty="0">
                <a:effectLst/>
                <a:latin typeface="Calibri" panose="020F0502020204030204" pitchFamily="34" charset="0"/>
                <a:ea typeface="Calibri" panose="020F0502020204030204" pitchFamily="34" charset="0"/>
                <a:cs typeface="Times New Roman" panose="02020603050405020304" pitchFamily="18" charset="0"/>
              </a:rPr>
              <a:t>)</a:t>
            </a:r>
          </a:p>
          <a:p>
            <a:pPr marL="1218438" lvl="2" indent="-514350">
              <a:lnSpc>
                <a:spcPct val="107000"/>
              </a:lnSpc>
              <a:spcBef>
                <a:spcPts val="1200"/>
              </a:spcBef>
              <a:spcAft>
                <a:spcPts val="0"/>
              </a:spcAft>
            </a:pPr>
            <a:r>
              <a:rPr lang="en-US" b="0" dirty="0">
                <a:effectLst/>
                <a:latin typeface="Calibri" panose="020F0502020204030204" pitchFamily="34" charset="0"/>
                <a:ea typeface="Calibri" panose="020F0502020204030204" pitchFamily="34" charset="0"/>
                <a:cs typeface="Times New Roman" panose="02020603050405020304" pitchFamily="18" charset="0"/>
              </a:rPr>
              <a:t>Can modify verbs, adjectives, whole sentences, or other adverbs</a:t>
            </a:r>
          </a:p>
        </p:txBody>
      </p:sp>
      <p:sp>
        <p:nvSpPr>
          <p:cNvPr id="4" name="Title 3"/>
          <p:cNvSpPr>
            <a:spLocks noGrp="1"/>
          </p:cNvSpPr>
          <p:nvPr>
            <p:ph type="title"/>
          </p:nvPr>
        </p:nvSpPr>
        <p:spPr/>
        <p:txBody>
          <a:bodyPr>
            <a:normAutofit/>
          </a:bodyPr>
          <a:lstStyle/>
          <a:p>
            <a:r>
              <a:rPr lang="en-US" dirty="0"/>
              <a:t>Refresher</a:t>
            </a:r>
          </a:p>
        </p:txBody>
      </p:sp>
    </p:spTree>
    <p:extLst>
      <p:ext uri="{BB962C8B-B14F-4D97-AF65-F5344CB8AC3E}">
        <p14:creationId xmlns:p14="http://schemas.microsoft.com/office/powerpoint/2010/main" val="3067214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Sample Diagrams</a:t>
            </a:r>
          </a:p>
        </p:txBody>
      </p:sp>
      <p:pic>
        <p:nvPicPr>
          <p:cNvPr id="1026" name="Picture 2">
            <a:extLst>
              <a:ext uri="{FF2B5EF4-FFF2-40B4-BE49-F238E27FC236}">
                <a16:creationId xmlns:a16="http://schemas.microsoft.com/office/drawing/2014/main" id="{D2C2B43C-2CEF-6986-AA0A-F0D008373A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0996" y="1265234"/>
            <a:ext cx="1890416" cy="21710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64380ED-31C3-01DB-9B7E-0510E7B6F1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5530" y="2086379"/>
            <a:ext cx="3820366" cy="297139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C2310299-6C9B-26AC-11B7-85B43E761E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2314" y="3429001"/>
            <a:ext cx="4307473" cy="2882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5457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marL="697230"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Dialects and Language Standards</a:t>
            </a:r>
          </a:p>
          <a:p>
            <a:pPr marL="971550" lvl="1"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A dialect is a version of a language</a:t>
            </a:r>
          </a:p>
          <a:p>
            <a:pPr marL="1218438" lvl="2"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Could be tiny like “Colorado Springs English”</a:t>
            </a:r>
          </a:p>
          <a:p>
            <a:pPr marL="1218438" lvl="2"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Could be broader like “Caribbean </a:t>
            </a:r>
            <a:r>
              <a:rPr lang="en-US" dirty="0" err="1">
                <a:ea typeface="Calibri" panose="020F0502020204030204" pitchFamily="34" charset="0"/>
                <a:cs typeface="Times New Roman" panose="02020603050405020304" pitchFamily="18" charset="0"/>
              </a:rPr>
              <a:t>Englishes</a:t>
            </a:r>
            <a:r>
              <a:rPr lang="en-US" dirty="0">
                <a:ea typeface="Calibri" panose="020F0502020204030204" pitchFamily="34" charset="0"/>
                <a:cs typeface="Times New Roman" panose="02020603050405020304" pitchFamily="18" charset="0"/>
              </a:rPr>
              <a:t>”</a:t>
            </a:r>
          </a:p>
          <a:p>
            <a:pPr marL="971550" lvl="1" indent="-514350">
              <a:lnSpc>
                <a:spcPct val="107000"/>
              </a:lnSpc>
              <a:spcBef>
                <a:spcPts val="1200"/>
              </a:spcBef>
              <a:spcAft>
                <a:spcPts val="0"/>
              </a:spcAft>
            </a:pPr>
            <a:r>
              <a:rPr lang="en-US" b="0" dirty="0">
                <a:solidFill>
                  <a:srgbClr val="FF0000"/>
                </a:solidFill>
                <a:ea typeface="Calibri" panose="020F0502020204030204" pitchFamily="34" charset="0"/>
                <a:cs typeface="Times New Roman" panose="02020603050405020304" pitchFamily="18" charset="0"/>
              </a:rPr>
              <a:t>No </a:t>
            </a:r>
            <a:r>
              <a:rPr lang="en-US" dirty="0">
                <a:solidFill>
                  <a:srgbClr val="FF0000"/>
                </a:solidFill>
                <a:ea typeface="Calibri" panose="020F0502020204030204" pitchFamily="34" charset="0"/>
                <a:cs typeface="Times New Roman" panose="02020603050405020304" pitchFamily="18" charset="0"/>
              </a:rPr>
              <a:t>dialect is inherently better or worse than any other.</a:t>
            </a:r>
          </a:p>
          <a:p>
            <a:pPr marL="1218438" lvl="2"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All are </a:t>
            </a:r>
            <a:r>
              <a:rPr lang="en-US" dirty="0">
                <a:ea typeface="Calibri" panose="020F0502020204030204" pitchFamily="34" charset="0"/>
                <a:cs typeface="Times New Roman" panose="02020603050405020304" pitchFamily="18" charset="0"/>
              </a:rPr>
              <a:t>internally logical</a:t>
            </a:r>
          </a:p>
          <a:p>
            <a:pPr marL="1218438" lvl="2"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All are</a:t>
            </a:r>
            <a:r>
              <a:rPr lang="en-US" dirty="0">
                <a:ea typeface="Calibri" panose="020F0502020204030204" pitchFamily="34" charset="0"/>
                <a:cs typeface="Times New Roman" panose="02020603050405020304" pitchFamily="18" charset="0"/>
              </a:rPr>
              <a:t> learned and spoken perfectly by native speakers</a:t>
            </a:r>
          </a:p>
          <a:p>
            <a:pPr marL="704088" lvl="2" indent="0">
              <a:lnSpc>
                <a:spcPct val="107000"/>
              </a:lnSpc>
              <a:spcBef>
                <a:spcPts val="1200"/>
              </a:spcBef>
              <a:spcAft>
                <a:spcPts val="0"/>
              </a:spcAft>
              <a:buNone/>
            </a:pPr>
            <a:endParaRPr lang="en-US" b="0" dirty="0">
              <a:ea typeface="Calibri" panose="020F0502020204030204" pitchFamily="34" charset="0"/>
              <a:cs typeface="Times New Roman" panose="02020603050405020304" pitchFamily="18" charset="0"/>
            </a:endParaRPr>
          </a:p>
        </p:txBody>
      </p:sp>
      <p:sp>
        <p:nvSpPr>
          <p:cNvPr id="4" name="Title 3"/>
          <p:cNvSpPr>
            <a:spLocks noGrp="1"/>
          </p:cNvSpPr>
          <p:nvPr>
            <p:ph type="title"/>
          </p:nvPr>
        </p:nvSpPr>
        <p:spPr/>
        <p:txBody>
          <a:bodyPr>
            <a:normAutofit/>
          </a:bodyPr>
          <a:lstStyle/>
          <a:p>
            <a:r>
              <a:rPr lang="en-US" dirty="0"/>
              <a:t>Reading Discussion: Key Concepts</a:t>
            </a:r>
          </a:p>
        </p:txBody>
      </p:sp>
    </p:spTree>
    <p:extLst>
      <p:ext uri="{BB962C8B-B14F-4D97-AF65-F5344CB8AC3E}">
        <p14:creationId xmlns:p14="http://schemas.microsoft.com/office/powerpoint/2010/main" val="2252290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a:bodyPr>
          <a:lstStyle/>
          <a:p>
            <a:pPr marL="697230"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Some Dialects carry “Social Privilege”</a:t>
            </a:r>
          </a:p>
          <a:p>
            <a:pPr marL="971550" lvl="1"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Typically dialects used by groups in positions of power and privilege</a:t>
            </a:r>
          </a:p>
          <a:p>
            <a:pPr marL="971550" lvl="1"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These are then enforced as the “standard” dialect and other dialects become “non-standard.”</a:t>
            </a:r>
          </a:p>
          <a:p>
            <a:pPr marL="971550" lvl="1"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The prestige difference is often a product of colonialism and oppression</a:t>
            </a:r>
          </a:p>
          <a:p>
            <a:pPr marL="971550" lvl="1" indent="-514350">
              <a:lnSpc>
                <a:spcPct val="107000"/>
              </a:lnSpc>
              <a:spcBef>
                <a:spcPts val="1200"/>
              </a:spcBef>
              <a:spcAft>
                <a:spcPts val="0"/>
              </a:spcAft>
            </a:pPr>
            <a:r>
              <a:rPr lang="en-US" b="0" dirty="0">
                <a:solidFill>
                  <a:srgbClr val="FF0000"/>
                </a:solidFill>
                <a:ea typeface="Calibri" panose="020F0502020204030204" pitchFamily="34" charset="0"/>
                <a:cs typeface="Times New Roman" panose="02020603050405020304" pitchFamily="18" charset="0"/>
              </a:rPr>
              <a:t>No </a:t>
            </a:r>
            <a:r>
              <a:rPr lang="en-US" dirty="0">
                <a:solidFill>
                  <a:srgbClr val="FF0000"/>
                </a:solidFill>
                <a:ea typeface="Calibri" panose="020F0502020204030204" pitchFamily="34" charset="0"/>
                <a:cs typeface="Times New Roman" panose="02020603050405020304" pitchFamily="18" charset="0"/>
              </a:rPr>
              <a:t>dialect is inherently better or worse than any other.</a:t>
            </a:r>
          </a:p>
          <a:p>
            <a:pPr marL="971550" lvl="1"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It is a choice to learn or to use elements of other dialects, but it is a choice with many consequences</a:t>
            </a:r>
          </a:p>
        </p:txBody>
      </p:sp>
      <p:sp>
        <p:nvSpPr>
          <p:cNvPr id="4" name="Title 3"/>
          <p:cNvSpPr>
            <a:spLocks noGrp="1"/>
          </p:cNvSpPr>
          <p:nvPr>
            <p:ph type="title"/>
          </p:nvPr>
        </p:nvSpPr>
        <p:spPr/>
        <p:txBody>
          <a:bodyPr>
            <a:normAutofit/>
          </a:bodyPr>
          <a:lstStyle/>
          <a:p>
            <a:r>
              <a:rPr lang="en-US" dirty="0"/>
              <a:t>Reading Discussion: Key Concepts</a:t>
            </a:r>
          </a:p>
        </p:txBody>
      </p:sp>
    </p:spTree>
    <p:extLst>
      <p:ext uri="{BB962C8B-B14F-4D97-AF65-F5344CB8AC3E}">
        <p14:creationId xmlns:p14="http://schemas.microsoft.com/office/powerpoint/2010/main" val="2410106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CAABF-5D6F-5E49-0A87-8502DC081FBE}"/>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54E21B9-278C-3A16-38F3-ACC7E1249B1B}"/>
              </a:ext>
            </a:extLst>
          </p:cNvPr>
          <p:cNvSpPr>
            <a:spLocks noGrp="1"/>
          </p:cNvSpPr>
          <p:nvPr>
            <p:ph idx="1"/>
          </p:nvPr>
        </p:nvSpPr>
        <p:spPr/>
        <p:txBody>
          <a:bodyPr>
            <a:normAutofit/>
          </a:bodyPr>
          <a:lstStyle/>
          <a:p>
            <a:pPr marL="697230"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Dialect</a:t>
            </a:r>
          </a:p>
          <a:p>
            <a:pPr marL="971550" lvl="1"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Emphasizes geography, class, and race</a:t>
            </a:r>
          </a:p>
          <a:p>
            <a:pPr marL="697230"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Speech Community</a:t>
            </a:r>
          </a:p>
          <a:p>
            <a:pPr marL="971550" lvl="1"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Emphasizes culture, identity, and community</a:t>
            </a:r>
          </a:p>
          <a:p>
            <a:pPr marL="697230"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Discourse Community</a:t>
            </a:r>
          </a:p>
          <a:p>
            <a:pPr marL="971550" lvl="1"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Emphasizes writing and reading more.</a:t>
            </a:r>
          </a:p>
          <a:p>
            <a:pPr marL="971550" lvl="1"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Emphasizes schools, careers, hobbies, and other “voluntary” groups</a:t>
            </a:r>
          </a:p>
        </p:txBody>
      </p:sp>
      <p:sp>
        <p:nvSpPr>
          <p:cNvPr id="4" name="Title 3">
            <a:extLst>
              <a:ext uri="{FF2B5EF4-FFF2-40B4-BE49-F238E27FC236}">
                <a16:creationId xmlns:a16="http://schemas.microsoft.com/office/drawing/2014/main" id="{DABA647A-E2EC-12B7-0C3C-C04E0E14188E}"/>
              </a:ext>
            </a:extLst>
          </p:cNvPr>
          <p:cNvSpPr>
            <a:spLocks noGrp="1"/>
          </p:cNvSpPr>
          <p:nvPr>
            <p:ph type="title"/>
          </p:nvPr>
        </p:nvSpPr>
        <p:spPr/>
        <p:txBody>
          <a:bodyPr>
            <a:normAutofit/>
          </a:bodyPr>
          <a:lstStyle/>
          <a:p>
            <a:r>
              <a:rPr lang="en-US" dirty="0"/>
              <a:t>Reading Discussion: Key Concepts</a:t>
            </a:r>
          </a:p>
        </p:txBody>
      </p:sp>
    </p:spTree>
    <p:extLst>
      <p:ext uri="{BB962C8B-B14F-4D97-AF65-F5344CB8AC3E}">
        <p14:creationId xmlns:p14="http://schemas.microsoft.com/office/powerpoint/2010/main" val="1105653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marL="182880" indent="0">
              <a:lnSpc>
                <a:spcPct val="107000"/>
              </a:lnSpc>
              <a:spcBef>
                <a:spcPts val="1200"/>
              </a:spcBef>
              <a:spcAft>
                <a:spcPts val="0"/>
              </a:spcAft>
              <a:buNone/>
            </a:pPr>
            <a:r>
              <a:rPr lang="en-US" b="1" i="0" dirty="0">
                <a:effectLst/>
                <a:latin typeface="Encode Sans"/>
              </a:rPr>
              <a:t>Exercise 1.</a:t>
            </a:r>
            <a:r>
              <a:rPr lang="en-US" b="0" i="0" dirty="0">
                <a:effectLst/>
                <a:latin typeface="Encode Sans"/>
              </a:rPr>
              <a:t> p. 1.7</a:t>
            </a:r>
          </a:p>
          <a:p>
            <a:pPr marL="182880" indent="0">
              <a:lnSpc>
                <a:spcPct val="150000"/>
              </a:lnSpc>
              <a:spcBef>
                <a:spcPts val="1200"/>
              </a:spcBef>
              <a:spcAft>
                <a:spcPts val="0"/>
              </a:spcAft>
              <a:buNone/>
            </a:pPr>
            <a:r>
              <a:rPr lang="en-US" sz="3500" b="0" i="0" dirty="0">
                <a:solidFill>
                  <a:srgbClr val="373D3F"/>
                </a:solidFill>
                <a:effectLst/>
                <a:latin typeface="Encode Sans"/>
              </a:rPr>
              <a:t>The terms </a:t>
            </a:r>
            <a:r>
              <a:rPr lang="en-US" sz="3500" b="0" i="1" dirty="0">
                <a:solidFill>
                  <a:srgbClr val="373D3F"/>
                </a:solidFill>
                <a:effectLst/>
                <a:latin typeface="Encode Sans"/>
              </a:rPr>
              <a:t>first language</a:t>
            </a:r>
            <a:r>
              <a:rPr lang="en-US" sz="3500" b="0" i="0" dirty="0">
                <a:solidFill>
                  <a:srgbClr val="373D3F"/>
                </a:solidFill>
                <a:effectLst/>
                <a:latin typeface="Encode Sans"/>
              </a:rPr>
              <a:t> and </a:t>
            </a:r>
            <a:r>
              <a:rPr lang="en-US" sz="3500" b="0" i="1" dirty="0">
                <a:solidFill>
                  <a:srgbClr val="373D3F"/>
                </a:solidFill>
                <a:effectLst/>
                <a:latin typeface="Encode Sans"/>
              </a:rPr>
              <a:t>L1</a:t>
            </a:r>
            <a:r>
              <a:rPr lang="en-US" sz="3500" b="0" i="0" dirty="0">
                <a:solidFill>
                  <a:srgbClr val="373D3F"/>
                </a:solidFill>
                <a:effectLst/>
                <a:latin typeface="Encode Sans"/>
              </a:rPr>
              <a:t> (or sometimes, </a:t>
            </a:r>
            <a:r>
              <a:rPr lang="en-US" sz="3500" b="0" i="1" dirty="0">
                <a:solidFill>
                  <a:srgbClr val="373D3F"/>
                </a:solidFill>
                <a:effectLst/>
                <a:latin typeface="Encode Sans"/>
              </a:rPr>
              <a:t>native language</a:t>
            </a:r>
            <a:r>
              <a:rPr lang="en-US" sz="3500" b="0" i="0" dirty="0">
                <a:solidFill>
                  <a:srgbClr val="373D3F"/>
                </a:solidFill>
                <a:effectLst/>
                <a:latin typeface="Encode Sans"/>
              </a:rPr>
              <a:t>) refer to the language you learned from the people around you from your very early childhood. Many people have more than one L1. </a:t>
            </a:r>
          </a:p>
        </p:txBody>
      </p:sp>
      <p:sp>
        <p:nvSpPr>
          <p:cNvPr id="4" name="Title 3"/>
          <p:cNvSpPr>
            <a:spLocks noGrp="1"/>
          </p:cNvSpPr>
          <p:nvPr>
            <p:ph type="title"/>
          </p:nvPr>
        </p:nvSpPr>
        <p:spPr/>
        <p:txBody>
          <a:bodyPr>
            <a:normAutofit/>
          </a:bodyPr>
          <a:lstStyle/>
          <a:p>
            <a:r>
              <a:rPr lang="en-US" dirty="0"/>
              <a:t>Homework Discussion</a:t>
            </a:r>
          </a:p>
        </p:txBody>
      </p:sp>
    </p:spTree>
    <p:extLst>
      <p:ext uri="{BB962C8B-B14F-4D97-AF65-F5344CB8AC3E}">
        <p14:creationId xmlns:p14="http://schemas.microsoft.com/office/powerpoint/2010/main" val="1098240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85000" lnSpcReduction="20000"/>
          </a:bodyPr>
          <a:lstStyle/>
          <a:p>
            <a:pPr marL="640080" indent="-457200">
              <a:lnSpc>
                <a:spcPct val="107000"/>
              </a:lnSpc>
              <a:spcBef>
                <a:spcPts val="1200"/>
              </a:spcBef>
              <a:spcAft>
                <a:spcPts val="0"/>
              </a:spcAft>
            </a:pPr>
            <a:r>
              <a:rPr lang="en-US" sz="3300" b="0" dirty="0">
                <a:solidFill>
                  <a:srgbClr val="373D3F"/>
                </a:solidFill>
                <a:latin typeface="Encode Sans"/>
              </a:rPr>
              <a:t>What is your L1? Do you have more than one? </a:t>
            </a:r>
          </a:p>
          <a:p>
            <a:pPr marL="914400" lvl="1" indent="-457200">
              <a:lnSpc>
                <a:spcPct val="107000"/>
              </a:lnSpc>
              <a:spcBef>
                <a:spcPts val="1200"/>
              </a:spcBef>
              <a:spcAft>
                <a:spcPts val="0"/>
              </a:spcAft>
            </a:pPr>
            <a:r>
              <a:rPr lang="en-US" sz="3200" i="1" dirty="0">
                <a:solidFill>
                  <a:srgbClr val="373D3F"/>
                </a:solidFill>
                <a:latin typeface="Encode Sans"/>
              </a:rPr>
              <a:t>What “dialects” of your L1 (or L1s) do you use?</a:t>
            </a:r>
            <a:endParaRPr lang="en-US" b="0" i="1" dirty="0">
              <a:ea typeface="Calibri" panose="020F0502020204030204" pitchFamily="34" charset="0"/>
              <a:cs typeface="Times New Roman" panose="02020603050405020304" pitchFamily="18" charset="0"/>
            </a:endParaRPr>
          </a:p>
          <a:p>
            <a:pPr marL="697230" indent="-514350">
              <a:lnSpc>
                <a:spcPct val="107000"/>
              </a:lnSpc>
              <a:spcBef>
                <a:spcPts val="1200"/>
              </a:spcBef>
              <a:spcAft>
                <a:spcPts val="0"/>
              </a:spcAft>
            </a:pPr>
            <a:endParaRPr lang="en-US" b="0" dirty="0">
              <a:ea typeface="Calibri" panose="020F0502020204030204" pitchFamily="34" charset="0"/>
              <a:cs typeface="Times New Roman" panose="02020603050405020304" pitchFamily="18" charset="0"/>
            </a:endParaRPr>
          </a:p>
          <a:p>
            <a:pPr marL="697230"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What “language varieties” can you speak or borrow from?</a:t>
            </a:r>
          </a:p>
          <a:p>
            <a:pPr marL="971550" lvl="1"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Dialects, Discourse Communities, or Speech Communities</a:t>
            </a:r>
          </a:p>
          <a:p>
            <a:pPr marL="697230" indent="-514350">
              <a:lnSpc>
                <a:spcPct val="107000"/>
              </a:lnSpc>
              <a:spcBef>
                <a:spcPts val="1200"/>
              </a:spcBef>
              <a:spcAft>
                <a:spcPts val="0"/>
              </a:spcAft>
            </a:pPr>
            <a:endParaRPr lang="en-US" b="0" dirty="0">
              <a:ea typeface="Calibri" panose="020F0502020204030204" pitchFamily="34" charset="0"/>
              <a:cs typeface="Times New Roman" panose="02020603050405020304" pitchFamily="18" charset="0"/>
            </a:endParaRPr>
          </a:p>
          <a:p>
            <a:pPr marL="697230"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What are the contexts where you typically use these varieties?</a:t>
            </a:r>
          </a:p>
          <a:p>
            <a:pPr marL="697230" indent="-514350">
              <a:lnSpc>
                <a:spcPct val="107000"/>
              </a:lnSpc>
              <a:spcBef>
                <a:spcPts val="1200"/>
              </a:spcBef>
              <a:spcAft>
                <a:spcPts val="0"/>
              </a:spcAft>
            </a:pPr>
            <a:endParaRPr lang="en-US" b="0" dirty="0">
              <a:ea typeface="Calibri" panose="020F0502020204030204" pitchFamily="34" charset="0"/>
              <a:cs typeface="Times New Roman" panose="02020603050405020304" pitchFamily="18" charset="0"/>
            </a:endParaRPr>
          </a:p>
          <a:p>
            <a:pPr marL="697230"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What are the consequences (positive or negative) of using these dialects in other contexts?</a:t>
            </a:r>
          </a:p>
        </p:txBody>
      </p:sp>
      <p:sp>
        <p:nvSpPr>
          <p:cNvPr id="4" name="Title 3"/>
          <p:cNvSpPr>
            <a:spLocks noGrp="1"/>
          </p:cNvSpPr>
          <p:nvPr>
            <p:ph type="title"/>
          </p:nvPr>
        </p:nvSpPr>
        <p:spPr/>
        <p:txBody>
          <a:bodyPr>
            <a:normAutofit/>
          </a:bodyPr>
          <a:lstStyle/>
          <a:p>
            <a:r>
              <a:rPr lang="en-US" dirty="0"/>
              <a:t>Group Discussion</a:t>
            </a:r>
          </a:p>
        </p:txBody>
      </p:sp>
    </p:spTree>
    <p:extLst>
      <p:ext uri="{BB962C8B-B14F-4D97-AF65-F5344CB8AC3E}">
        <p14:creationId xmlns:p14="http://schemas.microsoft.com/office/powerpoint/2010/main" val="773041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marL="697230" indent="-514350">
              <a:lnSpc>
                <a:spcPct val="107000"/>
              </a:lnSpc>
              <a:spcBef>
                <a:spcPts val="1200"/>
              </a:spcBef>
              <a:spcAft>
                <a:spcPts val="0"/>
              </a:spcAft>
              <a:buFont typeface="+mj-lt"/>
              <a:buAutoNum type="arabicPeriod"/>
            </a:pPr>
            <a:r>
              <a:rPr lang="en-US" b="0" dirty="0">
                <a:ea typeface="Calibri" panose="020F0502020204030204" pitchFamily="34" charset="0"/>
                <a:cs typeface="Times New Roman" panose="02020603050405020304" pitchFamily="18" charset="0"/>
              </a:rPr>
              <a:t>1.4.1 on page 1.5</a:t>
            </a:r>
          </a:p>
          <a:p>
            <a:pPr algn="l">
              <a:lnSpc>
                <a:spcPct val="150000"/>
              </a:lnSpc>
            </a:pPr>
            <a:r>
              <a:rPr lang="en-US" sz="3000" b="0" i="0" dirty="0">
                <a:solidFill>
                  <a:srgbClr val="333333"/>
                </a:solidFill>
                <a:effectLst/>
                <a:latin typeface="Arial" panose="020B0604020202020204" pitchFamily="34" charset="0"/>
              </a:rPr>
              <a:t>This section describes some ways that language science has done harm to minoritized groups of people. Think about what you know about other </a:t>
            </a:r>
            <a:r>
              <a:rPr lang="en-US" sz="3000" b="0" i="0" u="sng" dirty="0">
                <a:solidFill>
                  <a:srgbClr val="333333"/>
                </a:solidFill>
                <a:effectLst/>
                <a:latin typeface="Arial" panose="020B0604020202020204" pitchFamily="34" charset="0"/>
              </a:rPr>
              <a:t>social sciences </a:t>
            </a:r>
            <a:r>
              <a:rPr lang="en-US" sz="3000" b="0" i="0" dirty="0">
                <a:solidFill>
                  <a:srgbClr val="333333"/>
                </a:solidFill>
                <a:effectLst/>
                <a:latin typeface="Arial" panose="020B0604020202020204" pitchFamily="34" charset="0"/>
              </a:rPr>
              <a:t>(such as anthropology, sociology, psychology), life sciences (physiology, biology, neuroscience, etc.) or physical sciences (geology, physics, chemistry, etc.). </a:t>
            </a:r>
          </a:p>
        </p:txBody>
      </p:sp>
      <p:sp>
        <p:nvSpPr>
          <p:cNvPr id="4" name="Title 3"/>
          <p:cNvSpPr>
            <a:spLocks noGrp="1"/>
          </p:cNvSpPr>
          <p:nvPr>
            <p:ph type="title"/>
          </p:nvPr>
        </p:nvSpPr>
        <p:spPr/>
        <p:txBody>
          <a:bodyPr>
            <a:normAutofit/>
          </a:bodyPr>
          <a:lstStyle/>
          <a:p>
            <a:r>
              <a:rPr lang="en-US" dirty="0"/>
              <a:t>Homework Discussion</a:t>
            </a:r>
          </a:p>
        </p:txBody>
      </p:sp>
    </p:spTree>
    <p:extLst>
      <p:ext uri="{BB962C8B-B14F-4D97-AF65-F5344CB8AC3E}">
        <p14:creationId xmlns:p14="http://schemas.microsoft.com/office/powerpoint/2010/main" val="101157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FD0E5-E8A6-0236-B9D8-59672DBAFC5B}"/>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1E81C56-E5AB-9C6E-AC12-286F419CDFF1}"/>
              </a:ext>
            </a:extLst>
          </p:cNvPr>
          <p:cNvSpPr>
            <a:spLocks noGrp="1"/>
          </p:cNvSpPr>
          <p:nvPr>
            <p:ph idx="1"/>
          </p:nvPr>
        </p:nvSpPr>
        <p:spPr/>
        <p:txBody>
          <a:bodyPr>
            <a:normAutofit/>
          </a:bodyPr>
          <a:lstStyle/>
          <a:p>
            <a:pPr marL="697230" indent="-514350">
              <a:lnSpc>
                <a:spcPct val="107000"/>
              </a:lnSpc>
              <a:spcBef>
                <a:spcPts val="1200"/>
              </a:spcBef>
              <a:spcAft>
                <a:spcPts val="0"/>
              </a:spcAft>
              <a:buFont typeface="+mj-lt"/>
              <a:buAutoNum type="arabicPeriod"/>
            </a:pPr>
            <a:r>
              <a:rPr lang="en-US" b="0" dirty="0">
                <a:ea typeface="Calibri" panose="020F0502020204030204" pitchFamily="34" charset="0"/>
                <a:cs typeface="Times New Roman" panose="02020603050405020304" pitchFamily="18" charset="0"/>
              </a:rPr>
              <a:t>1.4.1 on page 1.5</a:t>
            </a:r>
          </a:p>
          <a:p>
            <a:pPr marL="402336" lvl="1" indent="0">
              <a:lnSpc>
                <a:spcPct val="150000"/>
              </a:lnSpc>
              <a:buNone/>
            </a:pPr>
            <a:endParaRPr lang="en-US" sz="3000" b="0" i="0" dirty="0">
              <a:solidFill>
                <a:srgbClr val="333333"/>
              </a:solidFill>
              <a:effectLst/>
              <a:latin typeface="Arial" panose="020B0604020202020204" pitchFamily="34" charset="0"/>
            </a:endParaRPr>
          </a:p>
          <a:p>
            <a:pPr lvl="1">
              <a:lnSpc>
                <a:spcPct val="150000"/>
              </a:lnSpc>
            </a:pPr>
            <a:r>
              <a:rPr lang="en-US" sz="3000" b="0" i="0" dirty="0">
                <a:solidFill>
                  <a:srgbClr val="333333"/>
                </a:solidFill>
                <a:effectLst/>
                <a:latin typeface="Arial" panose="020B0604020202020204" pitchFamily="34" charset="0"/>
              </a:rPr>
              <a:t>What are some steps scientists in these fields could take to lessen or even repair these harms?</a:t>
            </a:r>
            <a:endParaRPr lang="en-US" sz="3000" b="0" dirty="0">
              <a:ea typeface="Calibri" panose="020F0502020204030204" pitchFamily="34" charset="0"/>
              <a:cs typeface="Times New Roman" panose="02020603050405020304" pitchFamily="18" charset="0"/>
            </a:endParaRPr>
          </a:p>
        </p:txBody>
      </p:sp>
      <p:sp>
        <p:nvSpPr>
          <p:cNvPr id="4" name="Title 3">
            <a:extLst>
              <a:ext uri="{FF2B5EF4-FFF2-40B4-BE49-F238E27FC236}">
                <a16:creationId xmlns:a16="http://schemas.microsoft.com/office/drawing/2014/main" id="{6F0806F1-8D8E-C103-D3ED-15410E1AA0F6}"/>
              </a:ext>
            </a:extLst>
          </p:cNvPr>
          <p:cNvSpPr>
            <a:spLocks noGrp="1"/>
          </p:cNvSpPr>
          <p:nvPr>
            <p:ph type="title"/>
          </p:nvPr>
        </p:nvSpPr>
        <p:spPr/>
        <p:txBody>
          <a:bodyPr>
            <a:normAutofit/>
          </a:bodyPr>
          <a:lstStyle/>
          <a:p>
            <a:r>
              <a:rPr lang="en-US" dirty="0"/>
              <a:t>Homework Discussion</a:t>
            </a:r>
          </a:p>
        </p:txBody>
      </p:sp>
    </p:spTree>
    <p:extLst>
      <p:ext uri="{BB962C8B-B14F-4D97-AF65-F5344CB8AC3E}">
        <p14:creationId xmlns:p14="http://schemas.microsoft.com/office/powerpoint/2010/main" val="3259211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03FA8-3BF5-0062-996C-870C942C3BB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E2B24F2-8416-3453-E64C-3AA10962560B}"/>
              </a:ext>
            </a:extLst>
          </p:cNvPr>
          <p:cNvSpPr>
            <a:spLocks noGrp="1"/>
          </p:cNvSpPr>
          <p:nvPr>
            <p:ph idx="1"/>
          </p:nvPr>
        </p:nvSpPr>
        <p:spPr/>
        <p:txBody>
          <a:bodyPr>
            <a:normAutofit/>
          </a:bodyPr>
          <a:lstStyle/>
          <a:p>
            <a:pPr marL="182880" indent="0">
              <a:lnSpc>
                <a:spcPct val="107000"/>
              </a:lnSpc>
              <a:spcBef>
                <a:spcPts val="1200"/>
              </a:spcBef>
              <a:spcAft>
                <a:spcPts val="0"/>
              </a:spcAft>
              <a:buNone/>
            </a:pPr>
            <a:r>
              <a:rPr lang="en-US" b="1" i="0" dirty="0">
                <a:effectLst/>
                <a:latin typeface="Encode Sans"/>
              </a:rPr>
              <a:t>Exercise 1.</a:t>
            </a:r>
            <a:r>
              <a:rPr lang="en-US" b="0" i="0" dirty="0">
                <a:effectLst/>
                <a:latin typeface="Encode Sans"/>
              </a:rPr>
              <a:t> p. 1.7</a:t>
            </a:r>
          </a:p>
          <a:p>
            <a:pPr marL="640080" indent="-457200">
              <a:lnSpc>
                <a:spcPct val="150000"/>
              </a:lnSpc>
              <a:spcBef>
                <a:spcPts val="1200"/>
              </a:spcBef>
              <a:spcAft>
                <a:spcPts val="0"/>
              </a:spcAft>
            </a:pPr>
            <a:r>
              <a:rPr lang="en-US" sz="3600" b="0" i="0" dirty="0">
                <a:solidFill>
                  <a:srgbClr val="373D3F"/>
                </a:solidFill>
                <a:effectLst/>
                <a:latin typeface="Encode Sans"/>
              </a:rPr>
              <a:t>Make two scientific observations about your L1. Remember that scientific observations are descriptive, not prescriptive.</a:t>
            </a:r>
            <a:endParaRPr lang="en-US" sz="3600" b="0" i="0" dirty="0">
              <a:solidFill>
                <a:srgbClr val="333333"/>
              </a:solidFill>
              <a:effectLst/>
              <a:latin typeface="Arial" panose="020B0604020202020204" pitchFamily="34" charset="0"/>
            </a:endParaRPr>
          </a:p>
        </p:txBody>
      </p:sp>
      <p:sp>
        <p:nvSpPr>
          <p:cNvPr id="4" name="Title 3">
            <a:extLst>
              <a:ext uri="{FF2B5EF4-FFF2-40B4-BE49-F238E27FC236}">
                <a16:creationId xmlns:a16="http://schemas.microsoft.com/office/drawing/2014/main" id="{55CD7459-C02F-EE93-C460-87A8C4A99B38}"/>
              </a:ext>
            </a:extLst>
          </p:cNvPr>
          <p:cNvSpPr>
            <a:spLocks noGrp="1"/>
          </p:cNvSpPr>
          <p:nvPr>
            <p:ph type="title"/>
          </p:nvPr>
        </p:nvSpPr>
        <p:spPr/>
        <p:txBody>
          <a:bodyPr>
            <a:normAutofit/>
          </a:bodyPr>
          <a:lstStyle/>
          <a:p>
            <a:r>
              <a:rPr lang="en-US" dirty="0"/>
              <a:t>Homework Discussion</a:t>
            </a:r>
          </a:p>
        </p:txBody>
      </p:sp>
    </p:spTree>
    <p:extLst>
      <p:ext uri="{BB962C8B-B14F-4D97-AF65-F5344CB8AC3E}">
        <p14:creationId xmlns:p14="http://schemas.microsoft.com/office/powerpoint/2010/main" val="678957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marL="697230" indent="-514350">
              <a:lnSpc>
                <a:spcPct val="107000"/>
              </a:lnSpc>
              <a:spcBef>
                <a:spcPts val="1200"/>
              </a:spcBef>
              <a:spcAft>
                <a:spcPts val="0"/>
              </a:spcAft>
            </a:pPr>
            <a:r>
              <a:rPr lang="en-US" b="0" dirty="0">
                <a:solidFill>
                  <a:srgbClr val="FF0000"/>
                </a:solidFill>
                <a:ea typeface="Calibri" panose="020F0502020204030204" pitchFamily="34" charset="0"/>
                <a:cs typeface="Times New Roman" panose="02020603050405020304" pitchFamily="18" charset="0"/>
              </a:rPr>
              <a:t>Languages Change over Time</a:t>
            </a:r>
          </a:p>
          <a:p>
            <a:pPr marL="971550" lvl="1"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Older is not “better” than new</a:t>
            </a:r>
          </a:p>
          <a:p>
            <a:pPr marL="971550" lvl="1"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Efforts to maintain “purity” </a:t>
            </a:r>
            <a:r>
              <a:rPr lang="fr-FR" dirty="0">
                <a:solidFill>
                  <a:srgbClr val="000000"/>
                </a:solidFill>
                <a:highlight>
                  <a:srgbClr val="F4F6F7"/>
                </a:highlight>
                <a:latin typeface="Palatino"/>
              </a:rPr>
              <a:t>are </a:t>
            </a:r>
            <a:r>
              <a:rPr lang="fr-FR" dirty="0" err="1">
                <a:solidFill>
                  <a:srgbClr val="000000"/>
                </a:solidFill>
                <a:highlight>
                  <a:srgbClr val="F4F6F7"/>
                </a:highlight>
                <a:latin typeface="Palatino"/>
              </a:rPr>
              <a:t>unlikely</a:t>
            </a:r>
            <a:r>
              <a:rPr lang="fr-FR" dirty="0">
                <a:solidFill>
                  <a:srgbClr val="000000"/>
                </a:solidFill>
                <a:highlight>
                  <a:srgbClr val="F4F6F7"/>
                </a:highlight>
                <a:latin typeface="Palatino"/>
              </a:rPr>
              <a:t> to </a:t>
            </a:r>
            <a:r>
              <a:rPr lang="fr-FR" dirty="0" err="1">
                <a:solidFill>
                  <a:srgbClr val="000000"/>
                </a:solidFill>
                <a:highlight>
                  <a:srgbClr val="F4F6F7"/>
                </a:highlight>
                <a:latin typeface="Palatino"/>
              </a:rPr>
              <a:t>make</a:t>
            </a:r>
            <a:r>
              <a:rPr lang="fr-FR" dirty="0">
                <a:solidFill>
                  <a:srgbClr val="000000"/>
                </a:solidFill>
                <a:highlight>
                  <a:srgbClr val="F4F6F7"/>
                </a:highlight>
                <a:latin typeface="Palatino"/>
              </a:rPr>
              <a:t> a dent</a:t>
            </a:r>
          </a:p>
          <a:p>
            <a:pPr marL="1218438" lvl="2" indent="-514350">
              <a:lnSpc>
                <a:spcPct val="107000"/>
              </a:lnSpc>
              <a:spcBef>
                <a:spcPts val="1200"/>
              </a:spcBef>
              <a:spcAft>
                <a:spcPts val="0"/>
              </a:spcAft>
            </a:pPr>
            <a:r>
              <a:rPr lang="fr-FR" b="0" i="1" dirty="0">
                <a:solidFill>
                  <a:srgbClr val="000000"/>
                </a:solidFill>
                <a:effectLst/>
                <a:highlight>
                  <a:srgbClr val="F4F6F7"/>
                </a:highlight>
                <a:latin typeface="Palatino"/>
              </a:rPr>
              <a:t>Délégation générale à la langue française et aux langues de France</a:t>
            </a:r>
            <a:endParaRPr lang="en-US" dirty="0">
              <a:ea typeface="Calibri" panose="020F0502020204030204" pitchFamily="34" charset="0"/>
              <a:cs typeface="Times New Roman" panose="02020603050405020304" pitchFamily="18" charset="0"/>
            </a:endParaRPr>
          </a:p>
          <a:p>
            <a:pPr marL="971550" lvl="1"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Trying to enforce standards from the past is a form of prescriptivism</a:t>
            </a:r>
          </a:p>
          <a:p>
            <a:pPr marL="971550" lvl="1"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From a descriptive linguistic perspective, change is not </a:t>
            </a:r>
            <a:r>
              <a:rPr lang="en-US" b="0" u="sng" dirty="0">
                <a:ea typeface="Calibri" panose="020F0502020204030204" pitchFamily="34" charset="0"/>
                <a:cs typeface="Times New Roman" panose="02020603050405020304" pitchFamily="18" charset="0"/>
              </a:rPr>
              <a:t>bad</a:t>
            </a:r>
            <a:r>
              <a:rPr lang="en-US" b="0" dirty="0">
                <a:ea typeface="Calibri" panose="020F0502020204030204" pitchFamily="34" charset="0"/>
                <a:cs typeface="Times New Roman" panose="02020603050405020304" pitchFamily="18" charset="0"/>
              </a:rPr>
              <a:t>. It just is.</a:t>
            </a:r>
          </a:p>
        </p:txBody>
      </p:sp>
      <p:sp>
        <p:nvSpPr>
          <p:cNvPr id="4" name="Title 3"/>
          <p:cNvSpPr>
            <a:spLocks noGrp="1"/>
          </p:cNvSpPr>
          <p:nvPr>
            <p:ph type="title"/>
          </p:nvPr>
        </p:nvSpPr>
        <p:spPr/>
        <p:txBody>
          <a:bodyPr>
            <a:normAutofit/>
          </a:bodyPr>
          <a:lstStyle/>
          <a:p>
            <a:r>
              <a:rPr lang="en-US" dirty="0"/>
              <a:t>Reading Discussion: Key Concepts</a:t>
            </a:r>
          </a:p>
        </p:txBody>
      </p:sp>
    </p:spTree>
    <p:extLst>
      <p:ext uri="{BB962C8B-B14F-4D97-AF65-F5344CB8AC3E}">
        <p14:creationId xmlns:p14="http://schemas.microsoft.com/office/powerpoint/2010/main" val="1364190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45841" y="1305716"/>
            <a:ext cx="10476826" cy="5265413"/>
          </a:xfrm>
        </p:spPr>
        <p:txBody>
          <a:bodyPr>
            <a:normAutofit fontScale="85000" lnSpcReduction="20000"/>
          </a:bodyPr>
          <a:lstStyle/>
          <a:p>
            <a:pPr marL="182880" indent="0">
              <a:lnSpc>
                <a:spcPct val="107000"/>
              </a:lnSpc>
              <a:spcBef>
                <a:spcPts val="1200"/>
              </a:spcBef>
              <a:spcAft>
                <a:spcPts val="0"/>
              </a:spcAft>
              <a:buNone/>
            </a:pPr>
            <a:r>
              <a:rPr lang="en-US" b="0" dirty="0">
                <a:ea typeface="Calibri" panose="020F0502020204030204" pitchFamily="34" charset="0"/>
                <a:cs typeface="Times New Roman" panose="02020603050405020304" pitchFamily="18" charset="0"/>
              </a:rPr>
              <a:t>-</a:t>
            </a:r>
            <a:r>
              <a:rPr lang="en-US" sz="3800" b="0" dirty="0">
                <a:ea typeface="Calibri" panose="020F0502020204030204" pitchFamily="34" charset="0"/>
                <a:cs typeface="Times New Roman" panose="02020603050405020304" pitchFamily="18" charset="0"/>
              </a:rPr>
              <a:t> Douglas Rushkoff, 2013</a:t>
            </a:r>
          </a:p>
          <a:p>
            <a:pPr marL="457200" lvl="1" indent="0">
              <a:lnSpc>
                <a:spcPct val="160000"/>
              </a:lnSpc>
              <a:spcBef>
                <a:spcPts val="1200"/>
              </a:spcBef>
              <a:spcAft>
                <a:spcPts val="0"/>
              </a:spcAft>
              <a:buNone/>
            </a:pPr>
            <a:r>
              <a:rPr lang="en-US" sz="4100" b="0" dirty="0">
                <a:latin typeface="Times New Roman" panose="02020603050405020304" pitchFamily="18" charset="0"/>
                <a:ea typeface="Calibri" panose="020F0502020204030204" pitchFamily="34" charset="0"/>
                <a:cs typeface="Times New Roman" panose="02020603050405020304" pitchFamily="18" charset="0"/>
              </a:rPr>
              <a:t>“Without grammar, we lose the agreed-upon standards about what means what. We lose the ability to communicate when respondents are not actually in the same room speaking to one another. Without grammar, we lose the precision required to be effective and purposeful in writing.”</a:t>
            </a:r>
          </a:p>
        </p:txBody>
      </p:sp>
      <p:sp>
        <p:nvSpPr>
          <p:cNvPr id="4" name="Title 3"/>
          <p:cNvSpPr>
            <a:spLocks noGrp="1"/>
          </p:cNvSpPr>
          <p:nvPr>
            <p:ph type="title"/>
          </p:nvPr>
        </p:nvSpPr>
        <p:spPr/>
        <p:txBody>
          <a:bodyPr>
            <a:normAutofit/>
          </a:bodyPr>
          <a:lstStyle/>
          <a:p>
            <a:r>
              <a:rPr lang="en-US" dirty="0"/>
              <a:t>Reading Discussion: Key Concepts</a:t>
            </a:r>
          </a:p>
        </p:txBody>
      </p:sp>
    </p:spTree>
    <p:extLst>
      <p:ext uri="{BB962C8B-B14F-4D97-AF65-F5344CB8AC3E}">
        <p14:creationId xmlns:p14="http://schemas.microsoft.com/office/powerpoint/2010/main" val="3761031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45841" y="1305716"/>
            <a:ext cx="10476826" cy="5256449"/>
          </a:xfrm>
        </p:spPr>
        <p:txBody>
          <a:bodyPr>
            <a:normAutofit fontScale="25000" lnSpcReduction="20000"/>
          </a:bodyPr>
          <a:lstStyle/>
          <a:p>
            <a:pPr marL="182880" indent="0">
              <a:lnSpc>
                <a:spcPct val="107000"/>
              </a:lnSpc>
              <a:spcBef>
                <a:spcPts val="1200"/>
              </a:spcBef>
              <a:spcAft>
                <a:spcPts val="0"/>
              </a:spcAft>
              <a:buNone/>
            </a:pPr>
            <a:r>
              <a:rPr lang="en-US" sz="16000" b="0" dirty="0">
                <a:ea typeface="Calibri" panose="020F0502020204030204" pitchFamily="34" charset="0"/>
                <a:cs typeface="Times New Roman" panose="02020603050405020304" pitchFamily="18" charset="0"/>
              </a:rPr>
              <a:t>- Jonathan Swift, 1712</a:t>
            </a:r>
          </a:p>
          <a:p>
            <a:pPr marL="457200" lvl="1" indent="0">
              <a:lnSpc>
                <a:spcPct val="170000"/>
              </a:lnSpc>
              <a:spcBef>
                <a:spcPts val="1200"/>
              </a:spcBef>
              <a:spcAft>
                <a:spcPts val="0"/>
              </a:spcAft>
              <a:buNone/>
            </a:pPr>
            <a:r>
              <a:rPr lang="en-US" sz="11200" b="0" dirty="0">
                <a:latin typeface="Times New Roman" panose="02020603050405020304" pitchFamily="18" charset="0"/>
                <a:ea typeface="Calibri" panose="020F0502020204030204" pitchFamily="34" charset="0"/>
                <a:cs typeface="Times New Roman" panose="02020603050405020304" pitchFamily="18" charset="0"/>
              </a:rPr>
              <a:t>“</a:t>
            </a:r>
            <a:r>
              <a:rPr lang="en-US" sz="11200" b="0" i="0" dirty="0">
                <a:solidFill>
                  <a:srgbClr val="121212"/>
                </a:solidFill>
                <a:effectLst/>
                <a:latin typeface="Times New Roman" panose="02020603050405020304" pitchFamily="18" charset="0"/>
                <a:cs typeface="Times New Roman" panose="02020603050405020304" pitchFamily="18" charset="0"/>
              </a:rPr>
              <a:t>From the [English] Civil War to this present Time, I am apt to doubt whether the Corruptions in our </a:t>
            </a:r>
            <a:r>
              <a:rPr lang="en-US" sz="11200" b="0" i="0" u="none" strike="noStrike" dirty="0">
                <a:effectLst/>
                <a:latin typeface="Times New Roman" panose="02020603050405020304" pitchFamily="18" charset="0"/>
                <a:cs typeface="Times New Roman" panose="02020603050405020304" pitchFamily="18" charset="0"/>
              </a:rPr>
              <a:t>Language</a:t>
            </a:r>
            <a:r>
              <a:rPr lang="en-US" sz="11200" b="0" i="0" dirty="0">
                <a:solidFill>
                  <a:srgbClr val="121212"/>
                </a:solidFill>
                <a:effectLst/>
                <a:latin typeface="Times New Roman" panose="02020603050405020304" pitchFamily="18" charset="0"/>
                <a:cs typeface="Times New Roman" panose="02020603050405020304" pitchFamily="18" charset="0"/>
              </a:rPr>
              <a:t> have not at least equaled the Refinements of it … most of the Books we see now a-days, are full of those </a:t>
            </a:r>
            <a:r>
              <a:rPr lang="en-US" sz="11200" b="0" i="0" dirty="0" err="1">
                <a:solidFill>
                  <a:srgbClr val="121212"/>
                </a:solidFill>
                <a:effectLst/>
                <a:latin typeface="Times New Roman" panose="02020603050405020304" pitchFamily="18" charset="0"/>
                <a:cs typeface="Times New Roman" panose="02020603050405020304" pitchFamily="18" charset="0"/>
              </a:rPr>
              <a:t>Manglings</a:t>
            </a:r>
            <a:r>
              <a:rPr lang="en-US" sz="11200" b="0" i="0" dirty="0">
                <a:solidFill>
                  <a:srgbClr val="121212"/>
                </a:solidFill>
                <a:effectLst/>
                <a:latin typeface="Times New Roman" panose="02020603050405020304" pitchFamily="18" charset="0"/>
                <a:cs typeface="Times New Roman" panose="02020603050405020304" pitchFamily="18" charset="0"/>
              </a:rPr>
              <a:t> and Abbreviations. Instances of this Abuse are innumerable: What does Your Lordship think of the Words, </a:t>
            </a:r>
            <a:r>
              <a:rPr lang="en-US" sz="11200" b="0" i="0" dirty="0" err="1">
                <a:solidFill>
                  <a:srgbClr val="121212"/>
                </a:solidFill>
                <a:effectLst/>
                <a:latin typeface="Times New Roman" panose="02020603050405020304" pitchFamily="18" charset="0"/>
                <a:cs typeface="Times New Roman" panose="02020603050405020304" pitchFamily="18" charset="0"/>
              </a:rPr>
              <a:t>Drudg’d</a:t>
            </a:r>
            <a:r>
              <a:rPr lang="en-US" sz="11200" b="0" i="0" dirty="0">
                <a:solidFill>
                  <a:srgbClr val="121212"/>
                </a:solidFill>
                <a:effectLst/>
                <a:latin typeface="Times New Roman" panose="02020603050405020304" pitchFamily="18" charset="0"/>
                <a:cs typeface="Times New Roman" panose="02020603050405020304" pitchFamily="18" charset="0"/>
              </a:rPr>
              <a:t>, </a:t>
            </a:r>
            <a:r>
              <a:rPr lang="en-US" sz="11200" b="0" i="0" dirty="0" err="1">
                <a:solidFill>
                  <a:srgbClr val="121212"/>
                </a:solidFill>
                <a:effectLst/>
                <a:latin typeface="Times New Roman" panose="02020603050405020304" pitchFamily="18" charset="0"/>
                <a:cs typeface="Times New Roman" panose="02020603050405020304" pitchFamily="18" charset="0"/>
              </a:rPr>
              <a:t>Disturb’d</a:t>
            </a:r>
            <a:r>
              <a:rPr lang="en-US" sz="11200" b="0" i="0" dirty="0">
                <a:solidFill>
                  <a:srgbClr val="121212"/>
                </a:solidFill>
                <a:effectLst/>
                <a:latin typeface="Times New Roman" panose="02020603050405020304" pitchFamily="18" charset="0"/>
                <a:cs typeface="Times New Roman" panose="02020603050405020304" pitchFamily="18" charset="0"/>
              </a:rPr>
              <a:t>, </a:t>
            </a:r>
            <a:r>
              <a:rPr lang="en-US" sz="11200" b="0" i="0" dirty="0" err="1">
                <a:solidFill>
                  <a:srgbClr val="121212"/>
                </a:solidFill>
                <a:effectLst/>
                <a:latin typeface="Times New Roman" panose="02020603050405020304" pitchFamily="18" charset="0"/>
                <a:cs typeface="Times New Roman" panose="02020603050405020304" pitchFamily="18" charset="0"/>
              </a:rPr>
              <a:t>Rebuk’t</a:t>
            </a:r>
            <a:r>
              <a:rPr lang="en-US" sz="11200" b="0" i="0" dirty="0">
                <a:solidFill>
                  <a:srgbClr val="121212"/>
                </a:solidFill>
                <a:effectLst/>
                <a:latin typeface="Times New Roman" panose="02020603050405020304" pitchFamily="18" charset="0"/>
                <a:cs typeface="Times New Roman" panose="02020603050405020304" pitchFamily="18" charset="0"/>
              </a:rPr>
              <a:t>, </a:t>
            </a:r>
            <a:r>
              <a:rPr lang="en-US" sz="11200" b="0" i="0" dirty="0" err="1">
                <a:solidFill>
                  <a:srgbClr val="121212"/>
                </a:solidFill>
                <a:effectLst/>
                <a:latin typeface="Times New Roman" panose="02020603050405020304" pitchFamily="18" charset="0"/>
                <a:cs typeface="Times New Roman" panose="02020603050405020304" pitchFamily="18" charset="0"/>
              </a:rPr>
              <a:t>Fledg’d</a:t>
            </a:r>
            <a:r>
              <a:rPr lang="en-US" sz="11200" b="0" i="0" dirty="0">
                <a:solidFill>
                  <a:srgbClr val="121212"/>
                </a:solidFill>
                <a:effectLst/>
                <a:latin typeface="Times New Roman" panose="02020603050405020304" pitchFamily="18" charset="0"/>
                <a:cs typeface="Times New Roman" panose="02020603050405020304" pitchFamily="18" charset="0"/>
              </a:rPr>
              <a:t>, and a thousand others, every where to be met in Prose as well as Verse?</a:t>
            </a:r>
            <a:r>
              <a:rPr lang="en-US" sz="11200" b="0" dirty="0">
                <a:latin typeface="Times New Roman" panose="02020603050405020304" pitchFamily="18" charset="0"/>
                <a:ea typeface="Calibri" panose="020F0502020204030204" pitchFamily="34" charset="0"/>
                <a:cs typeface="Times New Roman" panose="02020603050405020304" pitchFamily="18" charset="0"/>
              </a:rPr>
              <a:t>”</a:t>
            </a:r>
          </a:p>
        </p:txBody>
      </p:sp>
      <p:sp>
        <p:nvSpPr>
          <p:cNvPr id="4" name="Title 3"/>
          <p:cNvSpPr>
            <a:spLocks noGrp="1"/>
          </p:cNvSpPr>
          <p:nvPr>
            <p:ph type="title"/>
          </p:nvPr>
        </p:nvSpPr>
        <p:spPr/>
        <p:txBody>
          <a:bodyPr>
            <a:normAutofit/>
          </a:bodyPr>
          <a:lstStyle/>
          <a:p>
            <a:r>
              <a:rPr lang="en-US" dirty="0"/>
              <a:t>Reading Discussion: Key Concepts</a:t>
            </a:r>
          </a:p>
        </p:txBody>
      </p:sp>
    </p:spTree>
    <p:extLst>
      <p:ext uri="{BB962C8B-B14F-4D97-AF65-F5344CB8AC3E}">
        <p14:creationId xmlns:p14="http://schemas.microsoft.com/office/powerpoint/2010/main" val="2856437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45841" y="1305715"/>
            <a:ext cx="10476826" cy="5316465"/>
          </a:xfrm>
        </p:spPr>
        <p:txBody>
          <a:bodyPr>
            <a:normAutofit/>
          </a:bodyPr>
          <a:lstStyle/>
          <a:p>
            <a:pPr marL="182880" indent="0">
              <a:lnSpc>
                <a:spcPct val="107000"/>
              </a:lnSpc>
              <a:spcBef>
                <a:spcPts val="1200"/>
              </a:spcBef>
              <a:spcAft>
                <a:spcPts val="0"/>
              </a:spcAft>
              <a:buNone/>
            </a:pPr>
            <a:r>
              <a:rPr lang="en-US" b="0" dirty="0">
                <a:ea typeface="Calibri" panose="020F0502020204030204" pitchFamily="34" charset="0"/>
                <a:cs typeface="Times New Roman" panose="02020603050405020304" pitchFamily="18" charset="0"/>
              </a:rPr>
              <a:t>- Ranulf Higden, 14</a:t>
            </a:r>
            <a:r>
              <a:rPr lang="en-US" b="0" baseline="30000" dirty="0">
                <a:ea typeface="Calibri" panose="020F0502020204030204" pitchFamily="34" charset="0"/>
                <a:cs typeface="Times New Roman" panose="02020603050405020304" pitchFamily="18" charset="0"/>
              </a:rPr>
              <a:t>th</a:t>
            </a:r>
            <a:r>
              <a:rPr lang="en-US" b="0" dirty="0">
                <a:ea typeface="Calibri" panose="020F0502020204030204" pitchFamily="34" charset="0"/>
                <a:cs typeface="Times New Roman" panose="02020603050405020304" pitchFamily="18" charset="0"/>
              </a:rPr>
              <a:t> Century</a:t>
            </a:r>
          </a:p>
          <a:p>
            <a:pPr marL="457200" lvl="1" indent="0">
              <a:lnSpc>
                <a:spcPct val="150000"/>
              </a:lnSpc>
              <a:spcBef>
                <a:spcPts val="1200"/>
              </a:spcBef>
              <a:spcAft>
                <a:spcPts val="0"/>
              </a:spcAft>
              <a:buNone/>
            </a:pPr>
            <a:endParaRPr lang="en-US" sz="3400" b="0" i="0" dirty="0">
              <a:solidFill>
                <a:srgbClr val="121212"/>
              </a:solidFill>
              <a:effectLst/>
              <a:latin typeface="Times New Roman" panose="02020603050405020304" pitchFamily="18" charset="0"/>
              <a:cs typeface="Times New Roman" panose="02020603050405020304" pitchFamily="18" charset="0"/>
            </a:endParaRPr>
          </a:p>
          <a:p>
            <a:pPr marL="457200" lvl="1" indent="0">
              <a:lnSpc>
                <a:spcPct val="150000"/>
              </a:lnSpc>
              <a:spcBef>
                <a:spcPts val="1200"/>
              </a:spcBef>
              <a:spcAft>
                <a:spcPts val="0"/>
              </a:spcAft>
              <a:buNone/>
            </a:pPr>
            <a:r>
              <a:rPr lang="en-US" sz="3400" b="0" i="0">
                <a:solidFill>
                  <a:srgbClr val="121212"/>
                </a:solidFill>
                <a:effectLst/>
                <a:latin typeface="Times New Roman" panose="02020603050405020304" pitchFamily="18" charset="0"/>
                <a:cs typeface="Times New Roman" panose="02020603050405020304" pitchFamily="18" charset="0"/>
              </a:rPr>
              <a:t>By </a:t>
            </a:r>
            <a:r>
              <a:rPr lang="en-US" sz="3400" b="0" i="0" dirty="0">
                <a:solidFill>
                  <a:srgbClr val="121212"/>
                </a:solidFill>
                <a:effectLst/>
                <a:latin typeface="Times New Roman" panose="02020603050405020304" pitchFamily="18" charset="0"/>
                <a:cs typeface="Times New Roman" panose="02020603050405020304" pitchFamily="18" charset="0"/>
              </a:rPr>
              <a:t>intermingling and mixing, first with Danes and afterwards with Normans, in many people the language of the land is harmed, and some use strange inarticulate utterance, chattering, snarling, and harsh teeth-gnashing.</a:t>
            </a:r>
            <a:endParaRPr lang="en-US" sz="3400" b="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itle 3"/>
          <p:cNvSpPr>
            <a:spLocks noGrp="1"/>
          </p:cNvSpPr>
          <p:nvPr>
            <p:ph type="title"/>
          </p:nvPr>
        </p:nvSpPr>
        <p:spPr/>
        <p:txBody>
          <a:bodyPr>
            <a:normAutofit/>
          </a:bodyPr>
          <a:lstStyle/>
          <a:p>
            <a:r>
              <a:rPr lang="en-US" dirty="0"/>
              <a:t>Reading Discussion: Key Concepts</a:t>
            </a:r>
          </a:p>
        </p:txBody>
      </p:sp>
    </p:spTree>
    <p:extLst>
      <p:ext uri="{BB962C8B-B14F-4D97-AF65-F5344CB8AC3E}">
        <p14:creationId xmlns:p14="http://schemas.microsoft.com/office/powerpoint/2010/main" val="15074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45841" y="788894"/>
            <a:ext cx="10476826" cy="5997388"/>
          </a:xfrm>
        </p:spPr>
        <p:txBody>
          <a:bodyPr>
            <a:normAutofit/>
          </a:bodyPr>
          <a:lstStyle/>
          <a:p>
            <a:pPr marL="640080" indent="-457200">
              <a:lnSpc>
                <a:spcPct val="107000"/>
              </a:lnSpc>
              <a:spcBef>
                <a:spcPts val="1200"/>
              </a:spcBef>
              <a:spcAft>
                <a:spcPts val="0"/>
              </a:spcAft>
              <a:buFontTx/>
              <a:buChar char="-"/>
            </a:pPr>
            <a:r>
              <a:rPr lang="en-US" b="0" dirty="0">
                <a:ea typeface="Calibri" panose="020F0502020204030204" pitchFamily="34" charset="0"/>
                <a:cs typeface="Times New Roman" panose="02020603050405020304" pitchFamily="18" charset="0"/>
              </a:rPr>
              <a:t>Plato’s Phaedrus (370 BC)</a:t>
            </a:r>
          </a:p>
          <a:p>
            <a:pPr marL="640080" indent="-457200">
              <a:lnSpc>
                <a:spcPct val="107000"/>
              </a:lnSpc>
              <a:spcBef>
                <a:spcPts val="1200"/>
              </a:spcBef>
              <a:spcAft>
                <a:spcPts val="0"/>
              </a:spcAft>
              <a:buFontTx/>
              <a:buChar char="-"/>
            </a:pPr>
            <a:endParaRPr lang="en-US" sz="2800" b="0" dirty="0">
              <a:latin typeface="Times New Roman" panose="02020603050405020304" pitchFamily="18" charset="0"/>
              <a:ea typeface="Calibri" panose="020F0502020204030204" pitchFamily="34" charset="0"/>
              <a:cs typeface="Times New Roman" panose="02020603050405020304" pitchFamily="18" charset="0"/>
            </a:endParaRPr>
          </a:p>
          <a:p>
            <a:pPr marL="461963" indent="0">
              <a:lnSpc>
                <a:spcPct val="150000"/>
              </a:lnSpc>
              <a:spcBef>
                <a:spcPts val="1200"/>
              </a:spcBef>
              <a:spcAft>
                <a:spcPts val="0"/>
              </a:spcAft>
              <a:buNone/>
            </a:pPr>
            <a:r>
              <a:rPr lang="en-US" sz="3400" b="0" dirty="0">
                <a:latin typeface="Times New Roman" panose="02020603050405020304" pitchFamily="18" charset="0"/>
                <a:ea typeface="Calibri" panose="020F0502020204030204" pitchFamily="34" charset="0"/>
                <a:cs typeface="Times New Roman" panose="02020603050405020304" pitchFamily="18" charset="0"/>
              </a:rPr>
              <a:t>If men learn this [writing], it will implant forgetfulness in their souls. They will cease to exercise memory because they rely on that which is written, calling things to remembrance no longer from within themselves, but by means of external marks. </a:t>
            </a:r>
          </a:p>
        </p:txBody>
      </p:sp>
    </p:spTree>
    <p:extLst>
      <p:ext uri="{BB962C8B-B14F-4D97-AF65-F5344CB8AC3E}">
        <p14:creationId xmlns:p14="http://schemas.microsoft.com/office/powerpoint/2010/main" val="1997756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47935" y="1272708"/>
            <a:ext cx="10467281" cy="5280492"/>
          </a:xfrm>
        </p:spPr>
        <p:txBody>
          <a:bodyPr>
            <a:normAutofit/>
          </a:bodyPr>
          <a:lstStyle/>
          <a:p>
            <a:r>
              <a:rPr lang="en-US" dirty="0"/>
              <a:t>Descriptive Rules</a:t>
            </a:r>
          </a:p>
          <a:p>
            <a:pPr lvl="2"/>
            <a:r>
              <a:rPr lang="en-US" dirty="0"/>
              <a:t>Natural/Biological</a:t>
            </a:r>
          </a:p>
          <a:p>
            <a:pPr lvl="2"/>
            <a:r>
              <a:rPr lang="en-US" dirty="0"/>
              <a:t>Learned by Native Speakers perfectly</a:t>
            </a:r>
          </a:p>
          <a:p>
            <a:pPr lvl="2"/>
            <a:r>
              <a:rPr lang="en-US" dirty="0"/>
              <a:t>Usually fairly consistent</a:t>
            </a:r>
          </a:p>
          <a:p>
            <a:r>
              <a:rPr lang="en-US" dirty="0"/>
              <a:t>Prescriptive Rules</a:t>
            </a:r>
          </a:p>
          <a:p>
            <a:pPr lvl="2"/>
            <a:r>
              <a:rPr lang="en-US" i="1" dirty="0"/>
              <a:t>Artificial/Imposed</a:t>
            </a:r>
          </a:p>
          <a:p>
            <a:pPr lvl="2"/>
            <a:r>
              <a:rPr lang="en-US" i="1" dirty="0"/>
              <a:t>Must be taught manually</a:t>
            </a:r>
          </a:p>
          <a:p>
            <a:pPr lvl="2"/>
            <a:r>
              <a:rPr lang="en-US" i="1" dirty="0"/>
              <a:t>Exceptions and Irregular forms</a:t>
            </a:r>
          </a:p>
          <a:p>
            <a:pPr lvl="2"/>
            <a:r>
              <a:rPr lang="en-US" i="1" dirty="0"/>
              <a:t>Often based on the “prestige” dialect</a:t>
            </a:r>
          </a:p>
        </p:txBody>
      </p:sp>
      <p:sp>
        <p:nvSpPr>
          <p:cNvPr id="4" name="Title 3"/>
          <p:cNvSpPr>
            <a:spLocks noGrp="1"/>
          </p:cNvSpPr>
          <p:nvPr>
            <p:ph type="title"/>
          </p:nvPr>
        </p:nvSpPr>
        <p:spPr>
          <a:xfrm>
            <a:off x="1547936" y="557993"/>
            <a:ext cx="7874200" cy="718441"/>
          </a:xfrm>
        </p:spPr>
        <p:txBody>
          <a:bodyPr/>
          <a:lstStyle/>
          <a:p>
            <a:r>
              <a:rPr lang="en-US" dirty="0"/>
              <a:t>DESCPRIPTIVE vs PRESCRIPTIVE RULES</a:t>
            </a:r>
          </a:p>
        </p:txBody>
      </p:sp>
    </p:spTree>
    <p:extLst>
      <p:ext uri="{BB962C8B-B14F-4D97-AF65-F5344CB8AC3E}">
        <p14:creationId xmlns:p14="http://schemas.microsoft.com/office/powerpoint/2010/main" val="3624170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47935" y="1272708"/>
            <a:ext cx="10467281" cy="5040309"/>
          </a:xfrm>
        </p:spPr>
        <p:txBody>
          <a:bodyPr>
            <a:normAutofit fontScale="85000" lnSpcReduction="20000"/>
          </a:bodyPr>
          <a:lstStyle/>
          <a:p>
            <a:r>
              <a:rPr lang="en-US" dirty="0"/>
              <a:t>Don’t end a sentence in a preposition.</a:t>
            </a:r>
          </a:p>
          <a:p>
            <a:pPr lvl="2"/>
            <a:r>
              <a:rPr lang="en-US" dirty="0"/>
              <a:t>Except nobody really cares anymore.</a:t>
            </a:r>
          </a:p>
          <a:p>
            <a:pPr lvl="2"/>
            <a:r>
              <a:rPr lang="en-US" dirty="0"/>
              <a:t>“Ending sentences in prepositions is something up with which I will not put.” – Winston Churchill</a:t>
            </a:r>
          </a:p>
          <a:p>
            <a:r>
              <a:rPr lang="en-US" dirty="0"/>
              <a:t>Don’t start a sentence with “But”.</a:t>
            </a:r>
          </a:p>
          <a:p>
            <a:pPr lvl="2"/>
            <a:r>
              <a:rPr lang="en-US" dirty="0"/>
              <a:t>Some people still care in some situations.</a:t>
            </a:r>
          </a:p>
          <a:p>
            <a:pPr lvl="2"/>
            <a:r>
              <a:rPr lang="en-US" dirty="0"/>
              <a:t>I like ice cream, but I don’t like cake. CORRECT</a:t>
            </a:r>
          </a:p>
          <a:p>
            <a:pPr lvl="2"/>
            <a:r>
              <a:rPr lang="en-US" dirty="0"/>
              <a:t>I like ice cream. But I don’t like cake. “INCORRECT”</a:t>
            </a:r>
          </a:p>
          <a:p>
            <a:r>
              <a:rPr lang="en-US" dirty="0"/>
              <a:t>Put commas in lists.</a:t>
            </a:r>
          </a:p>
          <a:p>
            <a:pPr lvl="2"/>
            <a:r>
              <a:rPr lang="en-US" dirty="0"/>
              <a:t>Everybody still cares and it makes it easier to understand.</a:t>
            </a:r>
          </a:p>
          <a:p>
            <a:pPr lvl="2"/>
            <a:r>
              <a:rPr lang="en-US" dirty="0"/>
              <a:t>“I like cake, pie, and cookies.”</a:t>
            </a:r>
          </a:p>
          <a:p>
            <a:pPr lvl="2"/>
            <a:r>
              <a:rPr lang="en-US" dirty="0">
                <a:hlinkClick r:id="rId2"/>
              </a:rPr>
              <a:t>Oxford Comma</a:t>
            </a:r>
            <a:endParaRPr lang="en-US" dirty="0"/>
          </a:p>
        </p:txBody>
      </p:sp>
      <p:sp>
        <p:nvSpPr>
          <p:cNvPr id="4" name="Title 3"/>
          <p:cNvSpPr>
            <a:spLocks noGrp="1"/>
          </p:cNvSpPr>
          <p:nvPr>
            <p:ph type="title"/>
          </p:nvPr>
        </p:nvSpPr>
        <p:spPr>
          <a:xfrm>
            <a:off x="1547936" y="557993"/>
            <a:ext cx="7874200" cy="718441"/>
          </a:xfrm>
        </p:spPr>
        <p:txBody>
          <a:bodyPr/>
          <a:lstStyle/>
          <a:p>
            <a:r>
              <a:rPr lang="en-US" dirty="0"/>
              <a:t>PRESCRIPTIVE RULES</a:t>
            </a:r>
          </a:p>
        </p:txBody>
      </p:sp>
    </p:spTree>
    <p:extLst>
      <p:ext uri="{BB962C8B-B14F-4D97-AF65-F5344CB8AC3E}">
        <p14:creationId xmlns:p14="http://schemas.microsoft.com/office/powerpoint/2010/main" val="573471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47935" y="1272708"/>
            <a:ext cx="10467281" cy="5040309"/>
          </a:xfrm>
        </p:spPr>
        <p:txBody>
          <a:bodyPr>
            <a:normAutofit/>
          </a:bodyPr>
          <a:lstStyle/>
          <a:p>
            <a:r>
              <a:rPr lang="en-US" dirty="0"/>
              <a:t>Rules of Fashion</a:t>
            </a:r>
          </a:p>
          <a:p>
            <a:pPr lvl="1"/>
            <a:r>
              <a:rPr lang="en-US" dirty="0"/>
              <a:t>Descriptive Rules</a:t>
            </a:r>
          </a:p>
          <a:p>
            <a:pPr lvl="3"/>
            <a:r>
              <a:rPr lang="en-US" dirty="0"/>
              <a:t>A shirt needs a hole to put your head out</a:t>
            </a:r>
          </a:p>
          <a:p>
            <a:pPr lvl="3"/>
            <a:r>
              <a:rPr lang="en-US" dirty="0"/>
              <a:t>Wearing more clothes keeps you warmer</a:t>
            </a:r>
          </a:p>
          <a:p>
            <a:pPr lvl="3"/>
            <a:r>
              <a:rPr lang="en-US" dirty="0"/>
              <a:t>If you swim in a sweater, it will be heavy when you get out</a:t>
            </a:r>
          </a:p>
          <a:p>
            <a:pPr lvl="1"/>
            <a:r>
              <a:rPr lang="en-US" dirty="0"/>
              <a:t>Prescriptive Rules</a:t>
            </a:r>
          </a:p>
          <a:p>
            <a:pPr lvl="3"/>
            <a:r>
              <a:rPr lang="en-US" dirty="0"/>
              <a:t>You must wear clothes outside of your house</a:t>
            </a:r>
          </a:p>
          <a:p>
            <a:pPr lvl="3"/>
            <a:r>
              <a:rPr lang="en-US" dirty="0"/>
              <a:t>You can’t wear white to a wedding</a:t>
            </a:r>
          </a:p>
          <a:p>
            <a:pPr lvl="3"/>
            <a:r>
              <a:rPr lang="en-US" dirty="0"/>
              <a:t>You shouldn’t wear brown shoes with black pants</a:t>
            </a:r>
          </a:p>
          <a:p>
            <a:endParaRPr lang="en-US" dirty="0"/>
          </a:p>
        </p:txBody>
      </p:sp>
      <p:sp>
        <p:nvSpPr>
          <p:cNvPr id="4" name="Title 3"/>
          <p:cNvSpPr>
            <a:spLocks noGrp="1"/>
          </p:cNvSpPr>
          <p:nvPr>
            <p:ph type="title"/>
          </p:nvPr>
        </p:nvSpPr>
        <p:spPr>
          <a:xfrm>
            <a:off x="1547936" y="557993"/>
            <a:ext cx="10467280" cy="718441"/>
          </a:xfrm>
        </p:spPr>
        <p:txBody>
          <a:bodyPr/>
          <a:lstStyle/>
          <a:p>
            <a:r>
              <a:rPr lang="en-US" dirty="0"/>
              <a:t>An Analogy</a:t>
            </a:r>
          </a:p>
        </p:txBody>
      </p:sp>
    </p:spTree>
    <p:extLst>
      <p:ext uri="{BB962C8B-B14F-4D97-AF65-F5344CB8AC3E}">
        <p14:creationId xmlns:p14="http://schemas.microsoft.com/office/powerpoint/2010/main" val="1008142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Prescriptive and Descriptive Rules</a:t>
            </a:r>
          </a:p>
        </p:txBody>
      </p:sp>
      <p:pic>
        <p:nvPicPr>
          <p:cNvPr id="6" name="kUiziVEoi1s">
            <a:extLst>
              <a:ext uri="{FF2B5EF4-FFF2-40B4-BE49-F238E27FC236}">
                <a16:creationId xmlns:a16="http://schemas.microsoft.com/office/drawing/2014/main" id="{9A91F944-D741-8EDF-844A-1A326B36CCAB}"/>
              </a:ext>
            </a:extLst>
          </p:cNvPr>
          <p:cNvPicPr>
            <a:picLocks noGrp="1" noRot="1" noChangeAspect="1"/>
          </p:cNvPicPr>
          <p:nvPr>
            <p:ph idx="1"/>
            <a:videoFile r:link="rId1"/>
          </p:nvPr>
        </p:nvPicPr>
        <p:blipFill>
          <a:blip r:embed="rId3"/>
          <a:stretch>
            <a:fillRect/>
          </a:stretch>
        </p:blipFill>
        <p:spPr>
          <a:xfrm>
            <a:off x="2798618" y="1485589"/>
            <a:ext cx="8075570" cy="4273117"/>
          </a:xfrm>
          <a:prstGeom prst="rect">
            <a:avLst/>
          </a:prstGeom>
        </p:spPr>
      </p:pic>
      <p:sp>
        <p:nvSpPr>
          <p:cNvPr id="10" name="TextBox 9">
            <a:extLst>
              <a:ext uri="{FF2B5EF4-FFF2-40B4-BE49-F238E27FC236}">
                <a16:creationId xmlns:a16="http://schemas.microsoft.com/office/drawing/2014/main" id="{ABDA71E6-CA29-7621-1CC5-ECD483A1AEC8}"/>
              </a:ext>
            </a:extLst>
          </p:cNvPr>
          <p:cNvSpPr txBox="1"/>
          <p:nvPr/>
        </p:nvSpPr>
        <p:spPr>
          <a:xfrm>
            <a:off x="2821735" y="6122951"/>
            <a:ext cx="8088720" cy="369332"/>
          </a:xfrm>
          <a:prstGeom prst="rect">
            <a:avLst/>
          </a:prstGeom>
          <a:noFill/>
          <a:ln>
            <a:solidFill>
              <a:schemeClr val="bg2"/>
            </a:solidFill>
          </a:ln>
        </p:spPr>
        <p:txBody>
          <a:bodyPr wrap="square" rtlCol="0" anchor="ctr" anchorCtr="1">
            <a:spAutoFit/>
          </a:bodyPr>
          <a:lstStyle/>
          <a:p>
            <a:r>
              <a:rPr lang="en-US" dirty="0">
                <a:hlinkClick r:id="rId4"/>
              </a:rPr>
              <a:t>https://www.youtube.com/watch?v=kUiziVEoi1s</a:t>
            </a:r>
            <a:r>
              <a:rPr lang="en-US" dirty="0"/>
              <a:t> </a:t>
            </a:r>
          </a:p>
        </p:txBody>
      </p:sp>
    </p:spTree>
    <p:extLst>
      <p:ext uri="{BB962C8B-B14F-4D97-AF65-F5344CB8AC3E}">
        <p14:creationId xmlns:p14="http://schemas.microsoft.com/office/powerpoint/2010/main" val="748642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60997" y="1265234"/>
            <a:ext cx="10461669" cy="5040309"/>
          </a:xfrm>
        </p:spPr>
        <p:txBody>
          <a:bodyPr>
            <a:normAutofit/>
          </a:bodyPr>
          <a:lstStyle/>
          <a:p>
            <a:r>
              <a:rPr lang="en-US" dirty="0"/>
              <a:t>Speaking (Natural)</a:t>
            </a:r>
          </a:p>
          <a:p>
            <a:pPr lvl="1"/>
            <a:r>
              <a:rPr lang="en-US" dirty="0"/>
              <a:t>Started 2 million to 0.5 million years ago</a:t>
            </a:r>
          </a:p>
          <a:p>
            <a:pPr lvl="1"/>
            <a:r>
              <a:rPr lang="en-US" dirty="0"/>
              <a:t>Learned from birth by most children</a:t>
            </a:r>
          </a:p>
          <a:p>
            <a:pPr lvl="1"/>
            <a:r>
              <a:rPr lang="en-US" dirty="0"/>
              <a:t>Involves mostly </a:t>
            </a:r>
            <a:r>
              <a:rPr lang="en-US" i="1" dirty="0"/>
              <a:t>descriptive</a:t>
            </a:r>
            <a:r>
              <a:rPr lang="en-US" dirty="0"/>
              <a:t> rules</a:t>
            </a:r>
          </a:p>
          <a:p>
            <a:r>
              <a:rPr lang="en-US" dirty="0"/>
              <a:t>Writing (Artificial)</a:t>
            </a:r>
          </a:p>
          <a:p>
            <a:pPr lvl="1"/>
            <a:r>
              <a:rPr lang="en-US" dirty="0"/>
              <a:t>Started 10 thousand years ago.</a:t>
            </a:r>
          </a:p>
          <a:p>
            <a:pPr lvl="1"/>
            <a:r>
              <a:rPr lang="en-US" dirty="0"/>
              <a:t>Must be taught to every person</a:t>
            </a:r>
          </a:p>
          <a:p>
            <a:pPr lvl="1"/>
            <a:r>
              <a:rPr lang="en-US" dirty="0"/>
              <a:t>Involves lots of </a:t>
            </a:r>
            <a:r>
              <a:rPr lang="en-US" i="1" dirty="0"/>
              <a:t>prescriptive</a:t>
            </a:r>
            <a:r>
              <a:rPr lang="en-US" dirty="0"/>
              <a:t> rules</a:t>
            </a:r>
          </a:p>
          <a:p>
            <a:pPr lvl="1"/>
            <a:endParaRPr lang="en-US" dirty="0"/>
          </a:p>
        </p:txBody>
      </p:sp>
      <p:sp>
        <p:nvSpPr>
          <p:cNvPr id="4" name="Title 3"/>
          <p:cNvSpPr>
            <a:spLocks noGrp="1"/>
          </p:cNvSpPr>
          <p:nvPr>
            <p:ph type="title"/>
          </p:nvPr>
        </p:nvSpPr>
        <p:spPr/>
        <p:txBody>
          <a:bodyPr/>
          <a:lstStyle/>
          <a:p>
            <a:r>
              <a:rPr lang="en-US" dirty="0"/>
              <a:t>SPEAKING VS WRITING</a:t>
            </a:r>
          </a:p>
        </p:txBody>
      </p:sp>
    </p:spTree>
    <p:extLst>
      <p:ext uri="{BB962C8B-B14F-4D97-AF65-F5344CB8AC3E}">
        <p14:creationId xmlns:p14="http://schemas.microsoft.com/office/powerpoint/2010/main" val="1910612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60994" y="1597794"/>
            <a:ext cx="9931569" cy="5098446"/>
          </a:xfrm>
        </p:spPr>
        <p:txBody>
          <a:bodyPr>
            <a:normAutofit/>
          </a:bodyPr>
          <a:lstStyle/>
          <a:p>
            <a:pPr marL="0" lvl="1" indent="0" algn="ctr">
              <a:buNone/>
            </a:pPr>
            <a:r>
              <a:rPr lang="en-US" sz="3800" dirty="0" err="1">
                <a:latin typeface="Cavolini" panose="03000502040302020204" pitchFamily="66" charset="0"/>
                <a:cs typeface="Cavolini" panose="03000502040302020204" pitchFamily="66" charset="0"/>
              </a:rPr>
              <a:t>Ekur</a:t>
            </a:r>
            <a:r>
              <a:rPr lang="en-US" sz="3800" dirty="0">
                <a:latin typeface="Cavolini" panose="03000502040302020204" pitchFamily="66" charset="0"/>
                <a:cs typeface="Cavolini" panose="03000502040302020204" pitchFamily="66" charset="0"/>
              </a:rPr>
              <a:t> owes </a:t>
            </a:r>
            <a:r>
              <a:rPr lang="en-US" sz="3800" dirty="0" err="1">
                <a:latin typeface="Cavolini" panose="03000502040302020204" pitchFamily="66" charset="0"/>
                <a:cs typeface="Cavolini" panose="03000502040302020204" pitchFamily="66" charset="0"/>
              </a:rPr>
              <a:t>Shulgi</a:t>
            </a:r>
            <a:r>
              <a:rPr lang="en-US" sz="3800" dirty="0">
                <a:latin typeface="Cavolini" panose="03000502040302020204" pitchFamily="66" charset="0"/>
                <a:cs typeface="Cavolini" panose="03000502040302020204" pitchFamily="66" charset="0"/>
              </a:rPr>
              <a:t> two cows!</a:t>
            </a:r>
          </a:p>
          <a:p>
            <a:pPr lvl="1"/>
            <a:endParaRPr lang="en-US" dirty="0"/>
          </a:p>
        </p:txBody>
      </p:sp>
      <p:sp>
        <p:nvSpPr>
          <p:cNvPr id="4" name="Title 3"/>
          <p:cNvSpPr>
            <a:spLocks noGrp="1"/>
          </p:cNvSpPr>
          <p:nvPr>
            <p:ph type="title"/>
          </p:nvPr>
        </p:nvSpPr>
        <p:spPr>
          <a:xfrm>
            <a:off x="1560995" y="555290"/>
            <a:ext cx="10461669" cy="718441"/>
          </a:xfrm>
        </p:spPr>
        <p:txBody>
          <a:bodyPr/>
          <a:lstStyle/>
          <a:p>
            <a:r>
              <a:rPr lang="en-US" dirty="0"/>
              <a:t>ORIGINS OF WRITING</a:t>
            </a:r>
          </a:p>
        </p:txBody>
      </p:sp>
      <p:pic>
        <p:nvPicPr>
          <p:cNvPr id="2" name="Picture 1"/>
          <p:cNvPicPr>
            <a:picLocks noChangeAspect="1"/>
          </p:cNvPicPr>
          <p:nvPr/>
        </p:nvPicPr>
        <p:blipFill>
          <a:blip r:embed="rId2"/>
          <a:stretch>
            <a:fillRect/>
          </a:stretch>
        </p:blipFill>
        <p:spPr>
          <a:xfrm>
            <a:off x="1723745" y="2407206"/>
            <a:ext cx="9606065" cy="4116885"/>
          </a:xfrm>
          <a:prstGeom prst="rect">
            <a:avLst/>
          </a:prstGeom>
        </p:spPr>
      </p:pic>
    </p:spTree>
    <p:extLst>
      <p:ext uri="{BB962C8B-B14F-4D97-AF65-F5344CB8AC3E}">
        <p14:creationId xmlns:p14="http://schemas.microsoft.com/office/powerpoint/2010/main" val="864539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45841" y="1305716"/>
            <a:ext cx="10476826" cy="5471602"/>
          </a:xfrm>
        </p:spPr>
        <p:txBody>
          <a:bodyPr>
            <a:normAutofit/>
          </a:bodyPr>
          <a:lstStyle/>
          <a:p>
            <a:pPr marL="182880" indent="0">
              <a:lnSpc>
                <a:spcPct val="107000"/>
              </a:lnSpc>
              <a:spcBef>
                <a:spcPts val="1200"/>
              </a:spcBef>
              <a:spcAft>
                <a:spcPts val="0"/>
              </a:spcAft>
              <a:buNone/>
            </a:pPr>
            <a:r>
              <a:rPr lang="en-US" b="1" i="0" dirty="0">
                <a:effectLst/>
                <a:latin typeface="Encode Sans"/>
              </a:rPr>
              <a:t>Exercise 2.</a:t>
            </a:r>
            <a:r>
              <a:rPr lang="en-US" b="0" i="0" dirty="0">
                <a:effectLst/>
                <a:latin typeface="Encode Sans"/>
              </a:rPr>
              <a:t> p. 1.7</a:t>
            </a:r>
          </a:p>
          <a:p>
            <a:pPr marL="182880" indent="0">
              <a:lnSpc>
                <a:spcPct val="150000"/>
              </a:lnSpc>
              <a:spcBef>
                <a:spcPts val="1200"/>
              </a:spcBef>
              <a:spcAft>
                <a:spcPts val="0"/>
              </a:spcAft>
              <a:buNone/>
            </a:pPr>
            <a:r>
              <a:rPr lang="en-US" b="0" i="0" dirty="0">
                <a:solidFill>
                  <a:srgbClr val="373D3F"/>
                </a:solidFill>
                <a:effectLst/>
                <a:latin typeface="Encode Sans"/>
              </a:rPr>
              <a:t>Pretend you’re working for a start-up that has developed a cool new product. Your company turns to you, the in-house linguist, to come up with a name for this new product. It has to be a unique name that doesn’t already exist. </a:t>
            </a:r>
          </a:p>
          <a:p>
            <a:pPr marL="640080" indent="-457200">
              <a:lnSpc>
                <a:spcPct val="107000"/>
              </a:lnSpc>
              <a:spcBef>
                <a:spcPts val="1200"/>
              </a:spcBef>
              <a:spcAft>
                <a:spcPts val="0"/>
              </a:spcAft>
            </a:pPr>
            <a:r>
              <a:rPr lang="en-US" b="0" i="0" dirty="0">
                <a:solidFill>
                  <a:srgbClr val="373D3F"/>
                </a:solidFill>
                <a:effectLst/>
                <a:latin typeface="Encode Sans"/>
              </a:rPr>
              <a:t>What will you name your company’s cool new product?</a:t>
            </a:r>
          </a:p>
        </p:txBody>
      </p:sp>
      <p:sp>
        <p:nvSpPr>
          <p:cNvPr id="4" name="Title 3"/>
          <p:cNvSpPr>
            <a:spLocks noGrp="1"/>
          </p:cNvSpPr>
          <p:nvPr>
            <p:ph type="title"/>
          </p:nvPr>
        </p:nvSpPr>
        <p:spPr/>
        <p:txBody>
          <a:bodyPr>
            <a:normAutofit/>
          </a:bodyPr>
          <a:lstStyle/>
          <a:p>
            <a:r>
              <a:rPr lang="en-US" dirty="0"/>
              <a:t>Homework Discussion</a:t>
            </a:r>
          </a:p>
        </p:txBody>
      </p:sp>
    </p:spTree>
    <p:extLst>
      <p:ext uri="{BB962C8B-B14F-4D97-AF65-F5344CB8AC3E}">
        <p14:creationId xmlns:p14="http://schemas.microsoft.com/office/powerpoint/2010/main" val="1103308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D0598-F60C-0A92-AB0A-E967D906BE6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3946087-EEBA-5633-11D7-5B055A76FE9B}"/>
              </a:ext>
            </a:extLst>
          </p:cNvPr>
          <p:cNvSpPr>
            <a:spLocks noGrp="1"/>
          </p:cNvSpPr>
          <p:nvPr>
            <p:ph idx="1"/>
          </p:nvPr>
        </p:nvSpPr>
        <p:spPr>
          <a:xfrm>
            <a:off x="1545841" y="1305716"/>
            <a:ext cx="10476826" cy="5471602"/>
          </a:xfrm>
        </p:spPr>
        <p:txBody>
          <a:bodyPr>
            <a:normAutofit fontScale="92500" lnSpcReduction="10000"/>
          </a:bodyPr>
          <a:lstStyle/>
          <a:p>
            <a:pPr marL="182880" indent="0">
              <a:lnSpc>
                <a:spcPct val="107000"/>
              </a:lnSpc>
              <a:spcBef>
                <a:spcPts val="1200"/>
              </a:spcBef>
              <a:spcAft>
                <a:spcPts val="0"/>
              </a:spcAft>
              <a:buNone/>
            </a:pPr>
            <a:r>
              <a:rPr lang="en-US" b="1" i="0" dirty="0">
                <a:effectLst/>
                <a:latin typeface="Encode Sans"/>
              </a:rPr>
              <a:t>Exercise 2.</a:t>
            </a:r>
            <a:r>
              <a:rPr lang="en-US" b="0" i="0" dirty="0">
                <a:effectLst/>
                <a:latin typeface="Encode Sans"/>
              </a:rPr>
              <a:t> p. 1.7</a:t>
            </a:r>
          </a:p>
          <a:p>
            <a:pPr marL="182880" indent="0">
              <a:lnSpc>
                <a:spcPct val="107000"/>
              </a:lnSpc>
              <a:spcBef>
                <a:spcPts val="1200"/>
              </a:spcBef>
              <a:spcAft>
                <a:spcPts val="0"/>
              </a:spcAft>
              <a:buNone/>
            </a:pPr>
            <a:r>
              <a:rPr lang="en-US" b="0" i="0" dirty="0">
                <a:solidFill>
                  <a:srgbClr val="373D3F"/>
                </a:solidFill>
                <a:effectLst/>
                <a:latin typeface="Encode Sans"/>
              </a:rPr>
              <a:t>Now, look at this list of product names generated by other students. </a:t>
            </a:r>
          </a:p>
          <a:p>
            <a:pPr marL="640080" indent="-457200">
              <a:lnSpc>
                <a:spcPct val="107000"/>
              </a:lnSpc>
              <a:spcBef>
                <a:spcPts val="1200"/>
              </a:spcBef>
              <a:spcAft>
                <a:spcPts val="0"/>
              </a:spcAft>
            </a:pPr>
            <a:r>
              <a:rPr lang="en-US" b="0" i="0" dirty="0">
                <a:solidFill>
                  <a:srgbClr val="373D3F"/>
                </a:solidFill>
                <a:effectLst/>
                <a:latin typeface="Encode Sans"/>
              </a:rPr>
              <a:t>Which of them are good product names and which aren’t?  </a:t>
            </a:r>
          </a:p>
          <a:p>
            <a:pPr marL="640080" indent="-457200">
              <a:lnSpc>
                <a:spcPct val="107000"/>
              </a:lnSpc>
              <a:spcBef>
                <a:spcPts val="1200"/>
              </a:spcBef>
              <a:spcAft>
                <a:spcPts val="0"/>
              </a:spcAft>
            </a:pPr>
            <a:r>
              <a:rPr lang="en-US" b="0" i="0" dirty="0">
                <a:solidFill>
                  <a:srgbClr val="373D3F"/>
                </a:solidFill>
                <a:effectLst/>
                <a:latin typeface="Encode Sans"/>
              </a:rPr>
              <a:t>What makes something a good name? </a:t>
            </a:r>
          </a:p>
          <a:p>
            <a:pPr marL="640080" indent="-457200">
              <a:lnSpc>
                <a:spcPct val="107000"/>
              </a:lnSpc>
              <a:spcBef>
                <a:spcPts val="1200"/>
              </a:spcBef>
              <a:spcAft>
                <a:spcPts val="0"/>
              </a:spcAft>
            </a:pPr>
            <a:r>
              <a:rPr lang="en-US" b="0" i="0" dirty="0">
                <a:solidFill>
                  <a:srgbClr val="373D3F"/>
                </a:solidFill>
                <a:effectLst/>
                <a:latin typeface="Encode Sans"/>
              </a:rPr>
              <a:t>How do you know?</a:t>
            </a:r>
          </a:p>
          <a:p>
            <a:pPr marL="182880" indent="0">
              <a:lnSpc>
                <a:spcPct val="107000"/>
              </a:lnSpc>
              <a:spcBef>
                <a:spcPts val="1200"/>
              </a:spcBef>
              <a:spcAft>
                <a:spcPts val="0"/>
              </a:spcAft>
              <a:buNone/>
            </a:pPr>
            <a:r>
              <a:rPr lang="en-US" b="0" i="0" dirty="0" err="1">
                <a:solidFill>
                  <a:srgbClr val="373D3F"/>
                </a:solidFill>
                <a:effectLst/>
                <a:latin typeface="Encode Sans"/>
              </a:rPr>
              <a:t>mentocular</a:t>
            </a:r>
            <a:r>
              <a:rPr lang="en-US" b="0" i="0" dirty="0">
                <a:solidFill>
                  <a:srgbClr val="373D3F"/>
                </a:solidFill>
                <a:effectLst/>
                <a:latin typeface="Encode Sans"/>
              </a:rPr>
              <a:t>	</a:t>
            </a:r>
            <a:r>
              <a:rPr lang="en-US" b="0" i="0" dirty="0" err="1">
                <a:solidFill>
                  <a:srgbClr val="373D3F"/>
                </a:solidFill>
                <a:effectLst/>
                <a:latin typeface="Encode Sans"/>
              </a:rPr>
              <a:t>swoodiei</a:t>
            </a:r>
            <a:r>
              <a:rPr lang="en-US" b="0" dirty="0">
                <a:solidFill>
                  <a:srgbClr val="373D3F"/>
                </a:solidFill>
                <a:latin typeface="Encode Sans"/>
              </a:rPr>
              <a:t>     		</a:t>
            </a:r>
            <a:r>
              <a:rPr lang="en-US" b="0" i="0" dirty="0" err="1">
                <a:solidFill>
                  <a:srgbClr val="373D3F"/>
                </a:solidFill>
                <a:effectLst/>
                <a:latin typeface="Encode Sans"/>
              </a:rPr>
              <a:t>torrix</a:t>
            </a:r>
            <a:r>
              <a:rPr lang="en-US" b="0" i="0" dirty="0">
                <a:solidFill>
                  <a:srgbClr val="373D3F"/>
                </a:solidFill>
                <a:effectLst/>
                <a:latin typeface="Encode Sans"/>
              </a:rPr>
              <a:t>		</a:t>
            </a:r>
            <a:r>
              <a:rPr lang="en-US" b="0" i="0" dirty="0" err="1">
                <a:solidFill>
                  <a:srgbClr val="373D3F"/>
                </a:solidFill>
                <a:effectLst/>
                <a:latin typeface="Encode Sans"/>
              </a:rPr>
              <a:t>baizan</a:t>
            </a:r>
            <a:endParaRPr lang="en-US" b="0" i="0" dirty="0">
              <a:solidFill>
                <a:srgbClr val="373D3F"/>
              </a:solidFill>
              <a:effectLst/>
              <a:latin typeface="Encode Sans"/>
            </a:endParaRPr>
          </a:p>
          <a:p>
            <a:pPr marL="182880" indent="0">
              <a:lnSpc>
                <a:spcPct val="107000"/>
              </a:lnSpc>
              <a:spcBef>
                <a:spcPts val="1200"/>
              </a:spcBef>
              <a:spcAft>
                <a:spcPts val="0"/>
              </a:spcAft>
              <a:buNone/>
            </a:pPr>
            <a:r>
              <a:rPr lang="en-US" b="0" i="0" dirty="0" err="1">
                <a:solidFill>
                  <a:srgbClr val="373D3F"/>
                </a:solidFill>
                <a:effectLst/>
                <a:latin typeface="Encode Sans"/>
              </a:rPr>
              <a:t>jibberdab</a:t>
            </a:r>
            <a:r>
              <a:rPr lang="en-US" b="0" i="0" dirty="0">
                <a:solidFill>
                  <a:srgbClr val="373D3F"/>
                </a:solidFill>
                <a:effectLst/>
                <a:latin typeface="Encode Sans"/>
              </a:rPr>
              <a:t>		</a:t>
            </a:r>
            <a:r>
              <a:rPr lang="en-US" b="0" i="0" dirty="0" err="1">
                <a:solidFill>
                  <a:srgbClr val="373D3F"/>
                </a:solidFill>
                <a:effectLst/>
                <a:latin typeface="Encode Sans"/>
              </a:rPr>
              <a:t>keerild</a:t>
            </a:r>
            <a:r>
              <a:rPr lang="en-US" b="0" i="0" dirty="0">
                <a:solidFill>
                  <a:srgbClr val="373D3F"/>
                </a:solidFill>
                <a:effectLst/>
                <a:latin typeface="Encode Sans"/>
              </a:rPr>
              <a:t>	        	</a:t>
            </a:r>
            <a:r>
              <a:rPr lang="en-US" b="0" i="0" dirty="0" err="1">
                <a:solidFill>
                  <a:srgbClr val="373D3F"/>
                </a:solidFill>
                <a:effectLst/>
                <a:latin typeface="Encode Sans"/>
              </a:rPr>
              <a:t>euquinu</a:t>
            </a:r>
            <a:r>
              <a:rPr lang="en-US" b="0" i="0" dirty="0">
                <a:solidFill>
                  <a:srgbClr val="373D3F"/>
                </a:solidFill>
                <a:effectLst/>
                <a:latin typeface="Encode Sans"/>
              </a:rPr>
              <a:t>	</a:t>
            </a:r>
            <a:r>
              <a:rPr lang="en-US" b="0" i="0" dirty="0" err="1">
                <a:solidFill>
                  <a:srgbClr val="373D3F"/>
                </a:solidFill>
                <a:effectLst/>
                <a:latin typeface="Encode Sans"/>
              </a:rPr>
              <a:t>tuitionary</a:t>
            </a:r>
            <a:endParaRPr lang="en-US" b="0" i="0" dirty="0">
              <a:solidFill>
                <a:srgbClr val="373D3F"/>
              </a:solidFill>
              <a:effectLst/>
              <a:latin typeface="Encode Sans"/>
            </a:endParaRPr>
          </a:p>
          <a:p>
            <a:pPr marL="182880" indent="0">
              <a:lnSpc>
                <a:spcPct val="107000"/>
              </a:lnSpc>
              <a:spcBef>
                <a:spcPts val="1200"/>
              </a:spcBef>
              <a:spcAft>
                <a:spcPts val="0"/>
              </a:spcAft>
              <a:buNone/>
            </a:pPr>
            <a:r>
              <a:rPr lang="en-US" b="0" i="0" dirty="0" err="1">
                <a:solidFill>
                  <a:srgbClr val="373D3F"/>
                </a:solidFill>
                <a:effectLst/>
                <a:latin typeface="Encode Sans"/>
              </a:rPr>
              <a:t>kzen</a:t>
            </a:r>
            <a:r>
              <a:rPr lang="en-US" b="0" i="0" dirty="0">
                <a:solidFill>
                  <a:srgbClr val="373D3F"/>
                </a:solidFill>
                <a:effectLst/>
                <a:latin typeface="Encode Sans"/>
              </a:rPr>
              <a:t>	             	</a:t>
            </a:r>
            <a:r>
              <a:rPr lang="en-US" b="0" i="0" dirty="0" err="1">
                <a:solidFill>
                  <a:srgbClr val="373D3F"/>
                </a:solidFill>
                <a:effectLst/>
                <a:latin typeface="Encode Sans"/>
              </a:rPr>
              <a:t>zirka</a:t>
            </a:r>
            <a:r>
              <a:rPr lang="en-US" b="0" i="0" dirty="0">
                <a:solidFill>
                  <a:srgbClr val="373D3F"/>
                </a:solidFill>
                <a:effectLst/>
                <a:latin typeface="Encode Sans"/>
              </a:rPr>
              <a:t>	       	 	</a:t>
            </a:r>
            <a:r>
              <a:rPr lang="en-US" b="0" i="0" dirty="0" err="1">
                <a:solidFill>
                  <a:srgbClr val="373D3F"/>
                </a:solidFill>
                <a:effectLst/>
                <a:latin typeface="Encode Sans"/>
              </a:rPr>
              <a:t>hbiufk</a:t>
            </a:r>
            <a:r>
              <a:rPr lang="en-US" b="0" i="0" dirty="0">
                <a:solidFill>
                  <a:srgbClr val="373D3F"/>
                </a:solidFill>
                <a:effectLst/>
                <a:latin typeface="Encode Sans"/>
              </a:rPr>
              <a:t>	</a:t>
            </a:r>
            <a:r>
              <a:rPr lang="en-US" b="0" i="0" dirty="0" err="1">
                <a:solidFill>
                  <a:srgbClr val="373D3F"/>
                </a:solidFill>
                <a:effectLst/>
                <a:latin typeface="Encode Sans"/>
              </a:rPr>
              <a:t>fluxon</a:t>
            </a:r>
            <a:endParaRPr lang="en-US" sz="2200" b="0" i="0" dirty="0">
              <a:solidFill>
                <a:srgbClr val="333333"/>
              </a:solidFill>
              <a:effectLst/>
              <a:latin typeface="Arial" panose="020B0604020202020204" pitchFamily="34" charset="0"/>
            </a:endParaRPr>
          </a:p>
        </p:txBody>
      </p:sp>
      <p:sp>
        <p:nvSpPr>
          <p:cNvPr id="4" name="Title 3">
            <a:extLst>
              <a:ext uri="{FF2B5EF4-FFF2-40B4-BE49-F238E27FC236}">
                <a16:creationId xmlns:a16="http://schemas.microsoft.com/office/drawing/2014/main" id="{2A703E57-30C4-182A-8D47-77B1AE083C0D}"/>
              </a:ext>
            </a:extLst>
          </p:cNvPr>
          <p:cNvSpPr>
            <a:spLocks noGrp="1"/>
          </p:cNvSpPr>
          <p:nvPr>
            <p:ph type="title"/>
          </p:nvPr>
        </p:nvSpPr>
        <p:spPr/>
        <p:txBody>
          <a:bodyPr>
            <a:normAutofit/>
          </a:bodyPr>
          <a:lstStyle/>
          <a:p>
            <a:r>
              <a:rPr lang="en-US" dirty="0"/>
              <a:t>Homework Discussion</a:t>
            </a:r>
          </a:p>
        </p:txBody>
      </p:sp>
    </p:spTree>
    <p:extLst>
      <p:ext uri="{BB962C8B-B14F-4D97-AF65-F5344CB8AC3E}">
        <p14:creationId xmlns:p14="http://schemas.microsoft.com/office/powerpoint/2010/main" val="3607202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20000"/>
          </a:bodyPr>
          <a:lstStyle/>
          <a:p>
            <a:pPr marL="182880" indent="0">
              <a:lnSpc>
                <a:spcPct val="107000"/>
              </a:lnSpc>
              <a:spcBef>
                <a:spcPts val="1200"/>
              </a:spcBef>
              <a:spcAft>
                <a:spcPts val="0"/>
              </a:spcAft>
              <a:buNone/>
            </a:pPr>
            <a:r>
              <a:rPr lang="en-US" sz="2400" b="1" i="0" dirty="0">
                <a:effectLst/>
                <a:latin typeface="Encode Sans"/>
              </a:rPr>
              <a:t>Exercise 3.</a:t>
            </a:r>
            <a:r>
              <a:rPr lang="en-US" sz="2400" b="0" i="0" dirty="0">
                <a:effectLst/>
                <a:latin typeface="Encode Sans"/>
              </a:rPr>
              <a:t> p. 1.7</a:t>
            </a:r>
          </a:p>
          <a:p>
            <a:pPr>
              <a:lnSpc>
                <a:spcPct val="150000"/>
              </a:lnSpc>
            </a:pPr>
            <a:r>
              <a:rPr lang="en-US" sz="3000" b="0" i="0" dirty="0">
                <a:solidFill>
                  <a:srgbClr val="373D3F"/>
                </a:solidFill>
                <a:effectLst/>
                <a:latin typeface="Encode Sans"/>
              </a:rPr>
              <a:t>One of the many ways that mental grammar is generative is that it is always possible to create new words in a language. English often allows the creation of new verbs from existing nouns, even from proper names like in the following sentences:</a:t>
            </a:r>
          </a:p>
          <a:p>
            <a:pPr marL="1143000" lvl="2" indent="-228600" algn="l">
              <a:lnSpc>
                <a:spcPct val="150000"/>
              </a:lnSpc>
              <a:buFont typeface="+mj-lt"/>
              <a:buAutoNum type="arabicPeriod"/>
            </a:pPr>
            <a:r>
              <a:rPr lang="en-US" sz="3000" b="0" i="0" dirty="0">
                <a:solidFill>
                  <a:srgbClr val="373D3F"/>
                </a:solidFill>
                <a:effectLst/>
                <a:latin typeface="Encode Sans"/>
              </a:rPr>
              <a:t>We’re </a:t>
            </a:r>
            <a:r>
              <a:rPr lang="en-US" sz="3000" b="1" i="0" dirty="0" err="1">
                <a:solidFill>
                  <a:srgbClr val="373D3F"/>
                </a:solidFill>
                <a:effectLst/>
                <a:latin typeface="Encode Sans"/>
              </a:rPr>
              <a:t>Megabussing</a:t>
            </a:r>
            <a:r>
              <a:rPr lang="en-US" sz="3000" b="0" i="0" dirty="0">
                <a:solidFill>
                  <a:srgbClr val="373D3F"/>
                </a:solidFill>
                <a:effectLst/>
                <a:latin typeface="Encode Sans"/>
              </a:rPr>
              <a:t> to Montreal this weekend.</a:t>
            </a:r>
          </a:p>
          <a:p>
            <a:pPr marL="1143000" lvl="2" indent="-228600" algn="l">
              <a:lnSpc>
                <a:spcPct val="150000"/>
              </a:lnSpc>
              <a:buFont typeface="+mj-lt"/>
              <a:buAutoNum type="arabicPeriod"/>
            </a:pPr>
            <a:r>
              <a:rPr lang="en-US" sz="3000" b="0" i="0" dirty="0">
                <a:solidFill>
                  <a:srgbClr val="373D3F"/>
                </a:solidFill>
                <a:effectLst/>
                <a:latin typeface="Encode Sans"/>
              </a:rPr>
              <a:t>You can find out the answer by </a:t>
            </a:r>
            <a:r>
              <a:rPr lang="en-US" sz="3000" b="1" i="0" dirty="0">
                <a:solidFill>
                  <a:srgbClr val="373D3F"/>
                </a:solidFill>
                <a:effectLst/>
                <a:latin typeface="Encode Sans"/>
              </a:rPr>
              <a:t>Googling</a:t>
            </a:r>
            <a:r>
              <a:rPr lang="en-US" sz="3000" b="0" i="0" dirty="0">
                <a:solidFill>
                  <a:srgbClr val="373D3F"/>
                </a:solidFill>
                <a:effectLst/>
                <a:latin typeface="Encode Sans"/>
              </a:rPr>
              <a:t>.</a:t>
            </a:r>
          </a:p>
          <a:p>
            <a:pPr marL="1143000" lvl="2" indent="-228600" algn="l">
              <a:lnSpc>
                <a:spcPct val="150000"/>
              </a:lnSpc>
              <a:buFont typeface="+mj-lt"/>
              <a:buAutoNum type="arabicPeriod"/>
            </a:pPr>
            <a:r>
              <a:rPr lang="en-US" sz="3000" b="0" i="0" dirty="0">
                <a:solidFill>
                  <a:srgbClr val="373D3F"/>
                </a:solidFill>
                <a:effectLst/>
                <a:latin typeface="Encode Sans"/>
              </a:rPr>
              <a:t>The kids got </a:t>
            </a:r>
            <a:r>
              <a:rPr lang="en-US" sz="3000" b="1" i="0" dirty="0" err="1">
                <a:solidFill>
                  <a:srgbClr val="373D3F"/>
                </a:solidFill>
                <a:effectLst/>
                <a:latin typeface="Encode Sans"/>
              </a:rPr>
              <a:t>Pfizered</a:t>
            </a:r>
            <a:r>
              <a:rPr lang="en-US" sz="3000" b="0" i="0" dirty="0">
                <a:solidFill>
                  <a:srgbClr val="373D3F"/>
                </a:solidFill>
                <a:effectLst/>
                <a:latin typeface="Encode Sans"/>
              </a:rPr>
              <a:t> before going back to school.</a:t>
            </a:r>
          </a:p>
        </p:txBody>
      </p:sp>
      <p:sp>
        <p:nvSpPr>
          <p:cNvPr id="4" name="Title 3"/>
          <p:cNvSpPr>
            <a:spLocks noGrp="1"/>
          </p:cNvSpPr>
          <p:nvPr>
            <p:ph type="title"/>
          </p:nvPr>
        </p:nvSpPr>
        <p:spPr/>
        <p:txBody>
          <a:bodyPr>
            <a:normAutofit/>
          </a:bodyPr>
          <a:lstStyle/>
          <a:p>
            <a:r>
              <a:rPr lang="en-US" dirty="0"/>
              <a:t>Homework Discussion</a:t>
            </a:r>
          </a:p>
        </p:txBody>
      </p:sp>
    </p:spTree>
    <p:extLst>
      <p:ext uri="{BB962C8B-B14F-4D97-AF65-F5344CB8AC3E}">
        <p14:creationId xmlns:p14="http://schemas.microsoft.com/office/powerpoint/2010/main" val="1992149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43B4E-D052-ED49-D01C-D9D9072A4166}"/>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FF2C1BB-BA99-1BF7-864D-5D499B207DEC}"/>
              </a:ext>
            </a:extLst>
          </p:cNvPr>
          <p:cNvSpPr>
            <a:spLocks noGrp="1"/>
          </p:cNvSpPr>
          <p:nvPr>
            <p:ph idx="1"/>
          </p:nvPr>
        </p:nvSpPr>
        <p:spPr/>
        <p:txBody>
          <a:bodyPr>
            <a:normAutofit/>
          </a:bodyPr>
          <a:lstStyle/>
          <a:p>
            <a:pPr marL="182880" indent="0">
              <a:lnSpc>
                <a:spcPct val="107000"/>
              </a:lnSpc>
              <a:spcBef>
                <a:spcPts val="1200"/>
              </a:spcBef>
              <a:spcAft>
                <a:spcPts val="0"/>
              </a:spcAft>
              <a:buNone/>
            </a:pPr>
            <a:r>
              <a:rPr lang="en-US" sz="2400" b="1" i="0" dirty="0">
                <a:effectLst/>
                <a:latin typeface="Encode Sans"/>
              </a:rPr>
              <a:t>Exercise 3.</a:t>
            </a:r>
            <a:r>
              <a:rPr lang="en-US" sz="2400" b="0" i="0" dirty="0">
                <a:effectLst/>
                <a:latin typeface="Encode Sans"/>
              </a:rPr>
              <a:t> p. 1.7</a:t>
            </a:r>
          </a:p>
          <a:p>
            <a:pPr marL="182880" indent="0">
              <a:lnSpc>
                <a:spcPct val="107000"/>
              </a:lnSpc>
              <a:spcBef>
                <a:spcPts val="1200"/>
              </a:spcBef>
              <a:spcAft>
                <a:spcPts val="0"/>
              </a:spcAft>
              <a:buNone/>
            </a:pPr>
            <a:endParaRPr lang="en-US" sz="2400" b="0" i="0" dirty="0">
              <a:effectLst/>
              <a:latin typeface="Encode Sans"/>
            </a:endParaRPr>
          </a:p>
          <a:p>
            <a:pPr>
              <a:lnSpc>
                <a:spcPct val="150000"/>
              </a:lnSpc>
            </a:pPr>
            <a:r>
              <a:rPr lang="en-US" sz="3500" b="0" i="0" dirty="0">
                <a:solidFill>
                  <a:srgbClr val="373D3F"/>
                </a:solidFill>
                <a:effectLst/>
                <a:latin typeface="Encode Sans"/>
              </a:rPr>
              <a:t>Create three new verbs from English nouns (common nouns or proper names), and put each one in a sentence to illustrate its meaning.</a:t>
            </a:r>
          </a:p>
        </p:txBody>
      </p:sp>
      <p:sp>
        <p:nvSpPr>
          <p:cNvPr id="4" name="Title 3">
            <a:extLst>
              <a:ext uri="{FF2B5EF4-FFF2-40B4-BE49-F238E27FC236}">
                <a16:creationId xmlns:a16="http://schemas.microsoft.com/office/drawing/2014/main" id="{ED0C3969-323F-A234-5992-F1E06157C752}"/>
              </a:ext>
            </a:extLst>
          </p:cNvPr>
          <p:cNvSpPr>
            <a:spLocks noGrp="1"/>
          </p:cNvSpPr>
          <p:nvPr>
            <p:ph type="title"/>
          </p:nvPr>
        </p:nvSpPr>
        <p:spPr/>
        <p:txBody>
          <a:bodyPr>
            <a:normAutofit/>
          </a:bodyPr>
          <a:lstStyle/>
          <a:p>
            <a:r>
              <a:rPr lang="en-US" dirty="0"/>
              <a:t>Homework Discussion</a:t>
            </a:r>
          </a:p>
        </p:txBody>
      </p:sp>
    </p:spTree>
    <p:extLst>
      <p:ext uri="{BB962C8B-B14F-4D97-AF65-F5344CB8AC3E}">
        <p14:creationId xmlns:p14="http://schemas.microsoft.com/office/powerpoint/2010/main" val="171278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lnSpcReduction="10000"/>
          </a:bodyPr>
          <a:lstStyle/>
          <a:p>
            <a:pPr marL="182880" indent="0">
              <a:lnSpc>
                <a:spcPct val="107000"/>
              </a:lnSpc>
              <a:spcBef>
                <a:spcPts val="1200"/>
              </a:spcBef>
              <a:spcAft>
                <a:spcPts val="0"/>
              </a:spcAft>
              <a:buNone/>
            </a:pPr>
            <a:r>
              <a:rPr lang="en-US" b="1" i="0" dirty="0">
                <a:effectLst/>
                <a:latin typeface="Encode Sans"/>
              </a:rPr>
              <a:t>Exercise 4.</a:t>
            </a:r>
            <a:r>
              <a:rPr lang="en-US" b="0" i="0" dirty="0">
                <a:effectLst/>
                <a:latin typeface="Encode Sans"/>
              </a:rPr>
              <a:t> p. 1.7</a:t>
            </a:r>
          </a:p>
          <a:p>
            <a:pPr marL="182880" indent="0">
              <a:lnSpc>
                <a:spcPct val="150000"/>
              </a:lnSpc>
              <a:spcBef>
                <a:spcPts val="1200"/>
              </a:spcBef>
              <a:spcAft>
                <a:spcPts val="0"/>
              </a:spcAft>
              <a:buNone/>
            </a:pPr>
            <a:r>
              <a:rPr lang="en-US" b="0" i="0" dirty="0">
                <a:solidFill>
                  <a:srgbClr val="373D3F"/>
                </a:solidFill>
                <a:effectLst/>
                <a:latin typeface="Encode Sans"/>
              </a:rPr>
              <a:t>Think of a word that has only recently entered English, so it’s not yet in mainstream dictionaries. Observe some examples of the word being used in context, either in your regular conversations or by searching online.  Based on your observations of the word in context, write a dictionary definition of the word.</a:t>
            </a:r>
          </a:p>
        </p:txBody>
      </p:sp>
      <p:sp>
        <p:nvSpPr>
          <p:cNvPr id="4" name="Title 3"/>
          <p:cNvSpPr>
            <a:spLocks noGrp="1"/>
          </p:cNvSpPr>
          <p:nvPr>
            <p:ph type="title"/>
          </p:nvPr>
        </p:nvSpPr>
        <p:spPr/>
        <p:txBody>
          <a:bodyPr>
            <a:normAutofit/>
          </a:bodyPr>
          <a:lstStyle/>
          <a:p>
            <a:r>
              <a:rPr lang="en-US" dirty="0"/>
              <a:t>Homework Discussion</a:t>
            </a:r>
          </a:p>
        </p:txBody>
      </p:sp>
    </p:spTree>
    <p:extLst>
      <p:ext uri="{BB962C8B-B14F-4D97-AF65-F5344CB8AC3E}">
        <p14:creationId xmlns:p14="http://schemas.microsoft.com/office/powerpoint/2010/main" val="3820872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pPr marL="182880" indent="0">
              <a:lnSpc>
                <a:spcPct val="107000"/>
              </a:lnSpc>
              <a:spcBef>
                <a:spcPts val="1200"/>
              </a:spcBef>
              <a:spcAft>
                <a:spcPts val="0"/>
              </a:spcAft>
              <a:buNone/>
            </a:pPr>
            <a:endParaRPr lang="en-US" b="0" i="0" dirty="0">
              <a:effectLst/>
              <a:latin typeface="Encode Sans"/>
            </a:endParaRPr>
          </a:p>
          <a:p>
            <a:pPr marL="182880" indent="0">
              <a:lnSpc>
                <a:spcPct val="107000"/>
              </a:lnSpc>
              <a:spcBef>
                <a:spcPts val="1200"/>
              </a:spcBef>
              <a:spcAft>
                <a:spcPts val="0"/>
              </a:spcAft>
              <a:buNone/>
            </a:pPr>
            <a:endParaRPr lang="en-US" b="0" dirty="0">
              <a:latin typeface="Encode Sans"/>
            </a:endParaRPr>
          </a:p>
          <a:p>
            <a:pPr marL="182880" indent="0" algn="ctr">
              <a:lnSpc>
                <a:spcPct val="107000"/>
              </a:lnSpc>
              <a:spcBef>
                <a:spcPts val="1200"/>
              </a:spcBef>
              <a:spcAft>
                <a:spcPts val="0"/>
              </a:spcAft>
              <a:buNone/>
            </a:pPr>
            <a:r>
              <a:rPr lang="en-US" sz="4000" b="0" i="0" dirty="0">
                <a:effectLst/>
                <a:latin typeface="Encode Sans"/>
              </a:rPr>
              <a:t>At least </a:t>
            </a:r>
            <a:r>
              <a:rPr lang="en-US" sz="4000" b="0" i="0" u="sng" dirty="0">
                <a:effectLst/>
                <a:latin typeface="Encode Sans"/>
              </a:rPr>
              <a:t>three</a:t>
            </a:r>
            <a:r>
              <a:rPr lang="en-US" sz="4000" b="0" i="0" dirty="0">
                <a:effectLst/>
                <a:latin typeface="Encode Sans"/>
              </a:rPr>
              <a:t> students share </a:t>
            </a:r>
            <a:r>
              <a:rPr lang="en-US" sz="4000" b="0" dirty="0">
                <a:latin typeface="Encode Sans"/>
              </a:rPr>
              <a:t>the questions they asked in the </a:t>
            </a:r>
            <a:r>
              <a:rPr lang="en-US" sz="4000" b="0" i="0" dirty="0">
                <a:effectLst/>
                <a:latin typeface="Encode Sans"/>
              </a:rPr>
              <a:t>homework. </a:t>
            </a:r>
          </a:p>
          <a:p>
            <a:pPr marL="182880" indent="0" algn="ctr">
              <a:lnSpc>
                <a:spcPct val="107000"/>
              </a:lnSpc>
              <a:spcBef>
                <a:spcPts val="1200"/>
              </a:spcBef>
              <a:spcAft>
                <a:spcPts val="0"/>
              </a:spcAft>
              <a:buNone/>
            </a:pPr>
            <a:endParaRPr lang="en-US" sz="4000" b="0" i="0" dirty="0">
              <a:effectLst/>
              <a:latin typeface="Encode Sans"/>
            </a:endParaRPr>
          </a:p>
          <a:p>
            <a:pPr marL="182880" indent="0" algn="ctr">
              <a:lnSpc>
                <a:spcPct val="107000"/>
              </a:lnSpc>
              <a:spcBef>
                <a:spcPts val="1200"/>
              </a:spcBef>
              <a:spcAft>
                <a:spcPts val="0"/>
              </a:spcAft>
              <a:buNone/>
            </a:pPr>
            <a:r>
              <a:rPr lang="en-US" b="0" i="0" dirty="0">
                <a:effectLst/>
                <a:latin typeface="Encode Sans"/>
              </a:rPr>
              <a:t>Let’s have an enlightening discussion of them!</a:t>
            </a:r>
          </a:p>
          <a:p>
            <a:pPr marL="182880" indent="0" algn="ctr">
              <a:lnSpc>
                <a:spcPct val="107000"/>
              </a:lnSpc>
              <a:spcBef>
                <a:spcPts val="1200"/>
              </a:spcBef>
              <a:spcAft>
                <a:spcPts val="0"/>
              </a:spcAft>
              <a:buNone/>
            </a:pPr>
            <a:endParaRPr lang="en-US" b="0" dirty="0">
              <a:latin typeface="Encode Sans"/>
            </a:endParaRPr>
          </a:p>
          <a:p>
            <a:pPr marL="182880" indent="0" algn="ctr">
              <a:lnSpc>
                <a:spcPct val="107000"/>
              </a:lnSpc>
              <a:spcBef>
                <a:spcPts val="1200"/>
              </a:spcBef>
              <a:spcAft>
                <a:spcPts val="0"/>
              </a:spcAft>
              <a:buNone/>
            </a:pPr>
            <a:r>
              <a:rPr lang="en-US" b="0" dirty="0">
                <a:latin typeface="Encode Sans"/>
              </a:rPr>
              <a:t>We can continue to ask questions until 3:55</a:t>
            </a:r>
          </a:p>
        </p:txBody>
      </p:sp>
      <p:sp>
        <p:nvSpPr>
          <p:cNvPr id="4" name="Title 3"/>
          <p:cNvSpPr>
            <a:spLocks noGrp="1"/>
          </p:cNvSpPr>
          <p:nvPr>
            <p:ph type="title"/>
          </p:nvPr>
        </p:nvSpPr>
        <p:spPr/>
        <p:txBody>
          <a:bodyPr>
            <a:normAutofit/>
          </a:bodyPr>
          <a:lstStyle/>
          <a:p>
            <a:r>
              <a:rPr lang="en-US" dirty="0"/>
              <a:t>Homework Questions</a:t>
            </a:r>
          </a:p>
        </p:txBody>
      </p:sp>
    </p:spTree>
    <p:extLst>
      <p:ext uri="{BB962C8B-B14F-4D97-AF65-F5344CB8AC3E}">
        <p14:creationId xmlns:p14="http://schemas.microsoft.com/office/powerpoint/2010/main" val="2044138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45841" y="1305716"/>
            <a:ext cx="10476826" cy="5466020"/>
          </a:xfrm>
        </p:spPr>
        <p:txBody>
          <a:bodyPr>
            <a:normAutofit lnSpcReduction="10000"/>
          </a:bodyPr>
          <a:lstStyle/>
          <a:p>
            <a:pPr marL="697230"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Bonus: Letter of Introduction</a:t>
            </a:r>
          </a:p>
          <a:p>
            <a:pPr marL="971550" lvl="1"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I prefer this now, but you can submit it any time for full credit.</a:t>
            </a:r>
            <a:endParaRPr lang="en-US" b="0" dirty="0">
              <a:ea typeface="Calibri" panose="020F0502020204030204" pitchFamily="34" charset="0"/>
              <a:cs typeface="Times New Roman" panose="02020603050405020304" pitchFamily="18" charset="0"/>
            </a:endParaRPr>
          </a:p>
          <a:p>
            <a:pPr marL="697230"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Quiz Due on Friday at 5PM</a:t>
            </a:r>
          </a:p>
          <a:p>
            <a:pPr marL="971550" lvl="1"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Covers Lectures, Syllabus, and Reading (Open Book)</a:t>
            </a:r>
          </a:p>
          <a:p>
            <a:pPr marL="971550" lvl="1"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Can take a 2</a:t>
            </a:r>
            <a:r>
              <a:rPr lang="en-US" b="0" baseline="30000" dirty="0">
                <a:ea typeface="Calibri" panose="020F0502020204030204" pitchFamily="34" charset="0"/>
                <a:cs typeface="Times New Roman" panose="02020603050405020304" pitchFamily="18" charset="0"/>
              </a:rPr>
              <a:t>nd</a:t>
            </a:r>
            <a:r>
              <a:rPr lang="en-US" b="0" dirty="0">
                <a:ea typeface="Calibri" panose="020F0502020204030204" pitchFamily="34" charset="0"/>
                <a:cs typeface="Times New Roman" panose="02020603050405020304" pitchFamily="18" charset="0"/>
              </a:rPr>
              <a:t> time (before 11:59 pm) </a:t>
            </a:r>
          </a:p>
          <a:p>
            <a:pPr marL="697230" indent="-514350">
              <a:lnSpc>
                <a:spcPct val="107000"/>
              </a:lnSpc>
              <a:spcBef>
                <a:spcPts val="1200"/>
              </a:spcBef>
              <a:spcAft>
                <a:spcPts val="0"/>
              </a:spcAft>
            </a:pPr>
            <a:r>
              <a:rPr lang="en-US" dirty="0">
                <a:ea typeface="Calibri" panose="020F0502020204030204" pitchFamily="34" charset="0"/>
                <a:cs typeface="Times New Roman" panose="02020603050405020304" pitchFamily="18" charset="0"/>
              </a:rPr>
              <a:t>Essentials of Linguistics: 5 Morphology – Tuesday 11:59</a:t>
            </a:r>
          </a:p>
          <a:p>
            <a:pPr marL="971550" lvl="1"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Scored based on completion</a:t>
            </a:r>
          </a:p>
          <a:p>
            <a:pPr marL="971550" lvl="1" indent="-514350">
              <a:lnSpc>
                <a:spcPct val="107000"/>
              </a:lnSpc>
              <a:spcBef>
                <a:spcPts val="1200"/>
              </a:spcBef>
              <a:spcAft>
                <a:spcPts val="0"/>
              </a:spcAft>
            </a:pPr>
            <a:r>
              <a:rPr lang="en-US" dirty="0">
                <a:solidFill>
                  <a:srgbClr val="FF0000"/>
                </a:solidFill>
                <a:ea typeface="Calibri" panose="020F0502020204030204" pitchFamily="34" charset="0"/>
                <a:cs typeface="Times New Roman" panose="02020603050405020304" pitchFamily="18" charset="0"/>
              </a:rPr>
              <a:t>Please number your answers!</a:t>
            </a:r>
          </a:p>
          <a:p>
            <a:pPr marL="971550" lvl="1"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Ask a question!</a:t>
            </a:r>
          </a:p>
        </p:txBody>
      </p:sp>
      <p:sp>
        <p:nvSpPr>
          <p:cNvPr id="4" name="Title 3"/>
          <p:cNvSpPr>
            <a:spLocks noGrp="1"/>
          </p:cNvSpPr>
          <p:nvPr>
            <p:ph type="title"/>
          </p:nvPr>
        </p:nvSpPr>
        <p:spPr/>
        <p:txBody>
          <a:bodyPr>
            <a:normAutofit/>
          </a:bodyPr>
          <a:lstStyle/>
          <a:p>
            <a:r>
              <a:rPr lang="en-US" dirty="0"/>
              <a:t>Homework Preview</a:t>
            </a:r>
          </a:p>
        </p:txBody>
      </p:sp>
    </p:spTree>
    <p:extLst>
      <p:ext uri="{BB962C8B-B14F-4D97-AF65-F5344CB8AC3E}">
        <p14:creationId xmlns:p14="http://schemas.microsoft.com/office/powerpoint/2010/main" val="1423036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B6E02-8F17-8C0F-8976-044135865AFF}"/>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C808810-C479-4F9E-15C9-5840C3EB4D1A}"/>
              </a:ext>
            </a:extLst>
          </p:cNvPr>
          <p:cNvSpPr>
            <a:spLocks noGrp="1"/>
          </p:cNvSpPr>
          <p:nvPr>
            <p:ph idx="1"/>
          </p:nvPr>
        </p:nvSpPr>
        <p:spPr>
          <a:xfrm>
            <a:off x="1545841" y="1305716"/>
            <a:ext cx="10476826" cy="5466020"/>
          </a:xfrm>
        </p:spPr>
        <p:txBody>
          <a:bodyPr>
            <a:normAutofit fontScale="92500" lnSpcReduction="20000"/>
          </a:bodyPr>
          <a:lstStyle/>
          <a:p>
            <a:pPr marL="697230" indent="-514350">
              <a:lnSpc>
                <a:spcPct val="107000"/>
              </a:lnSpc>
              <a:spcBef>
                <a:spcPts val="1200"/>
              </a:spcBef>
              <a:spcAft>
                <a:spcPts val="0"/>
              </a:spcAft>
            </a:pPr>
            <a:r>
              <a:rPr lang="en-US" sz="3500" dirty="0">
                <a:ea typeface="Calibri" panose="020F0502020204030204" pitchFamily="34" charset="0"/>
                <a:cs typeface="Times New Roman" panose="02020603050405020304" pitchFamily="18" charset="0"/>
              </a:rPr>
              <a:t>Morphology</a:t>
            </a:r>
          </a:p>
          <a:p>
            <a:pPr marL="971550" lvl="1" indent="-514350">
              <a:lnSpc>
                <a:spcPct val="107000"/>
              </a:lnSpc>
              <a:spcBef>
                <a:spcPts val="1200"/>
              </a:spcBef>
              <a:spcAft>
                <a:spcPts val="0"/>
              </a:spcAft>
            </a:pPr>
            <a:r>
              <a:rPr lang="en-US" sz="3400" b="0" dirty="0">
                <a:ea typeface="Calibri" panose="020F0502020204030204" pitchFamily="34" charset="0"/>
                <a:cs typeface="Times New Roman" panose="02020603050405020304" pitchFamily="18" charset="0"/>
              </a:rPr>
              <a:t>Morphology = Study of words and word parts</a:t>
            </a:r>
          </a:p>
          <a:p>
            <a:pPr marL="971550" lvl="1" indent="-514350">
              <a:lnSpc>
                <a:spcPct val="107000"/>
              </a:lnSpc>
              <a:spcBef>
                <a:spcPts val="1200"/>
              </a:spcBef>
              <a:spcAft>
                <a:spcPts val="0"/>
              </a:spcAft>
            </a:pPr>
            <a:r>
              <a:rPr lang="en-US" sz="3400" dirty="0">
                <a:ea typeface="Calibri" panose="020F0502020204030204" pitchFamily="34" charset="0"/>
                <a:cs typeface="Times New Roman" panose="02020603050405020304" pitchFamily="18" charset="0"/>
              </a:rPr>
              <a:t>Morpheme = a unit of </a:t>
            </a:r>
            <a:r>
              <a:rPr lang="en-US" sz="3400" b="1" dirty="0">
                <a:ea typeface="Calibri" panose="020F0502020204030204" pitchFamily="34" charset="0"/>
                <a:cs typeface="Times New Roman" panose="02020603050405020304" pitchFamily="18" charset="0"/>
              </a:rPr>
              <a:t>sound</a:t>
            </a:r>
            <a:r>
              <a:rPr lang="en-US" sz="3400" dirty="0">
                <a:ea typeface="Calibri" panose="020F0502020204030204" pitchFamily="34" charset="0"/>
                <a:cs typeface="Times New Roman" panose="02020603050405020304" pitchFamily="18" charset="0"/>
              </a:rPr>
              <a:t> that has a meaning</a:t>
            </a:r>
          </a:p>
          <a:p>
            <a:pPr marL="697230" indent="-514350">
              <a:lnSpc>
                <a:spcPct val="107000"/>
              </a:lnSpc>
              <a:spcBef>
                <a:spcPts val="1200"/>
              </a:spcBef>
              <a:spcAft>
                <a:spcPts val="0"/>
              </a:spcAft>
            </a:pPr>
            <a:r>
              <a:rPr lang="en-US" sz="3800" dirty="0">
                <a:ea typeface="Calibri" panose="020F0502020204030204" pitchFamily="34" charset="0"/>
                <a:cs typeface="Times New Roman" panose="02020603050405020304" pitchFamily="18" charset="0"/>
              </a:rPr>
              <a:t>Types of Morphemes</a:t>
            </a:r>
          </a:p>
          <a:p>
            <a:pPr marL="971550" lvl="1" indent="-514350">
              <a:lnSpc>
                <a:spcPct val="107000"/>
              </a:lnSpc>
              <a:spcBef>
                <a:spcPts val="1200"/>
              </a:spcBef>
              <a:spcAft>
                <a:spcPts val="0"/>
              </a:spcAft>
            </a:pPr>
            <a:r>
              <a:rPr lang="en-US" sz="3400" dirty="0">
                <a:ea typeface="Calibri" panose="020F0502020204030204" pitchFamily="34" charset="0"/>
                <a:cs typeface="Times New Roman" panose="02020603050405020304" pitchFamily="18" charset="0"/>
              </a:rPr>
              <a:t>“Free” vs “Bound” Morphemes</a:t>
            </a:r>
          </a:p>
          <a:p>
            <a:pPr marL="971550" lvl="1" indent="-514350">
              <a:lnSpc>
                <a:spcPct val="107000"/>
              </a:lnSpc>
              <a:spcBef>
                <a:spcPts val="1200"/>
              </a:spcBef>
              <a:spcAft>
                <a:spcPts val="0"/>
              </a:spcAft>
            </a:pPr>
            <a:r>
              <a:rPr lang="en-US" sz="3400" dirty="0">
                <a:ea typeface="Calibri" panose="020F0502020204030204" pitchFamily="34" charset="0"/>
                <a:cs typeface="Times New Roman" panose="02020603050405020304" pitchFamily="18" charset="0"/>
              </a:rPr>
              <a:t>Roots vs Affixes</a:t>
            </a:r>
          </a:p>
          <a:p>
            <a:pPr marL="697230" indent="-514350">
              <a:lnSpc>
                <a:spcPct val="107000"/>
              </a:lnSpc>
              <a:spcBef>
                <a:spcPts val="1200"/>
              </a:spcBef>
              <a:spcAft>
                <a:spcPts val="0"/>
              </a:spcAft>
            </a:pPr>
            <a:r>
              <a:rPr lang="en-US" sz="3800" dirty="0">
                <a:ea typeface="Calibri" panose="020F0502020204030204" pitchFamily="34" charset="0"/>
                <a:cs typeface="Times New Roman" panose="02020603050405020304" pitchFamily="18" charset="0"/>
              </a:rPr>
              <a:t>Introduction to Parts of Speech</a:t>
            </a:r>
          </a:p>
          <a:p>
            <a:pPr marL="971550" lvl="1" indent="-514350">
              <a:lnSpc>
                <a:spcPct val="107000"/>
              </a:lnSpc>
              <a:spcBef>
                <a:spcPts val="1200"/>
              </a:spcBef>
              <a:spcAft>
                <a:spcPts val="0"/>
              </a:spcAft>
            </a:pPr>
            <a:r>
              <a:rPr lang="en-US" sz="3400" dirty="0">
                <a:ea typeface="Calibri" panose="020F0502020204030204" pitchFamily="34" charset="0"/>
                <a:cs typeface="Times New Roman" panose="02020603050405020304" pitchFamily="18" charset="0"/>
              </a:rPr>
              <a:t>Linguistic definitions vs Semantic (meaning) definitions</a:t>
            </a:r>
          </a:p>
          <a:p>
            <a:pPr marL="971550" lvl="1" indent="-514350">
              <a:lnSpc>
                <a:spcPct val="107000"/>
              </a:lnSpc>
              <a:spcBef>
                <a:spcPts val="1200"/>
              </a:spcBef>
              <a:spcAft>
                <a:spcPts val="0"/>
              </a:spcAft>
            </a:pPr>
            <a:r>
              <a:rPr lang="en-US" sz="3400" dirty="0">
                <a:ea typeface="Calibri" panose="020F0502020204030204" pitchFamily="34" charset="0"/>
                <a:cs typeface="Times New Roman" panose="02020603050405020304" pitchFamily="18" charset="0"/>
              </a:rPr>
              <a:t>Form (morphology) vs Function (syntax)</a:t>
            </a:r>
          </a:p>
          <a:p>
            <a:pPr marL="971550" lvl="1" indent="-514350">
              <a:lnSpc>
                <a:spcPct val="107000"/>
              </a:lnSpc>
              <a:spcBef>
                <a:spcPts val="1200"/>
              </a:spcBef>
              <a:spcAft>
                <a:spcPts val="0"/>
              </a:spcAft>
            </a:pPr>
            <a:endParaRPr lang="en-US" b="0" dirty="0">
              <a:ea typeface="Calibri" panose="020F0502020204030204" pitchFamily="34" charset="0"/>
              <a:cs typeface="Times New Roman" panose="02020603050405020304" pitchFamily="18" charset="0"/>
            </a:endParaRPr>
          </a:p>
        </p:txBody>
      </p:sp>
      <p:sp>
        <p:nvSpPr>
          <p:cNvPr id="4" name="Title 3">
            <a:extLst>
              <a:ext uri="{FF2B5EF4-FFF2-40B4-BE49-F238E27FC236}">
                <a16:creationId xmlns:a16="http://schemas.microsoft.com/office/drawing/2014/main" id="{2AE435E5-5131-BE5C-8A93-AFEDAFF79C8C}"/>
              </a:ext>
            </a:extLst>
          </p:cNvPr>
          <p:cNvSpPr>
            <a:spLocks noGrp="1"/>
          </p:cNvSpPr>
          <p:nvPr>
            <p:ph type="title"/>
          </p:nvPr>
        </p:nvSpPr>
        <p:spPr/>
        <p:txBody>
          <a:bodyPr>
            <a:normAutofit/>
          </a:bodyPr>
          <a:lstStyle/>
          <a:p>
            <a:r>
              <a:rPr lang="en-US" dirty="0"/>
              <a:t>Homework Preview</a:t>
            </a:r>
          </a:p>
        </p:txBody>
      </p:sp>
    </p:spTree>
    <p:extLst>
      <p:ext uri="{BB962C8B-B14F-4D97-AF65-F5344CB8AC3E}">
        <p14:creationId xmlns:p14="http://schemas.microsoft.com/office/powerpoint/2010/main" val="3936272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marL="697230"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If you have questions or concerns, hang around to talk.</a:t>
            </a:r>
          </a:p>
          <a:p>
            <a:pPr marL="640080" indent="-457200">
              <a:lnSpc>
                <a:spcPct val="107000"/>
              </a:lnSpc>
              <a:spcBef>
                <a:spcPts val="1200"/>
              </a:spcBef>
              <a:spcAft>
                <a:spcPts val="0"/>
              </a:spcAft>
            </a:pPr>
            <a:endParaRPr lang="en-US" b="0" dirty="0">
              <a:ea typeface="Calibri" panose="020F0502020204030204" pitchFamily="34" charset="0"/>
              <a:cs typeface="Times New Roman" panose="02020603050405020304" pitchFamily="18" charset="0"/>
            </a:endParaRPr>
          </a:p>
          <a:p>
            <a:pPr marL="697230"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Please let me begin with folks with enrollment problems (waitlisted, might drop, </a:t>
            </a:r>
            <a:r>
              <a:rPr lang="en-US" b="0" dirty="0" err="1">
                <a:ea typeface="Calibri" panose="020F0502020204030204" pitchFamily="34" charset="0"/>
                <a:cs typeface="Times New Roman" panose="02020603050405020304" pitchFamily="18" charset="0"/>
              </a:rPr>
              <a:t>etc</a:t>
            </a:r>
            <a:r>
              <a:rPr lang="en-US" b="0" dirty="0">
                <a:ea typeface="Calibri" panose="020F0502020204030204" pitchFamily="34" charset="0"/>
                <a:cs typeface="Times New Roman" panose="02020603050405020304" pitchFamily="18" charset="0"/>
              </a:rPr>
              <a:t>).</a:t>
            </a:r>
          </a:p>
        </p:txBody>
      </p:sp>
      <p:sp>
        <p:nvSpPr>
          <p:cNvPr id="4" name="Title 3"/>
          <p:cNvSpPr>
            <a:spLocks noGrp="1"/>
          </p:cNvSpPr>
          <p:nvPr>
            <p:ph type="title"/>
          </p:nvPr>
        </p:nvSpPr>
        <p:spPr/>
        <p:txBody>
          <a:bodyPr>
            <a:normAutofit/>
          </a:bodyPr>
          <a:lstStyle/>
          <a:p>
            <a:r>
              <a:rPr lang="en-US" dirty="0"/>
              <a:t>End of Class</a:t>
            </a:r>
          </a:p>
        </p:txBody>
      </p:sp>
    </p:spTree>
    <p:extLst>
      <p:ext uri="{BB962C8B-B14F-4D97-AF65-F5344CB8AC3E}">
        <p14:creationId xmlns:p14="http://schemas.microsoft.com/office/powerpoint/2010/main" val="514603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d's tie design template">
  <a:themeElements>
    <a:clrScheme name="Custom 7">
      <a:dk1>
        <a:sysClr val="windowText" lastClr="000000"/>
      </a:dk1>
      <a:lt1>
        <a:sysClr val="window" lastClr="FFFFFF"/>
      </a:lt1>
      <a:dk2>
        <a:srgbClr val="323232"/>
      </a:dk2>
      <a:lt2>
        <a:srgbClr val="FFFFCC"/>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spDef>
      <a:spPr>
        <a:ln>
          <a:noFill/>
        </a:ln>
      </a:spPr>
      <a:bodyPr rtlCol="0" anchor="ctr"/>
      <a:lstStyle>
        <a:defPPr algn="ctr">
          <a:defRPr dirty="0"/>
        </a:defPPr>
      </a:lstStyle>
      <a:style>
        <a:lnRef idx="3">
          <a:schemeClr val="lt1"/>
        </a:lnRef>
        <a:fillRef idx="1">
          <a:schemeClr val="accent2"/>
        </a:fillRef>
        <a:effectRef idx="1">
          <a:schemeClr val="accent2"/>
        </a:effectRef>
        <a:fontRef idx="minor">
          <a:schemeClr val="lt1"/>
        </a:fontRef>
      </a:style>
    </a:spDef>
    <a:lnDef>
      <a:spPr>
        <a:ln>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a:defPPr>
      </a:lstStyle>
    </a:txDef>
  </a:objectDefaults>
  <a:extraClrSchemeLst/>
  <a:extLst>
    <a:ext uri="{05A4C25C-085E-4340-85A3-A5531E510DB2}">
      <thm15:themeFamily xmlns:thm15="http://schemas.microsoft.com/office/thememl/2012/main" name="Dad's tie design template" id="{D38B957D-588F-4953-A2A4-8835E8F79C65}" vid="{09887BB5-A875-44C0-9AF9-8FE92BB7EC5A}"/>
    </a:ext>
  </a:extLst>
</a:theme>
</file>

<file path=ppt/theme/theme2.xml><?xml version="1.0" encoding="utf-8"?>
<a:theme xmlns:a="http://schemas.openxmlformats.org/drawingml/2006/main" name="Office Them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C979567-0D27-4E98-9101-139E4F27BE4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Dad's tie design slides</Template>
  <TotalTime>0</TotalTime>
  <Words>1788</Words>
  <Application>Microsoft Office PowerPoint</Application>
  <PresentationFormat>Widescreen</PresentationFormat>
  <Paragraphs>210</Paragraphs>
  <Slides>35</Slides>
  <Notes>1</Notes>
  <HiddenSlides>0</HiddenSlides>
  <MMClips>1</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35</vt:i4>
      </vt:variant>
    </vt:vector>
  </HeadingPairs>
  <TitlesOfParts>
    <vt:vector size="48" baseType="lpstr">
      <vt:lpstr>Abadi</vt:lpstr>
      <vt:lpstr>Arial</vt:lpstr>
      <vt:lpstr>Calibri</vt:lpstr>
      <vt:lpstr>Cavolini</vt:lpstr>
      <vt:lpstr>Century Gothic</vt:lpstr>
      <vt:lpstr>Encode Sans</vt:lpstr>
      <vt:lpstr>Palatino</vt:lpstr>
      <vt:lpstr>Palatino Linotype</vt:lpstr>
      <vt:lpstr>Segoe UI</vt:lpstr>
      <vt:lpstr>Times New Roman</vt:lpstr>
      <vt:lpstr>Verdana</vt:lpstr>
      <vt:lpstr>Wingdings 2</vt:lpstr>
      <vt:lpstr>Dad's tie design template</vt:lpstr>
      <vt:lpstr>Course Introduction</vt:lpstr>
      <vt:lpstr>Please Be Patient!</vt:lpstr>
      <vt:lpstr>House Keeping</vt:lpstr>
      <vt:lpstr>House Keeping</vt:lpstr>
      <vt:lpstr>Refresher</vt:lpstr>
      <vt:lpstr>Refresher</vt:lpstr>
      <vt:lpstr>Sample Diagrams</vt:lpstr>
      <vt:lpstr>Reading Discussion: Key Concepts</vt:lpstr>
      <vt:lpstr>Reading Discussion: Key Concepts</vt:lpstr>
      <vt:lpstr>Reading Discussion: Key Concepts</vt:lpstr>
      <vt:lpstr>Homework Discussion</vt:lpstr>
      <vt:lpstr>Group Discussion</vt:lpstr>
      <vt:lpstr>Homework Discussion</vt:lpstr>
      <vt:lpstr>Homework Discussion</vt:lpstr>
      <vt:lpstr>Homework Discussion</vt:lpstr>
      <vt:lpstr>Reading Discussion: Key Concepts</vt:lpstr>
      <vt:lpstr>Reading Discussion: Key Concepts</vt:lpstr>
      <vt:lpstr>Reading Discussion: Key Concepts</vt:lpstr>
      <vt:lpstr>Reading Discussion: Key Concepts</vt:lpstr>
      <vt:lpstr>PowerPoint Presentation</vt:lpstr>
      <vt:lpstr>DESCPRIPTIVE vs PRESCRIPTIVE RULES</vt:lpstr>
      <vt:lpstr>PRESCRIPTIVE RULES</vt:lpstr>
      <vt:lpstr>An Analogy</vt:lpstr>
      <vt:lpstr>Prescriptive and Descriptive Rules</vt:lpstr>
      <vt:lpstr>SPEAKING VS WRITING</vt:lpstr>
      <vt:lpstr>ORIGINS OF WRITING</vt:lpstr>
      <vt:lpstr>Homework Discussion</vt:lpstr>
      <vt:lpstr>Homework Discussion</vt:lpstr>
      <vt:lpstr>Homework Discussion</vt:lpstr>
      <vt:lpstr>Homework Discussion</vt:lpstr>
      <vt:lpstr>Homework Discussion</vt:lpstr>
      <vt:lpstr>Homework Questions</vt:lpstr>
      <vt:lpstr>Homework Preview</vt:lpstr>
      <vt:lpstr>Homework Preview</vt:lpstr>
      <vt:lpstr>End of Class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2016-07-22T17:40:32Z</dcterms:created>
  <dcterms:modified xsi:type="dcterms:W3CDTF">2025-08-27T21:41:01Z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TC034605139991</vt:lpwstr>
  </property>
</Properties>
</file>