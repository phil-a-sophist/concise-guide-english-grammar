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3"/>
  </p:notesMasterIdLst>
  <p:handoutMasterIdLst>
    <p:handoutMasterId r:id="rId34"/>
  </p:handoutMasterIdLst>
  <p:sldIdLst>
    <p:sldId id="270" r:id="rId3"/>
    <p:sldId id="271" r:id="rId4"/>
    <p:sldId id="371" r:id="rId5"/>
    <p:sldId id="372" r:id="rId6"/>
    <p:sldId id="365" r:id="rId7"/>
    <p:sldId id="424" r:id="rId8"/>
    <p:sldId id="396" r:id="rId9"/>
    <p:sldId id="398" r:id="rId10"/>
    <p:sldId id="400" r:id="rId11"/>
    <p:sldId id="275" r:id="rId12"/>
    <p:sldId id="315" r:id="rId13"/>
    <p:sldId id="374" r:id="rId14"/>
    <p:sldId id="384" r:id="rId15"/>
    <p:sldId id="392" r:id="rId16"/>
    <p:sldId id="393" r:id="rId17"/>
    <p:sldId id="402" r:id="rId18"/>
    <p:sldId id="403" r:id="rId19"/>
    <p:sldId id="404" r:id="rId20"/>
    <p:sldId id="407" r:id="rId21"/>
    <p:sldId id="408" r:id="rId22"/>
    <p:sldId id="409" r:id="rId23"/>
    <p:sldId id="411" r:id="rId24"/>
    <p:sldId id="412" r:id="rId25"/>
    <p:sldId id="418" r:id="rId26"/>
    <p:sldId id="419" r:id="rId27"/>
    <p:sldId id="421" r:id="rId28"/>
    <p:sldId id="422" r:id="rId29"/>
    <p:sldId id="423" r:id="rId30"/>
    <p:sldId id="340" r:id="rId31"/>
    <p:sldId id="40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9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8/25/2025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erbicidemagazine.com/wp-content/uploads/2011/09/Oxford-Comma.jpg" TargetMode="Externa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ENGL 3110 and ENGL 3070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Dr. Phillip Haisley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Phaisley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@uccs.edu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things to do while everyone gets here.</a:t>
            </a:r>
          </a:p>
          <a:p>
            <a:pPr marL="914400" lvl="1" indent="-457200">
              <a:lnSpc>
                <a:spcPct val="107000"/>
              </a:lnSpc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Canvas</a:t>
            </a:r>
          </a:p>
          <a:p>
            <a:pPr marL="914400" lvl="1" indent="-457200">
              <a:lnSpc>
                <a:spcPct val="107000"/>
              </a:lnSpc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Course Schedule</a:t>
            </a:r>
          </a:p>
          <a:p>
            <a:pPr marL="914400" lvl="1" indent="-457200">
              <a:lnSpc>
                <a:spcPct val="107000"/>
              </a:lnSpc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over the Syllabus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the “Resources” on the front page of Canvas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15449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/>
              <a:t>Been teaching 20 years or so, year 14 at UCCS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I have an MA in TESL and a PhD in Educational Research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Students say I am fair, supportive, and help them improve.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Students also say I assign lots of homework and grade hard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Happily married with two fur babies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Grew up in Oklahoma, now live just north of campus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Feminist, LGBTQ+ Ally, Anti-Racist, Mental Health Advocate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Dr. Phillip Haisley</a:t>
            </a:r>
          </a:p>
        </p:txBody>
      </p:sp>
    </p:spTree>
    <p:extLst>
      <p:ext uri="{BB962C8B-B14F-4D97-AF65-F5344CB8AC3E}">
        <p14:creationId xmlns:p14="http://schemas.microsoft.com/office/powerpoint/2010/main" val="73829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328166"/>
          </a:xfrm>
        </p:spPr>
        <p:txBody>
          <a:bodyPr>
            <a:normAutofit fontScale="77500" lnSpcReduction="20000"/>
          </a:bodyPr>
          <a:lstStyle/>
          <a:p>
            <a:pPr marL="82296" indent="0">
              <a:lnSpc>
                <a:spcPct val="150000"/>
              </a:lnSpc>
              <a:buNone/>
            </a:pPr>
            <a:r>
              <a:rPr lang="en-US" sz="2400" dirty="0"/>
              <a:t>Key Activities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Study English Grammar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Understand the structure of sentences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Label and diagram sentence elements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Apply Grammar Knowledge to our own lives and purposes</a:t>
            </a:r>
          </a:p>
          <a:p>
            <a:pPr marL="82296" indent="0">
              <a:lnSpc>
                <a:spcPct val="150000"/>
              </a:lnSpc>
              <a:buNone/>
            </a:pPr>
            <a:r>
              <a:rPr lang="en-US" sz="2400" dirty="0"/>
              <a:t>Key Assignments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Daily Homework (10 pts) – Completion Grade Only, Answer Keys Posted After You Submit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Weekly Quizzes (20 pts) – One Retake Opportunity, Answers Show after 2</a:t>
            </a:r>
            <a:r>
              <a:rPr lang="en-US" sz="2400" b="0" baseline="30000" dirty="0"/>
              <a:t>nd</a:t>
            </a:r>
            <a:r>
              <a:rPr lang="en-US" sz="2400" b="0" dirty="0"/>
              <a:t> Attempt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Four Exams (100 pts) – In Class, Open book/Open note (No AI Assistance)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Two Analysis Papers (100 pts) – 5 pages each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COURSE</a:t>
            </a:r>
          </a:p>
        </p:txBody>
      </p:sp>
    </p:spTree>
    <p:extLst>
      <p:ext uri="{BB962C8B-B14F-4D97-AF65-F5344CB8AC3E}">
        <p14:creationId xmlns:p14="http://schemas.microsoft.com/office/powerpoint/2010/main" val="350724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Tell us your full name, pronouns, and what you prefer to be called</a:t>
            </a: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What majors and careers interest you and why?</a:t>
            </a: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What is something we should know about you to be good classmates?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283796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E95AE-3820-D083-DEC8-EEC973BC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7F5A5B-7072-ADDC-68AE-3B2ACE43D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 into four to five groups based on major/career interests.</a:t>
            </a: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Introduce yourselves. Consider </a:t>
            </a:r>
            <a:r>
              <a:rPr lang="en-US" sz="2800" b="0">
                <a:ea typeface="Calibri" panose="020F0502020204030204" pitchFamily="34" charset="0"/>
                <a:cs typeface="Times New Roman" panose="02020603050405020304" pitchFamily="18" charset="0"/>
              </a:rPr>
              <a:t>swapping contact info.</a:t>
            </a:r>
            <a:endParaRPr lang="en-US" sz="28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How will a knowledge of grammar be useful in your career?</a:t>
            </a: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b="0" dirty="0">
                <a:ea typeface="Calibri" panose="020F0502020204030204" pitchFamily="34" charset="0"/>
                <a:cs typeface="Times New Roman" panose="02020603050405020304" pitchFamily="18" charset="0"/>
              </a:rPr>
              <a:t>Do we still need grammatical knowledge in the age of AI? Why?</a:t>
            </a:r>
          </a:p>
          <a:p>
            <a:pPr marL="18288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B65F0A-ADEC-83D8-2289-D5C81AA7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423553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 is “infinitely generative”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Sentences can be infinitely long and still grammatically correct</a:t>
            </a:r>
            <a:endParaRPr lang="en-US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Words fall in two categories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Open Classes (new words can be added all the time)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Nouns,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Verbs, Adjectives, Adverbs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Closed Classes (relatively fixed list over time)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Determiners, 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Prepositions, Pronouns, Conjunctions, etc.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Grammar Mini-Lecture</a:t>
            </a:r>
          </a:p>
        </p:txBody>
      </p:sp>
    </p:spTree>
    <p:extLst>
      <p:ext uri="{BB962C8B-B14F-4D97-AF65-F5344CB8AC3E}">
        <p14:creationId xmlns:p14="http://schemas.microsoft.com/office/powerpoint/2010/main" val="100837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Core Elements of all Sentences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Noun (headword of a noun phrase)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 (headword of a verb phrase)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Open-Class Modifiers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Adjectives (headword of an adjective phrase) 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odify nouns, prepositional phrases, or words acting as nouns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Adverbs (headword of an adverb phrase)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modify verbs, adjectives, whole sentences, or other adverbs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Grammar Knowledge Refresh</a:t>
            </a:r>
          </a:p>
        </p:txBody>
      </p:sp>
    </p:spTree>
    <p:extLst>
      <p:ext uri="{BB962C8B-B14F-4D97-AF65-F5344CB8AC3E}">
        <p14:creationId xmlns:p14="http://schemas.microsoft.com/office/powerpoint/2010/main" val="99833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Diagrams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C2B43C-2CEF-6986-AA0A-F0D00837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6" y="1265234"/>
            <a:ext cx="1890416" cy="217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4380ED-31C3-01DB-9B7E-0510E7B6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30" y="2086379"/>
            <a:ext cx="3820366" cy="297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2310299-6C9B-26AC-11B7-85B43E761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314" y="3429001"/>
            <a:ext cx="4307473" cy="288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2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/>
              <a:t>Do the work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/>
              <a:t>Stay organized and plan ahead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/>
              <a:t>Read the announcements and instructions carefully!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/>
              <a:t>Do the bonus when needed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/>
              <a:t>Be present and prepared for exams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0" dirty="0">
                <a:solidFill>
                  <a:srgbClr val="C00000"/>
                </a:solidFill>
              </a:rPr>
              <a:t>Ask for Help or Extensions When Needed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WELL IN THIS CLASS</a:t>
            </a:r>
          </a:p>
        </p:txBody>
      </p:sp>
    </p:spTree>
    <p:extLst>
      <p:ext uri="{BB962C8B-B14F-4D97-AF65-F5344CB8AC3E}">
        <p14:creationId xmlns:p14="http://schemas.microsoft.com/office/powerpoint/2010/main" val="151452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Attendance</a:t>
            </a:r>
          </a:p>
          <a:p>
            <a:pPr lvl="1"/>
            <a:r>
              <a:rPr lang="en-US" sz="2000" dirty="0"/>
              <a:t>Seven absences with no penalty. </a:t>
            </a:r>
            <a:r>
              <a:rPr lang="en-US" sz="2000" dirty="0">
                <a:solidFill>
                  <a:srgbClr val="C00000"/>
                </a:solidFill>
              </a:rPr>
              <a:t>On the eight absence, you fail the course.</a:t>
            </a:r>
          </a:p>
          <a:p>
            <a:pPr lvl="1"/>
            <a:r>
              <a:rPr lang="en-US" sz="2000" dirty="0"/>
              <a:t>This is NOT a “hyflex” class. You have to be here in person.</a:t>
            </a:r>
          </a:p>
          <a:p>
            <a:pPr lvl="1"/>
            <a:r>
              <a:rPr lang="en-US" sz="2000" dirty="0"/>
              <a:t>If you are sick, please stay home! But you cannot attend class online.</a:t>
            </a:r>
          </a:p>
          <a:p>
            <a:r>
              <a:rPr lang="en-US" sz="2400" dirty="0"/>
              <a:t>Late and Makeup</a:t>
            </a:r>
          </a:p>
          <a:p>
            <a:pPr lvl="1"/>
            <a:r>
              <a:rPr lang="en-US" sz="2000" dirty="0"/>
              <a:t>For most homework and quizzes, you may email me for a one-class extension</a:t>
            </a:r>
          </a:p>
          <a:p>
            <a:pPr lvl="1"/>
            <a:r>
              <a:rPr lang="en-US" sz="2000" dirty="0"/>
              <a:t>Late homework or quizzes are dropped to 50% credit</a:t>
            </a:r>
          </a:p>
          <a:p>
            <a:pPr lvl="1"/>
            <a:r>
              <a:rPr lang="en-US" sz="2000" dirty="0"/>
              <a:t>Exams can be scheduled in advance for 100% or taken at home for 50%</a:t>
            </a:r>
          </a:p>
          <a:p>
            <a:r>
              <a:rPr lang="en-US" sz="2400" dirty="0"/>
              <a:t>Approved Late Work and Absences</a:t>
            </a:r>
          </a:p>
          <a:p>
            <a:pPr lvl="1"/>
            <a:r>
              <a:rPr lang="en-US" sz="2000" dirty="0"/>
              <a:t>Certain exceptions to these policies are listed in the syllabus such as registered disabilities, jury duty, or military service</a:t>
            </a:r>
          </a:p>
          <a:p>
            <a:endParaRPr lang="en-US" sz="2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Policies</a:t>
            </a:r>
          </a:p>
        </p:txBody>
      </p:sp>
    </p:spTree>
    <p:extLst>
      <p:ext uri="{BB962C8B-B14F-4D97-AF65-F5344CB8AC3E}">
        <p14:creationId xmlns:p14="http://schemas.microsoft.com/office/powerpoint/2010/main" val="372608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159935"/>
          </a:xfrm>
        </p:spPr>
        <p:txBody>
          <a:bodyPr>
            <a:normAutofit fontScale="92500" lnSpcReduction="10000"/>
          </a:bodyPr>
          <a:lstStyle/>
          <a:p>
            <a:pPr marL="596646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Grading is Different than most classes. Pay Attention!!</a:t>
            </a:r>
          </a:p>
          <a:p>
            <a:pPr marL="596646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endParaRPr lang="en-US" dirty="0"/>
          </a:p>
          <a:p>
            <a:pPr marL="596646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Percentage in Canvas is an ESTIMATE not a Guarantee</a:t>
            </a:r>
          </a:p>
          <a:p>
            <a:pPr marL="870966" lvl="1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Only the Total Points really matter</a:t>
            </a:r>
          </a:p>
          <a:p>
            <a:pPr marL="870966" lvl="1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Letter and Percentage are just estimates</a:t>
            </a:r>
          </a:p>
          <a:p>
            <a:pPr marL="596646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endParaRPr lang="en-US" dirty="0"/>
          </a:p>
          <a:p>
            <a:pPr marL="596646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Need 940 Points to Earn an A</a:t>
            </a:r>
          </a:p>
          <a:p>
            <a:pPr marL="870966" lvl="1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Your point total only goes up (never down)</a:t>
            </a:r>
          </a:p>
          <a:p>
            <a:pPr marL="870966" lvl="1" indent="-514350">
              <a:lnSpc>
                <a:spcPct val="12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I will offer at least 1210 points by the end of the semester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 Policy</a:t>
            </a:r>
          </a:p>
        </p:txBody>
      </p:sp>
    </p:spTree>
    <p:extLst>
      <p:ext uri="{BB962C8B-B14F-4D97-AF65-F5344CB8AC3E}">
        <p14:creationId xmlns:p14="http://schemas.microsoft.com/office/powerpoint/2010/main" val="249068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Homework Due at 11:59 </a:t>
            </a:r>
            <a:r>
              <a:rPr lang="en-US" sz="2800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AM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 on Monday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Review homework together in class</a:t>
            </a: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Homework Due at 11:59 </a:t>
            </a:r>
            <a:r>
              <a:rPr lang="en-US" sz="2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Wednesday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Review homework together in class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Quiz due at 11:59 </a:t>
            </a:r>
            <a:r>
              <a:rPr lang="en-US" sz="2800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AM</a:t>
            </a: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 on Friday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Can re-take one time before 11:59 AM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Can see your results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8288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Typical Week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26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Three Weeks of Homework and Quizzes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Will review HW answer keys in class and post to Canvas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HW Monday and Wednesday – Completion Grade Only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Quiz Friday – Can retake Once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 Study Guide due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Wednesday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before Test as HW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Discuss study guide and prep for exam together in class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Post study-guide answer key after class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Exam in-class on Wednesday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Open book, Open note (No help from friends or AI)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Will return by hard copy shortly and post your grade in Canvas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8288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Typical Unit (Four Units)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5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283343"/>
          </a:xfrm>
        </p:spPr>
        <p:txBody>
          <a:bodyPr>
            <a:normAutofit/>
          </a:bodyPr>
          <a:lstStyle/>
          <a:p>
            <a:pPr marL="18288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10 pt Bonus Assignments (10 spread through the semester)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Completion Based (just follow the instructions)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Have a due date listed, but can be submitted for full credit at 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any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time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Bonus Exam (50 pts)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0" dirty="0">
                <a:ea typeface="Calibri" panose="020F0502020204030204" pitchFamily="34" charset="0"/>
                <a:cs typeface="Times New Roman" panose="02020603050405020304" pitchFamily="18" charset="0"/>
              </a:rPr>
              <a:t>A comprehensive, take-hom</a:t>
            </a: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e exam</a:t>
            </a:r>
            <a:endParaRPr lang="en-US" sz="2200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ea typeface="Calibri" panose="020F0502020204030204" pitchFamily="34" charset="0"/>
                <a:cs typeface="Times New Roman" panose="02020603050405020304" pitchFamily="18" charset="0"/>
              </a:rPr>
              <a:t>Intended as bonus points for students who struggled on main exams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0" dirty="0">
                <a:ea typeface="Calibri" panose="020F0502020204030204" pitchFamily="34" charset="0"/>
                <a:cs typeface="Times New Roman" panose="02020603050405020304" pitchFamily="18" charset="0"/>
              </a:rPr>
              <a:t>Due last day of class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8288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Bonus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43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220590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Homework grade is based on completion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Page numbers and instructions on Canvas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Only answer the questions the instructions request!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 right answers for Homework One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So no answer key!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Submit to Canvas by 11:59 </a:t>
            </a:r>
            <a:r>
              <a:rPr lang="en-US" b="0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AM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 on Wednesday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Have available to you during class on Wednesday to discuss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Please Number Your Answers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Always ask one question in homework.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Preview</a:t>
            </a:r>
          </a:p>
        </p:txBody>
      </p:sp>
    </p:spTree>
    <p:extLst>
      <p:ext uri="{BB962C8B-B14F-4D97-AF65-F5344CB8AC3E}">
        <p14:creationId xmlns:p14="http://schemas.microsoft.com/office/powerpoint/2010/main" val="407918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Short Video from PBS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Overview of Linguistics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Meant as a teaser/warm-up for the book chapters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“Learn” not Memorize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Chapter 1 from Online Book (Essentials of Linguistics)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Can click through pages in bottom right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Helpful for Short Answers questions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on Exam One 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b="0">
                <a:ea typeface="Calibri" panose="020F0502020204030204" pitchFamily="34" charset="0"/>
                <a:cs typeface="Times New Roman" panose="02020603050405020304" pitchFamily="18" charset="0"/>
              </a:rPr>
              <a:t>Application Essay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Please watch videos!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Read examples carefully – think them through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Up to you whether you complete “Check your understanding”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Preview</a:t>
            </a:r>
          </a:p>
        </p:txBody>
      </p:sp>
    </p:spTree>
    <p:extLst>
      <p:ext uri="{BB962C8B-B14F-4D97-AF65-F5344CB8AC3E}">
        <p14:creationId xmlns:p14="http://schemas.microsoft.com/office/powerpoint/2010/main" val="397711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Linguistics is the Scientific Study of Language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Levels of Linguistic Study (Phonetics to Pragmatics)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Languages are Infinitely Productive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Languages Change over Time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Prescriptive vs Descriptive Rules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Dialects and Language Standards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Preview: Key Concepts</a:t>
            </a:r>
          </a:p>
        </p:txBody>
      </p:sp>
    </p:spTree>
    <p:extLst>
      <p:ext uri="{BB962C8B-B14F-4D97-AF65-F5344CB8AC3E}">
        <p14:creationId xmlns:p14="http://schemas.microsoft.com/office/powerpoint/2010/main" val="115635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Linguistics is the Scientific Study of Language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Proceeds based on empirical evidence and scientific method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Fairly new discipline. Only got scientific in the 1940s.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Applications to AI, TESL, cognitive science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Chomsky and Generative/Universal Grammar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Critical Period Hypothesis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Branches like Historical, Socio, Psycho, Corpus,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Homework asks a question about ethics of “Research Methods”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234769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Levels of Linguistic Study (Phonetics to Pragmatics)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Phonology – The study of sounds (or visual cues)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Phonetics – The study of sounds and meaning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Morphology- The study of words and word parts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Syntax – The study of sentences and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Semantics – The study of meaning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Pragmatics – The study of meaning in context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56816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270898"/>
            <a:ext cx="10476826" cy="5040309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Levels of Linguistic Study (Phonetics to Pragmatics)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Phonology – The study of sounds (or visual cues)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Phonetics – The study of sounds and meaning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Morphology- The study of words and word parts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Syntax – The study of sentences and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Semantics – The study of meaning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Pragmatics – The study of meaning in context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114047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Languages are Infinitely Productive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can invent new words all the time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We can make completely novel statements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can make sentences that are logical and follow descriptive rules, but which are infinitely long (just keep adding pieces)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318035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Languages Change over Time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Change is natural and expected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People have been bemoaning a “decline in standards” forever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New languages and dialects are evolving, disappearing, and diverging all the time.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From a descriptive linguistic perspective, change is not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bad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 It just is.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247010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Dialects and Language Standards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 dialect is a version of a language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Could be tiny like “Colorado Springs English”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Could be broader like “Caribbean 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Englishes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dialect is inherently better or worse than any other.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All are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internally logical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All are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learned and spoken perfectly by native speakers</a:t>
            </a:r>
          </a:p>
          <a:p>
            <a:pPr marL="704088" lvl="2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290454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Some Dialects carry “Social Privilege”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Typically dialects used by groups in positions of power and privilege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These are then enforced as the “standard” dialect and other dialects become “non-standard.”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prestige difference is often a product of colonialism and oppression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dialect is inherently better or worse than any other.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It is a choice to learn or to use elements of other dialects, but it is a choice with many consequences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Discussion: Key Concepts</a:t>
            </a:r>
          </a:p>
        </p:txBody>
      </p:sp>
    </p:spTree>
    <p:extLst>
      <p:ext uri="{BB962C8B-B14F-4D97-AF65-F5344CB8AC3E}">
        <p14:creationId xmlns:p14="http://schemas.microsoft.com/office/powerpoint/2010/main" val="311978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Prescriptive Rules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What you “should” do (according to someone)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Rules often arbitrary or based on dialects with social prestige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Nearly all rules of writing are prescriptive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Must be “taught” not just learned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Prescriptive and Descriptive Rules</a:t>
            </a:r>
          </a:p>
        </p:txBody>
      </p:sp>
    </p:spTree>
    <p:extLst>
      <p:ext uri="{BB962C8B-B14F-4D97-AF65-F5344CB8AC3E}">
        <p14:creationId xmlns:p14="http://schemas.microsoft.com/office/powerpoint/2010/main" val="398636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Descriptive Rules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What real language uses actuall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y do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Rules are agreed upon socially, but may also align with underlying systems of universal grammar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Native speakers learn the descriptive rules of their dialect from birth – no need to for “teaching”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Rules are typically logical and consistent (exceptions are prescriptive)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Prescriptive and Descriptive Rules</a:t>
            </a:r>
          </a:p>
        </p:txBody>
      </p:sp>
    </p:spTree>
    <p:extLst>
      <p:ext uri="{BB962C8B-B14F-4D97-AF65-F5344CB8AC3E}">
        <p14:creationId xmlns:p14="http://schemas.microsoft.com/office/powerpoint/2010/main" val="211777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Prescriptive and Descriptive Rules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27ABCBB-DD93-0D09-9517-9855735A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998" y="1265235"/>
            <a:ext cx="10520166" cy="5316720"/>
          </a:xfrm>
        </p:spPr>
        <p:txBody>
          <a:bodyPr>
            <a:normAutofit/>
          </a:bodyPr>
          <a:lstStyle/>
          <a:p>
            <a:r>
              <a:rPr lang="en-US" dirty="0"/>
              <a:t>DESCRIPTIVE RULES</a:t>
            </a:r>
          </a:p>
          <a:p>
            <a:pPr lvl="1"/>
            <a:r>
              <a:rPr lang="en-US" dirty="0"/>
              <a:t>The dog bit the man. VS The man bit the dog.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Wug</a:t>
            </a:r>
            <a:r>
              <a:rPr lang="en-US" dirty="0"/>
              <a:t> test:</a:t>
            </a:r>
          </a:p>
          <a:p>
            <a:pPr lvl="1"/>
            <a:endParaRPr lang="en-US" dirty="0"/>
          </a:p>
          <a:p>
            <a:pPr marL="658368" lvl="2" indent="0">
              <a:buNone/>
            </a:pPr>
            <a:r>
              <a:rPr lang="en-US" b="1" dirty="0"/>
              <a:t>This is a “</a:t>
            </a:r>
            <a:r>
              <a:rPr lang="en-US" b="1" dirty="0" err="1"/>
              <a:t>Wug</a:t>
            </a:r>
            <a:r>
              <a:rPr lang="en-US" b="1" dirty="0"/>
              <a:t>”!                            What are these?</a:t>
            </a:r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AEE55-4586-A284-CB12-5FA03807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574" y="4373863"/>
            <a:ext cx="1619250" cy="161925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73298-8F40-DD02-74E9-4B745A97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73863"/>
            <a:ext cx="1619250" cy="161925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377EEB-EC5C-E927-04C1-C84C8F648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176" y="4373863"/>
            <a:ext cx="1619250" cy="1619250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05801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7935" y="1272708"/>
            <a:ext cx="10467281" cy="504030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Don’t end a Sentence in a Preposition.</a:t>
            </a:r>
          </a:p>
          <a:p>
            <a:pPr lvl="1"/>
            <a:r>
              <a:rPr lang="en-US" dirty="0"/>
              <a:t>Except nobody really cares anymore.</a:t>
            </a:r>
          </a:p>
          <a:p>
            <a:pPr lvl="1"/>
            <a:r>
              <a:rPr lang="en-US" dirty="0"/>
              <a:t>“Ending sentences in prepositions is something up with which I will not put.” </a:t>
            </a:r>
          </a:p>
          <a:p>
            <a:pPr lvl="2"/>
            <a:r>
              <a:rPr lang="en-US" dirty="0"/>
              <a:t>– Winston Churchill</a:t>
            </a:r>
          </a:p>
          <a:p>
            <a:r>
              <a:rPr lang="en-US" dirty="0"/>
              <a:t>Don’t Start a Sentence with “But”.</a:t>
            </a:r>
          </a:p>
          <a:p>
            <a:pPr lvl="1"/>
            <a:r>
              <a:rPr lang="en-US" dirty="0"/>
              <a:t>Some people still care in some situations.</a:t>
            </a:r>
          </a:p>
          <a:p>
            <a:pPr lvl="1"/>
            <a:r>
              <a:rPr lang="en-US" dirty="0"/>
              <a:t>I like ice cream, but I don’t like cake. CORRECT</a:t>
            </a:r>
          </a:p>
          <a:p>
            <a:pPr lvl="1"/>
            <a:r>
              <a:rPr lang="en-US" dirty="0"/>
              <a:t>I like ice cream. But I don’t like cake. “INCORRECT”</a:t>
            </a:r>
          </a:p>
          <a:p>
            <a:r>
              <a:rPr lang="en-US" dirty="0"/>
              <a:t>Put Commas in Lists.</a:t>
            </a:r>
          </a:p>
          <a:p>
            <a:pPr lvl="1"/>
            <a:r>
              <a:rPr lang="en-US" dirty="0"/>
              <a:t>Everybody still cares and it makes it easier to understand.</a:t>
            </a:r>
          </a:p>
          <a:p>
            <a:pPr lvl="1"/>
            <a:r>
              <a:rPr lang="en-US" dirty="0"/>
              <a:t>“I like cake, pie, and cookies.”</a:t>
            </a:r>
          </a:p>
          <a:p>
            <a:pPr lvl="1"/>
            <a:r>
              <a:rPr lang="en-US" dirty="0">
                <a:hlinkClick r:id="rId2"/>
              </a:rPr>
              <a:t>Oxford Comma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7936" y="557993"/>
            <a:ext cx="7874200" cy="718441"/>
          </a:xfrm>
        </p:spPr>
        <p:txBody>
          <a:bodyPr/>
          <a:lstStyle/>
          <a:p>
            <a:r>
              <a:rPr lang="en-US" dirty="0"/>
              <a:t>PRESCRIPTIVE RULES</a:t>
            </a:r>
          </a:p>
        </p:txBody>
      </p:sp>
    </p:spTree>
    <p:extLst>
      <p:ext uri="{BB962C8B-B14F-4D97-AF65-F5344CB8AC3E}">
        <p14:creationId xmlns:p14="http://schemas.microsoft.com/office/powerpoint/2010/main" val="38205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Please let me begin with folks with enrollment problems (waitlisted, might drop, </a:t>
            </a:r>
            <a:r>
              <a:rPr lang="en-US" b="0" dirty="0" err="1">
                <a:ea typeface="Calibri" panose="020F0502020204030204" pitchFamily="34" charset="0"/>
                <a:cs typeface="Times New Roman" panose="02020603050405020304" pitchFamily="18" charset="0"/>
              </a:rPr>
              <a:t>etc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1745</Words>
  <Application>Microsoft Office PowerPoint</Application>
  <PresentationFormat>Widescreen</PresentationFormat>
  <Paragraphs>241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Abadi</vt:lpstr>
      <vt:lpstr>Calibri</vt:lpstr>
      <vt:lpstr>Century Gothic</vt:lpstr>
      <vt:lpstr>Palatino Linotype</vt:lpstr>
      <vt:lpstr>Segoe UI</vt:lpstr>
      <vt:lpstr>Verdana</vt:lpstr>
      <vt:lpstr>Wingdings 2</vt:lpstr>
      <vt:lpstr>Dad's tie design template</vt:lpstr>
      <vt:lpstr>Course Introduction</vt:lpstr>
      <vt:lpstr>Please Be Patient!</vt:lpstr>
      <vt:lpstr>Dr. Phillip Haisley</vt:lpstr>
      <vt:lpstr>THE COURSE</vt:lpstr>
      <vt:lpstr>Introductions</vt:lpstr>
      <vt:lpstr>Introductions</vt:lpstr>
      <vt:lpstr>Grammar Mini-Lecture</vt:lpstr>
      <vt:lpstr>Grammar Knowledge Refresh</vt:lpstr>
      <vt:lpstr>Sample Diagrams</vt:lpstr>
      <vt:lpstr>HOW TO DO WELL IN THIS CLASS</vt:lpstr>
      <vt:lpstr>Class Policies</vt:lpstr>
      <vt:lpstr>Grade Policy</vt:lpstr>
      <vt:lpstr>Typical Week</vt:lpstr>
      <vt:lpstr>Typical Unit (Four Units)</vt:lpstr>
      <vt:lpstr>Bonus</vt:lpstr>
      <vt:lpstr>Homework Preview</vt:lpstr>
      <vt:lpstr>Homework Preview</vt:lpstr>
      <vt:lpstr>Homework Preview: Key Concepts</vt:lpstr>
      <vt:lpstr>Reading Discussion: Key Concepts</vt:lpstr>
      <vt:lpstr>Reading Discussion: Key Concepts</vt:lpstr>
      <vt:lpstr>Reading Discussion: Key Concepts</vt:lpstr>
      <vt:lpstr>Reading Discussion: Key Concepts</vt:lpstr>
      <vt:lpstr>Reading Discussion: Key Concepts</vt:lpstr>
      <vt:lpstr>Reading Discussion: Key Concepts</vt:lpstr>
      <vt:lpstr>Reading Discussion: Key Concepts</vt:lpstr>
      <vt:lpstr>Prescriptive and Descriptive Rules</vt:lpstr>
      <vt:lpstr>Prescriptive and Descriptive Rules</vt:lpstr>
      <vt:lpstr>Prescriptive and Descriptive Rules</vt:lpstr>
      <vt:lpstr>PRESCRIPTIVE RULES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2025-08-25T20:52:01Z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