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6" r:id="rId2"/>
  </p:sldMasterIdLst>
  <p:notesMasterIdLst>
    <p:notesMasterId r:id="rId31"/>
  </p:notesMasterIdLst>
  <p:handoutMasterIdLst>
    <p:handoutMasterId r:id="rId32"/>
  </p:handoutMasterIdLst>
  <p:sldIdLst>
    <p:sldId id="270" r:id="rId3"/>
    <p:sldId id="489" r:id="rId4"/>
    <p:sldId id="494" r:id="rId5"/>
    <p:sldId id="496" r:id="rId6"/>
    <p:sldId id="493" r:id="rId7"/>
    <p:sldId id="490" r:id="rId8"/>
    <p:sldId id="491" r:id="rId9"/>
    <p:sldId id="497" r:id="rId10"/>
    <p:sldId id="483" r:id="rId11"/>
    <p:sldId id="513" r:id="rId12"/>
    <p:sldId id="499" r:id="rId13"/>
    <p:sldId id="515" r:id="rId14"/>
    <p:sldId id="514" r:id="rId15"/>
    <p:sldId id="516" r:id="rId16"/>
    <p:sldId id="500" r:id="rId17"/>
    <p:sldId id="517" r:id="rId18"/>
    <p:sldId id="526" r:id="rId19"/>
    <p:sldId id="527" r:id="rId20"/>
    <p:sldId id="518" r:id="rId21"/>
    <p:sldId id="511" r:id="rId22"/>
    <p:sldId id="512" r:id="rId23"/>
    <p:sldId id="519" r:id="rId24"/>
    <p:sldId id="520" r:id="rId25"/>
    <p:sldId id="529" r:id="rId26"/>
    <p:sldId id="466" r:id="rId27"/>
    <p:sldId id="528" r:id="rId28"/>
    <p:sldId id="530" r:id="rId29"/>
    <p:sldId id="525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8E8E8"/>
    <a:srgbClr val="D5ECFF"/>
    <a:srgbClr val="B9DFFF"/>
    <a:srgbClr val="97D0FF"/>
    <a:srgbClr val="C4E5FC"/>
    <a:srgbClr val="C6BD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45259F-6584-463B-93E1-FA8B6351D2F7}" v="1" dt="2025-10-01T20:48:47.0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>
      <p:cViewPr>
        <p:scale>
          <a:sx n="125" d="100"/>
          <a:sy n="125" d="100"/>
        </p:scale>
        <p:origin x="-114" y="-3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EF702-0714-4E08-A299-FB7CD6DD53DC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0F021-7EF0-4BDC-ABAA-3F31888D27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8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3835DD-85A7-4A1D-B5D6-4471BFC8E4FB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45845-826A-4014-B98A-97266F3057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869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B45845-826A-4014-B98A-97266F3057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5389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040309"/>
          </a:xfr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/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3200" b="1" u="none" kern="1200" spc="0" baseline="0">
                <a:latin typeface="Calibri" panose="020F050202020403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800" i="0" kern="1200" spc="0" baseline="0">
                <a:latin typeface="Calibri" panose="020F050202020403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400" i="1" kern="1200" spc="0" baseline="0">
                <a:latin typeface="Calibri" panose="020F0502020204030204" pitchFamily="34" charset="0"/>
              </a:defRPr>
            </a:lvl3pPr>
            <a:lvl4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4pPr>
            <a:lvl5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defRPr sz="2200" i="1" kern="1200" spc="0" baseline="0">
                <a:latin typeface="Calibri" panose="020F0502020204030204" pitchFamily="34" charset="0"/>
              </a:defRPr>
            </a:lvl5pPr>
          </a:lstStyle>
          <a:p>
            <a:pPr lvl="0" eaLnBrk="1" latinLnBrk="0" hangingPunct="1"/>
            <a:r>
              <a:rPr lang="en-US" dirty="0"/>
              <a:t>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60997" y="546793"/>
            <a:ext cx="10461669" cy="718441"/>
          </a:xfrm>
          <a:noFill/>
        </p:spPr>
        <p:txBody>
          <a:bodyPr>
            <a:noAutofit/>
          </a:bodyPr>
          <a:lstStyle>
            <a:lvl1pPr algn="ctr">
              <a:defRPr sz="3600" b="1" u="sng" baseline="0">
                <a:effectLst/>
                <a:latin typeface="Calibri" panose="020F0502020204030204" pitchFamily="34" charset="0"/>
              </a:defRPr>
            </a:lvl1pPr>
          </a:lstStyle>
          <a:p>
            <a:r>
              <a:rPr kumimoji="0" lang="en-US" dirty="0"/>
              <a:t>SLIDE TITLE</a:t>
            </a:r>
          </a:p>
        </p:txBody>
      </p:sp>
      <p:sp>
        <p:nvSpPr>
          <p:cNvPr id="8" name="Title 1"/>
          <p:cNvSpPr txBox="1">
            <a:spLocks/>
          </p:cNvSpPr>
          <p:nvPr userDrawn="1"/>
        </p:nvSpPr>
        <p:spPr>
          <a:xfrm>
            <a:off x="1545844" y="621403"/>
            <a:ext cx="8779256" cy="72479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300" kern="120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  <a:extLst/>
          </a:lstStyle>
          <a:p>
            <a:endParaRPr lang="en-US" sz="3200" b="1" dirty="0"/>
          </a:p>
        </p:txBody>
      </p:sp>
      <p:sp>
        <p:nvSpPr>
          <p:cNvPr id="11" name="Title 1"/>
          <p:cNvSpPr txBox="1">
            <a:spLocks/>
          </p:cNvSpPr>
          <p:nvPr userDrawn="1"/>
        </p:nvSpPr>
        <p:spPr>
          <a:xfrm>
            <a:off x="1545843" y="88897"/>
            <a:ext cx="10476823" cy="4515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anchor="ctr">
            <a:noAutofit/>
          </a:bodyPr>
          <a:lstStyle>
            <a:lvl1pPr algn="l" rtl="0" eaLnBrk="1" latinLnBrk="0" hangingPunct="1">
              <a:lnSpc>
                <a:spcPts val="4500"/>
              </a:lnSpc>
              <a:spcBef>
                <a:spcPct val="0"/>
              </a:spcBef>
              <a:buNone/>
              <a:defRPr kumimoji="0" sz="4000" b="1" kern="1200" cap="all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>
              <a:lnSpc>
                <a:spcPct val="100000"/>
              </a:lnSpc>
            </a:pPr>
            <a:r>
              <a:rPr lang="en-US" sz="2000" b="0" dirty="0">
                <a:latin typeface="Calibri" panose="020F0502020204030204" pitchFamily="34" charset="0"/>
              </a:rPr>
              <a:t>ENGL 3110 – Advanced Grammar</a:t>
            </a:r>
          </a:p>
        </p:txBody>
      </p:sp>
    </p:spTree>
    <p:extLst>
      <p:ext uri="{BB962C8B-B14F-4D97-AF65-F5344CB8AC3E}">
        <p14:creationId xmlns:p14="http://schemas.microsoft.com/office/powerpoint/2010/main" val="1865394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9BA0-A3F1-4AE0-A095-A691F325988D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910080" y="1850064"/>
            <a:ext cx="987552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910080" y="359898"/>
            <a:ext cx="987552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03323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C1BA8-14CB-402F-AB5D-65EFB4CEE9BA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7856" y="1066800"/>
            <a:ext cx="85344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9644" y="2600325"/>
            <a:ext cx="10382612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98125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792A-0B0D-4D75-99F7-2870465BBD14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03478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14144" y="1524000"/>
            <a:ext cx="48768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61629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  <p15:guide id="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A14D2-C15B-4C78-A526-4D8666FA99F8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3104903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  <p15:guide id="2" pos="75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F1A27-4218-4094-BEAE-9A3589DB2B89}" type="datetime1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14144" y="274320"/>
            <a:ext cx="999744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15087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39AB3-3BFC-4457-B471-ADCDC73FC5EE}" type="datetime1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597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905000" y="2133601"/>
            <a:ext cx="95758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00674-BE8F-4CEA-9736-5FEE3AB227F1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905000" y="1406964"/>
            <a:ext cx="5516078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16778"/>
            <a:ext cx="5516078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19833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120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953A3-A3BE-4323-8A5F-3F3FB07EB2DE}" type="datetime1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016000" y="1066800"/>
            <a:ext cx="6096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143004"/>
            <a:ext cx="58928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marL="0" indent="0" algn="l" eaLnBrk="1" latinLnBrk="0" hangingPunct="1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528967" y="954341"/>
            <a:ext cx="9144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6671556" y="936786"/>
            <a:ext cx="865632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7600" y="4800600"/>
            <a:ext cx="58928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9195" y="1066800"/>
            <a:ext cx="36576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0765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9DF06-9503-4BFC-9BDB-01518A2C34BB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75680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6D803-E824-49BC-A33E-A6A786BEDB3D}" type="datetime1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40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4000" y="274640"/>
            <a:ext cx="2438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356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D3032-ACFF-440E-8C29-E047F0CC3352}" type="datetime1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051548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7051548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1908975" y="969336"/>
            <a:ext cx="4873752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08975" y="328278"/>
            <a:ext cx="4873752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160336"/>
            <a:ext cx="109728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812342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1200" userDrawn="1">
          <p15:clr>
            <a:srgbClr val="FBAE40"/>
          </p15:clr>
        </p15:guide>
        <p15:guide id="3" pos="75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4775200" y="6305550"/>
            <a:ext cx="28448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  <a:extLst/>
          </a:lstStyle>
          <a:p>
            <a:fld id="{A93063ED-E45C-4ACA-BFCF-74D8FA5A001B}" type="datetime1">
              <a:rPr lang="en-US" smtClean="0"/>
              <a:t>10/1/2025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7620000" y="6305550"/>
            <a:ext cx="38608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11484864" y="6305550"/>
            <a:ext cx="6096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tx2"/>
                </a:solidFill>
                <a:effectLst/>
              </a:defRPr>
            </a:lvl1pPr>
            <a:extLst/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0" y="-3632"/>
            <a:ext cx="12188952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0000"/>
                </a:schemeClr>
              </a:gs>
              <a:gs pos="50000">
                <a:schemeClr val="bg2"/>
              </a:gs>
              <a:gs pos="100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8" name="Group 7"/>
          <p:cNvGrpSpPr/>
          <p:nvPr userDrawn="1"/>
        </p:nvGrpSpPr>
        <p:grpSpPr>
          <a:xfrm>
            <a:off x="-13023" y="-5589"/>
            <a:ext cx="1482350" cy="6868109"/>
            <a:chOff x="-13023" y="-5589"/>
            <a:chExt cx="1482350" cy="6868109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20147" y="-5589"/>
              <a:ext cx="1397008" cy="6858000"/>
              <a:chOff x="1097" y="-4624"/>
              <a:chExt cx="1397008" cy="6857406"/>
            </a:xfrm>
          </p:grpSpPr>
          <p:sp>
            <p:nvSpPr>
              <p:cNvPr id="18" name="Freeform 4"/>
              <p:cNvSpPr>
                <a:spLocks/>
              </p:cNvSpPr>
              <p:nvPr/>
            </p:nvSpPr>
            <p:spPr bwMode="ltGray">
              <a:xfrm flipH="1">
                <a:off x="13149" y="-4624"/>
                <a:ext cx="1367425" cy="6837767"/>
              </a:xfrm>
              <a:custGeom>
                <a:avLst/>
                <a:gdLst>
                  <a:gd name="T0" fmla="*/ 0 w 1000"/>
                  <a:gd name="T1" fmla="*/ 0 h 720"/>
                  <a:gd name="T2" fmla="*/ 0 w 1000"/>
                  <a:gd name="T3" fmla="*/ 720 h 720"/>
                  <a:gd name="T4" fmla="*/ 1000 w 1000"/>
                  <a:gd name="T5" fmla="*/ 720 h 720"/>
                  <a:gd name="T6" fmla="*/ 1000 w 1000"/>
                  <a:gd name="T7" fmla="*/ 0 h 720"/>
                  <a:gd name="T8" fmla="*/ 0 w 1000"/>
                  <a:gd name="T9" fmla="*/ 0 h 7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00" h="720">
                    <a:moveTo>
                      <a:pt x="0" y="0"/>
                    </a:moveTo>
                    <a:lnTo>
                      <a:pt x="0" y="720"/>
                    </a:lnTo>
                    <a:lnTo>
                      <a:pt x="1000" y="720"/>
                    </a:lnTo>
                    <a:lnTo>
                      <a:pt x="10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Freeform 5"/>
              <p:cNvSpPr>
                <a:spLocks/>
              </p:cNvSpPr>
              <p:nvPr/>
            </p:nvSpPr>
            <p:spPr bwMode="ltGray">
              <a:xfrm flipH="1">
                <a:off x="13149" y="169261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Freeform 6"/>
              <p:cNvSpPr>
                <a:spLocks/>
              </p:cNvSpPr>
              <p:nvPr/>
            </p:nvSpPr>
            <p:spPr bwMode="ltGray">
              <a:xfrm flipH="1">
                <a:off x="14245" y="128616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Freeform 7"/>
              <p:cNvSpPr>
                <a:spLocks/>
              </p:cNvSpPr>
              <p:nvPr/>
            </p:nvSpPr>
            <p:spPr bwMode="ltGray">
              <a:xfrm flipH="1">
                <a:off x="13149" y="14891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Freeform 8"/>
              <p:cNvSpPr>
                <a:spLocks/>
              </p:cNvSpPr>
              <p:nvPr/>
            </p:nvSpPr>
            <p:spPr bwMode="ltGray">
              <a:xfrm flipH="1">
                <a:off x="14245" y="983847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/>
              </p:cNvSpPr>
              <p:nvPr/>
            </p:nvSpPr>
            <p:spPr bwMode="ltGray">
              <a:xfrm flipH="1">
                <a:off x="14245" y="679152"/>
                <a:ext cx="1367425" cy="430857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6" name="Freeform 10"/>
              <p:cNvSpPr>
                <a:spLocks/>
              </p:cNvSpPr>
              <p:nvPr/>
            </p:nvSpPr>
            <p:spPr bwMode="ltGray">
              <a:xfrm flipH="1">
                <a:off x="13149" y="371483"/>
                <a:ext cx="1384956" cy="37491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Freeform 11"/>
              <p:cNvSpPr>
                <a:spLocks/>
              </p:cNvSpPr>
              <p:nvPr/>
            </p:nvSpPr>
            <p:spPr bwMode="ltGray">
              <a:xfrm flipH="1">
                <a:off x="2192" y="3939738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/>
              </p:cNvSpPr>
              <p:nvPr/>
            </p:nvSpPr>
            <p:spPr bwMode="ltGray">
              <a:xfrm flipH="1">
                <a:off x="3288" y="3533280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/>
              </p:cNvSpPr>
              <p:nvPr/>
            </p:nvSpPr>
            <p:spPr bwMode="ltGray">
              <a:xfrm flipH="1">
                <a:off x="2192" y="2394843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0" name="Freeform 14"/>
              <p:cNvSpPr>
                <a:spLocks/>
              </p:cNvSpPr>
              <p:nvPr/>
            </p:nvSpPr>
            <p:spPr bwMode="ltGray">
              <a:xfrm flipH="1">
                <a:off x="3288" y="3229776"/>
                <a:ext cx="1367425" cy="349922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520" y="317"/>
                      <a:pt x="624" y="272"/>
                    </a:cubicBezTo>
                    <a:lnTo>
                      <a:pt x="624" y="0"/>
                    </a:lnTo>
                    <a:cubicBezTo>
                      <a:pt x="240" y="42"/>
                      <a:pt x="130" y="0"/>
                      <a:pt x="0" y="0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/>
              </p:cNvSpPr>
              <p:nvPr/>
            </p:nvSpPr>
            <p:spPr bwMode="ltGray">
              <a:xfrm flipH="1">
                <a:off x="2192" y="2926868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2" name="Freeform 16"/>
              <p:cNvSpPr>
                <a:spLocks/>
              </p:cNvSpPr>
              <p:nvPr/>
            </p:nvSpPr>
            <p:spPr bwMode="ltGray">
              <a:xfrm flipH="1">
                <a:off x="3288" y="2616817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3" name="Freeform 17"/>
              <p:cNvSpPr>
                <a:spLocks/>
              </p:cNvSpPr>
              <p:nvPr/>
            </p:nvSpPr>
            <p:spPr bwMode="ltGray">
              <a:xfrm flipH="1">
                <a:off x="13149" y="4970461"/>
                <a:ext cx="1367425" cy="50107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432" y="224"/>
                      <a:pt x="520" y="317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4" name="Freeform 18"/>
              <p:cNvSpPr>
                <a:spLocks/>
              </p:cNvSpPr>
              <p:nvPr/>
            </p:nvSpPr>
            <p:spPr bwMode="ltGray">
              <a:xfrm flipH="1">
                <a:off x="14245" y="4564004"/>
                <a:ext cx="1367425" cy="502269"/>
              </a:xfrm>
              <a:custGeom>
                <a:avLst/>
                <a:gdLst>
                  <a:gd name="T0" fmla="*/ 0 w 624"/>
                  <a:gd name="T1" fmla="*/ 0 h 317"/>
                  <a:gd name="T2" fmla="*/ 0 w 624"/>
                  <a:gd name="T3" fmla="*/ 272 h 317"/>
                  <a:gd name="T4" fmla="*/ 624 w 624"/>
                  <a:gd name="T5" fmla="*/ 272 h 317"/>
                  <a:gd name="T6" fmla="*/ 624 w 624"/>
                  <a:gd name="T7" fmla="*/ 0 h 317"/>
                  <a:gd name="T8" fmla="*/ 0 w 624"/>
                  <a:gd name="T9" fmla="*/ 0 h 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24" h="317">
                    <a:moveTo>
                      <a:pt x="0" y="0"/>
                    </a:moveTo>
                    <a:lnTo>
                      <a:pt x="0" y="272"/>
                    </a:lnTo>
                    <a:cubicBezTo>
                      <a:pt x="104" y="317"/>
                      <a:pt x="432" y="240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5" name="Freeform 19"/>
              <p:cNvSpPr>
                <a:spLocks/>
              </p:cNvSpPr>
              <p:nvPr/>
            </p:nvSpPr>
            <p:spPr bwMode="ltGray">
              <a:xfrm flipH="1">
                <a:off x="2192" y="5672686"/>
                <a:ext cx="1367425" cy="303504"/>
              </a:xfrm>
              <a:custGeom>
                <a:avLst/>
                <a:gdLst>
                  <a:gd name="T0" fmla="*/ 0 w 624"/>
                  <a:gd name="T1" fmla="*/ 53 h 370"/>
                  <a:gd name="T2" fmla="*/ 0 w 624"/>
                  <a:gd name="T3" fmla="*/ 325 h 370"/>
                  <a:gd name="T4" fmla="*/ 624 w 624"/>
                  <a:gd name="T5" fmla="*/ 325 h 370"/>
                  <a:gd name="T6" fmla="*/ 624 w 624"/>
                  <a:gd name="T7" fmla="*/ 53 h 370"/>
                  <a:gd name="T8" fmla="*/ 384 w 624"/>
                  <a:gd name="T9" fmla="*/ 8 h 370"/>
                  <a:gd name="T10" fmla="*/ 0 w 624"/>
                  <a:gd name="T11" fmla="*/ 53 h 3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370">
                    <a:moveTo>
                      <a:pt x="0" y="53"/>
                    </a:moveTo>
                    <a:lnTo>
                      <a:pt x="0" y="325"/>
                    </a:lnTo>
                    <a:cubicBezTo>
                      <a:pt x="104" y="370"/>
                      <a:pt x="520" y="370"/>
                      <a:pt x="624" y="325"/>
                    </a:cubicBezTo>
                    <a:lnTo>
                      <a:pt x="624" y="53"/>
                    </a:lnTo>
                    <a:cubicBezTo>
                      <a:pt x="584" y="0"/>
                      <a:pt x="488" y="8"/>
                      <a:pt x="384" y="8"/>
                    </a:cubicBezTo>
                    <a:cubicBezTo>
                      <a:pt x="280" y="8"/>
                      <a:pt x="80" y="44"/>
                      <a:pt x="0" y="53"/>
                    </a:cubicBezTo>
                    <a:close/>
                  </a:path>
                </a:pathLst>
              </a:custGeom>
              <a:solidFill>
                <a:schemeClr val="folHlink"/>
              </a:solidFill>
              <a:ln w="9525">
                <a:solidFill>
                  <a:schemeClr val="tx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/>
              </p:cNvSpPr>
              <p:nvPr/>
            </p:nvSpPr>
            <p:spPr bwMode="ltGray">
              <a:xfrm rot="16200000" flipH="1">
                <a:off x="512729" y="5994798"/>
                <a:ext cx="346352" cy="1369616"/>
              </a:xfrm>
              <a:custGeom>
                <a:avLst/>
                <a:gdLst>
                  <a:gd name="T0" fmla="*/ 0 w 291"/>
                  <a:gd name="T1" fmla="*/ 624 h 625"/>
                  <a:gd name="T2" fmla="*/ 291 w 291"/>
                  <a:gd name="T3" fmla="*/ 625 h 625"/>
                  <a:gd name="T4" fmla="*/ 291 w 291"/>
                  <a:gd name="T5" fmla="*/ 6 h 625"/>
                  <a:gd name="T6" fmla="*/ 0 w 291"/>
                  <a:gd name="T7" fmla="*/ 0 h 625"/>
                  <a:gd name="T8" fmla="*/ 0 w 291"/>
                  <a:gd name="T9" fmla="*/ 624 h 6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1" h="625">
                    <a:moveTo>
                      <a:pt x="0" y="624"/>
                    </a:moveTo>
                    <a:lnTo>
                      <a:pt x="291" y="625"/>
                    </a:lnTo>
                    <a:lnTo>
                      <a:pt x="291" y="6"/>
                    </a:lnTo>
                    <a:lnTo>
                      <a:pt x="0" y="0"/>
                    </a:lnTo>
                    <a:cubicBezTo>
                      <a:pt x="39" y="384"/>
                      <a:pt x="0" y="494"/>
                      <a:pt x="0" y="624"/>
                    </a:cubicBez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7" name="Freeform 21"/>
              <p:cNvSpPr>
                <a:spLocks/>
              </p:cNvSpPr>
              <p:nvPr/>
            </p:nvSpPr>
            <p:spPr bwMode="ltGray">
              <a:xfrm flipH="1">
                <a:off x="2192" y="6204711"/>
                <a:ext cx="1367425" cy="429666"/>
              </a:xfrm>
              <a:custGeom>
                <a:avLst/>
                <a:gdLst>
                  <a:gd name="T0" fmla="*/ 0 w 624"/>
                  <a:gd name="T1" fmla="*/ 0 h 272"/>
                  <a:gd name="T2" fmla="*/ 0 w 624"/>
                  <a:gd name="T3" fmla="*/ 272 h 272"/>
                  <a:gd name="T4" fmla="*/ 240 w 624"/>
                  <a:gd name="T5" fmla="*/ 240 h 272"/>
                  <a:gd name="T6" fmla="*/ 624 w 624"/>
                  <a:gd name="T7" fmla="*/ 272 h 272"/>
                  <a:gd name="T8" fmla="*/ 624 w 624"/>
                  <a:gd name="T9" fmla="*/ 0 h 272"/>
                  <a:gd name="T10" fmla="*/ 0 w 624"/>
                  <a:gd name="T11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24" h="272">
                    <a:moveTo>
                      <a:pt x="0" y="0"/>
                    </a:moveTo>
                    <a:cubicBezTo>
                      <a:pt x="0" y="0"/>
                      <a:pt x="0" y="272"/>
                      <a:pt x="0" y="272"/>
                    </a:cubicBezTo>
                    <a:cubicBezTo>
                      <a:pt x="96" y="240"/>
                      <a:pt x="136" y="240"/>
                      <a:pt x="240" y="240"/>
                    </a:cubicBezTo>
                    <a:cubicBezTo>
                      <a:pt x="344" y="240"/>
                      <a:pt x="528" y="272"/>
                      <a:pt x="624" y="272"/>
                    </a:cubicBezTo>
                    <a:lnTo>
                      <a:pt x="62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38" name="Freeform 22"/>
              <p:cNvSpPr>
                <a:spLocks/>
              </p:cNvSpPr>
              <p:nvPr/>
            </p:nvSpPr>
            <p:spPr bwMode="ltGray">
              <a:xfrm flipH="1">
                <a:off x="3288" y="5894661"/>
                <a:ext cx="1384956" cy="376107"/>
              </a:xfrm>
              <a:custGeom>
                <a:avLst/>
                <a:gdLst>
                  <a:gd name="T0" fmla="*/ 8 w 632"/>
                  <a:gd name="T1" fmla="*/ 45 h 362"/>
                  <a:gd name="T2" fmla="*/ 8 w 632"/>
                  <a:gd name="T3" fmla="*/ 317 h 362"/>
                  <a:gd name="T4" fmla="*/ 248 w 632"/>
                  <a:gd name="T5" fmla="*/ 317 h 362"/>
                  <a:gd name="T6" fmla="*/ 632 w 632"/>
                  <a:gd name="T7" fmla="*/ 317 h 362"/>
                  <a:gd name="T8" fmla="*/ 632 w 632"/>
                  <a:gd name="T9" fmla="*/ 45 h 362"/>
                  <a:gd name="T10" fmla="*/ 104 w 632"/>
                  <a:gd name="T11" fmla="*/ 45 h 362"/>
                  <a:gd name="T12" fmla="*/ 8 w 632"/>
                  <a:gd name="T13" fmla="*/ 45 h 3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32" h="362">
                    <a:moveTo>
                      <a:pt x="8" y="45"/>
                    </a:moveTo>
                    <a:lnTo>
                      <a:pt x="8" y="317"/>
                    </a:lnTo>
                    <a:cubicBezTo>
                      <a:pt x="48" y="362"/>
                      <a:pt x="144" y="317"/>
                      <a:pt x="248" y="317"/>
                    </a:cubicBezTo>
                    <a:cubicBezTo>
                      <a:pt x="352" y="317"/>
                      <a:pt x="568" y="362"/>
                      <a:pt x="632" y="317"/>
                    </a:cubicBezTo>
                    <a:lnTo>
                      <a:pt x="632" y="45"/>
                    </a:lnTo>
                    <a:cubicBezTo>
                      <a:pt x="544" y="0"/>
                      <a:pt x="208" y="45"/>
                      <a:pt x="104" y="45"/>
                    </a:cubicBezTo>
                    <a:cubicBezTo>
                      <a:pt x="0" y="45"/>
                      <a:pt x="28" y="45"/>
                      <a:pt x="8" y="45"/>
                    </a:cubicBezTo>
                    <a:close/>
                  </a:path>
                </a:pathLst>
              </a:cu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6" name="Freeform 23"/>
            <p:cNvSpPr>
              <a:spLocks/>
            </p:cNvSpPr>
            <p:nvPr/>
          </p:nvSpPr>
          <p:spPr bwMode="ltGray">
            <a:xfrm rot="16200000" flipH="1">
              <a:off x="-2995169" y="2977523"/>
              <a:ext cx="6867143" cy="902851"/>
            </a:xfrm>
            <a:custGeom>
              <a:avLst/>
              <a:gdLst>
                <a:gd name="T0" fmla="*/ 0 w 5762"/>
                <a:gd name="T1" fmla="*/ 196 h 385"/>
                <a:gd name="T2" fmla="*/ 5762 w 5762"/>
                <a:gd name="T3" fmla="*/ 188 h 385"/>
                <a:gd name="T4" fmla="*/ 5762 w 5762"/>
                <a:gd name="T5" fmla="*/ 4 h 385"/>
                <a:gd name="T6" fmla="*/ 0 w 5762"/>
                <a:gd name="T7" fmla="*/ 0 h 385"/>
                <a:gd name="T8" fmla="*/ 0 w 5762"/>
                <a:gd name="T9" fmla="*/ 196 h 3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2" h="385">
                  <a:moveTo>
                    <a:pt x="0" y="196"/>
                  </a:moveTo>
                  <a:cubicBezTo>
                    <a:pt x="1667" y="385"/>
                    <a:pt x="2275" y="93"/>
                    <a:pt x="5762" y="188"/>
                  </a:cubicBezTo>
                  <a:lnTo>
                    <a:pt x="5762" y="4"/>
                  </a:lnTo>
                  <a:lnTo>
                    <a:pt x="0" y="0"/>
                  </a:lnTo>
                  <a:lnTo>
                    <a:pt x="0" y="19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rgbClr val="767676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Freeform 24"/>
            <p:cNvSpPr>
              <a:spLocks/>
            </p:cNvSpPr>
            <p:nvPr/>
          </p:nvSpPr>
          <p:spPr bwMode="ltGray">
            <a:xfrm rot="16200000" flipH="1">
              <a:off x="-2170536" y="3221067"/>
              <a:ext cx="6865553" cy="414172"/>
            </a:xfrm>
            <a:custGeom>
              <a:avLst/>
              <a:gdLst>
                <a:gd name="T0" fmla="*/ 0 w 5761"/>
                <a:gd name="T1" fmla="*/ 28 h 189"/>
                <a:gd name="T2" fmla="*/ 5761 w 5761"/>
                <a:gd name="T3" fmla="*/ 0 h 189"/>
                <a:gd name="T4" fmla="*/ 5761 w 5761"/>
                <a:gd name="T5" fmla="*/ 189 h 189"/>
                <a:gd name="T6" fmla="*/ 1 w 5761"/>
                <a:gd name="T7" fmla="*/ 189 h 189"/>
                <a:gd name="T8" fmla="*/ 0 w 5761"/>
                <a:gd name="T9" fmla="*/ 28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761" h="189">
                  <a:moveTo>
                    <a:pt x="0" y="28"/>
                  </a:moveTo>
                  <a:cubicBezTo>
                    <a:pt x="961" y="0"/>
                    <a:pt x="4971" y="161"/>
                    <a:pt x="5761" y="0"/>
                  </a:cubicBezTo>
                  <a:lnTo>
                    <a:pt x="5761" y="189"/>
                  </a:lnTo>
                  <a:lnTo>
                    <a:pt x="1" y="189"/>
                  </a:lnTo>
                  <a:lnTo>
                    <a:pt x="0" y="28"/>
                  </a:lnTo>
                  <a:close/>
                </a:path>
              </a:pathLst>
            </a:custGeom>
            <a:gradFill rotWithShape="0">
              <a:gsLst>
                <a:gs pos="0">
                  <a:srgbClr val="767676"/>
                </a:gs>
                <a:gs pos="100000">
                  <a:schemeClr val="bg1"/>
                </a:gs>
              </a:gsLst>
              <a:lin ang="0" scaled="1"/>
            </a:gradFill>
            <a:ln w="9525" cap="flat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Placeholder 8"/>
          <p:cNvSpPr>
            <a:spLocks noGrp="1"/>
          </p:cNvSpPr>
          <p:nvPr userDrawn="1">
            <p:ph type="body" idx="1"/>
          </p:nvPr>
        </p:nvSpPr>
        <p:spPr>
          <a:xfrm>
            <a:off x="1914144" y="1447800"/>
            <a:ext cx="999744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  <a:endParaRPr kumimoji="0" lang="en-US" dirty="0"/>
          </a:p>
        </p:txBody>
      </p:sp>
      <p:sp>
        <p:nvSpPr>
          <p:cNvPr id="5" name="Title Placeholder 4"/>
          <p:cNvSpPr>
            <a:spLocks noGrp="1"/>
          </p:cNvSpPr>
          <p:nvPr userDrawn="1">
            <p:ph type="title"/>
          </p:nvPr>
        </p:nvSpPr>
        <p:spPr>
          <a:xfrm>
            <a:off x="1914144" y="274638"/>
            <a:ext cx="999744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5148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7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68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753780" y="375411"/>
            <a:ext cx="10071027" cy="1608839"/>
          </a:xfrm>
        </p:spPr>
        <p:txBody>
          <a:bodyPr>
            <a:noAutofit/>
          </a:bodyPr>
          <a:lstStyle/>
          <a:p>
            <a:pPr algn="ctr"/>
            <a:r>
              <a:rPr lang="en-US" sz="8800" u="sng" dirty="0">
                <a:latin typeface="Calibri" panose="020F0502020204030204" pitchFamily="34" charset="0"/>
              </a:rPr>
              <a:t>Course Introduction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FA763A-849E-46B9-8AEE-24CEB780A7C9}"/>
              </a:ext>
            </a:extLst>
          </p:cNvPr>
          <p:cNvSpPr txBox="1"/>
          <p:nvPr/>
        </p:nvSpPr>
        <p:spPr>
          <a:xfrm>
            <a:off x="2112884" y="3407689"/>
            <a:ext cx="9099613" cy="8309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 anchorCtr="1">
            <a:spAutoFit/>
          </a:bodyPr>
          <a:lstStyle/>
          <a:p>
            <a:r>
              <a:rPr lang="en-US" sz="4800" dirty="0">
                <a:latin typeface="Abadi" panose="020B0604020202020204" pitchFamily="34" charset="0"/>
              </a:rPr>
              <a:t>Welcome to ENGL 3110</a:t>
            </a:r>
          </a:p>
        </p:txBody>
      </p:sp>
    </p:spTree>
    <p:extLst>
      <p:ext uri="{BB962C8B-B14F-4D97-AF65-F5344CB8AC3E}">
        <p14:creationId xmlns:p14="http://schemas.microsoft.com/office/powerpoint/2010/main" val="41377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Sentence Patterns, Adverbials, and Conjunctions</a:t>
            </a:r>
          </a:p>
          <a:p>
            <a:pPr marL="971550" lvl="1" indent="-51435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highlight>
                  <a:srgbClr val="F2F2F2"/>
                </a:highlight>
                <a:latin typeface="Arial" panose="020B0604020202020204" pitchFamily="34" charset="0"/>
              </a:rPr>
              <a:t>Identify Six Sentence Patterns</a:t>
            </a:r>
          </a:p>
          <a:p>
            <a:pPr marL="971550" lvl="1" indent="-51435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Name the parts of the Sentence Patterns</a:t>
            </a:r>
          </a:p>
          <a:p>
            <a:pPr marL="971550" lvl="1" indent="-51435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highlight>
                  <a:srgbClr val="F2F2F2"/>
                </a:highlight>
                <a:latin typeface="Arial" panose="020B0604020202020204" pitchFamily="34" charset="0"/>
              </a:rPr>
              <a:t>Identify Optional Adverbials (ADVP and PP only)</a:t>
            </a:r>
          </a:p>
          <a:p>
            <a:pPr marL="971550" lvl="1" indent="-51435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highlight>
                  <a:srgbClr val="F2F2F2"/>
                </a:highlight>
                <a:latin typeface="Arial" panose="020B0604020202020204" pitchFamily="34" charset="0"/>
              </a:rPr>
              <a:t>Identify and Diagram Conjunctions and what they connect</a:t>
            </a:r>
          </a:p>
          <a:p>
            <a:pPr marL="971550" lvl="1" indent="-51435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2600" dirty="0">
                <a:highlight>
                  <a:srgbClr val="F2F2F2"/>
                </a:highlight>
                <a:latin typeface="Arial" panose="020B0604020202020204" pitchFamily="34" charset="0"/>
              </a:rPr>
              <a:t>Diagram the Six Sentence Patterns and Optional Adverbials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Unit Two</a:t>
            </a:r>
          </a:p>
        </p:txBody>
      </p:sp>
    </p:spTree>
    <p:extLst>
      <p:ext uri="{BB962C8B-B14F-4D97-AF65-F5344CB8AC3E}">
        <p14:creationId xmlns:p14="http://schemas.microsoft.com/office/powerpoint/2010/main" val="3994979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57FCA-1853-A192-9E29-C6082109B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3CFF1FD-77AB-E95E-272A-6F12ED401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/>
          </a:bodyPr>
          <a:lstStyle/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Six Sentence Patterns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Intransitive Sentences – What we already know!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“Copular Be” Verbs with a Subject Complement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0" i="0" dirty="0">
                <a:solidFill>
                  <a:srgbClr val="FF000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Linking Verbs with a Subject Complement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0" i="0" dirty="0">
                <a:solidFill>
                  <a:srgbClr val="FF000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Transitive Verbs with a Direct Object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1" i="0" u="sng" dirty="0">
                <a:solidFill>
                  <a:srgbClr val="0070C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Ditransitive Verbs with a Direct Object and Indirect Object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1" i="0" u="sng" dirty="0">
                <a:solidFill>
                  <a:srgbClr val="0070C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Ditransitive Verbs with a  Direct Object and Object Complement</a:t>
            </a:r>
          </a:p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u="sng" dirty="0">
                <a:solidFill>
                  <a:srgbClr val="0070C0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Adverbials</a:t>
            </a:r>
          </a:p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Conjunctions &amp; Clauses (Next Wed)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CCEBFC8-95C9-B904-1980-66D367564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Learning Concepts – Unit Two</a:t>
            </a:r>
          </a:p>
        </p:txBody>
      </p:sp>
    </p:spTree>
    <p:extLst>
      <p:ext uri="{BB962C8B-B14F-4D97-AF65-F5344CB8AC3E}">
        <p14:creationId xmlns:p14="http://schemas.microsoft.com/office/powerpoint/2010/main" val="3038058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F6485-8DE8-4967-916D-69650B995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136530C-1AD7-F007-7944-35F8FBE86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Reminder</a:t>
            </a:r>
          </a:p>
          <a:p>
            <a:pPr marL="914400" lvl="1" indent="-45720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highlight>
                  <a:srgbClr val="F2F2F2"/>
                </a:highlight>
                <a:latin typeface="Arial" panose="020B0604020202020204" pitchFamily="34" charset="0"/>
              </a:rPr>
              <a:t>Noun Phrases can be replaced by Pronouns</a:t>
            </a:r>
          </a:p>
          <a:p>
            <a:pPr marL="914400" lvl="1" indent="-45720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highlight>
                  <a:srgbClr val="F2F2F2"/>
                </a:highlight>
                <a:latin typeface="Arial" panose="020B0604020202020204" pitchFamily="34" charset="0"/>
              </a:rPr>
              <a:t>So… all Objects and Complements can be pronouns too.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5CAD240-A9F7-54B5-002F-036234428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Learning Concepts – Unit Two</a:t>
            </a:r>
          </a:p>
        </p:txBody>
      </p:sp>
    </p:spTree>
    <p:extLst>
      <p:ext uri="{BB962C8B-B14F-4D97-AF65-F5344CB8AC3E}">
        <p14:creationId xmlns:p14="http://schemas.microsoft.com/office/powerpoint/2010/main" val="1579538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E45CD-3B39-95E9-38BB-7AC35A59D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A44E7A4-6CD0-8B30-5916-3D626DA64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Shifty Language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linguists and teachers will use words in different ways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Transitive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people will mean “anything with three arguments”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sentence patterns except “intransitive”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people will mean “anything with a direct object”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sz="1800" dirty="0">
              <a:highlight>
                <a:srgbClr val="F2F2F2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will use “Transitive” to mean: Mono-transitive 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verb with a Direct Object but no Indirect Object or Object Complement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F8795AC-09C7-1E08-6017-CE3046C2C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197820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Shifty Language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Different linguists and teachers will use words in different ways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Example: Linking Verb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Some people will include “be” verbs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Others will include auxiliaries and even modal auxiliaries.</a:t>
            </a:r>
          </a:p>
          <a:p>
            <a:pPr marL="914400" lvl="3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sz="1800" dirty="0">
              <a:highlight>
                <a:srgbClr val="F2F2F2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will use “Linking Verb” to include verbs that have a subject complement but will not include “be” verbs or auxiliary verbs.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32947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Why so much shiftiness in terms?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language itself comes first (descriptive)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terms come second (prescriptive and analysis)</a:t>
            </a:r>
            <a:endParaRPr lang="en-US" sz="1800" dirty="0">
              <a:highlight>
                <a:srgbClr val="F2F2F2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try to name and describe what we see in the language.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But we </a:t>
            </a:r>
            <a:r>
              <a:rPr lang="en-US" sz="2000" u="sng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always</a:t>
            </a: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run into exceptions and weirdness.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The terms are there to either teach or to analyze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Less terms means easier teaching but also more exceptions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0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More terms means better analysis but also more terms to learn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sz="2400" dirty="0">
              <a:highlight>
                <a:srgbClr val="F2F2F2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sz="2400" dirty="0">
              <a:highlight>
                <a:srgbClr val="F2F2F2"/>
              </a:highlight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1928256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AD42F-C090-E852-15DD-BD1F926F1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491E15-E391-1AF4-734D-FED48534F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highlight>
                  <a:srgbClr val="F2F2F2"/>
                </a:highlight>
                <a:latin typeface="Arial" panose="020B0604020202020204" pitchFamily="34" charset="0"/>
              </a:rPr>
              <a:t>How we will use terms</a:t>
            </a:r>
            <a:endParaRPr lang="en-US" b="0" i="0" dirty="0">
              <a:effectLst/>
              <a:highlight>
                <a:srgbClr val="F2F2F2"/>
              </a:highlight>
              <a:latin typeface="Arial" panose="020B0604020202020204" pitchFamily="34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Intransitive (what we know now - no “argument” after the verb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“Copular Be” – a “Be” verb with a Subject Complement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Linking Verb – a Lining verb with a Subject Complement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Transitive – a Verb with a Direct Object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4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Ditransitive – a Verb with a Direct Object and either…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Indirect Object</a:t>
            </a:r>
          </a:p>
          <a:p>
            <a:pPr marL="1428750" lvl="3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1800" dirty="0">
                <a:highlight>
                  <a:srgbClr val="F2F2F2"/>
                </a:highlight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 Object Complement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DDBC0FA-E9A9-E7A6-A893-01436B436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Refresher</a:t>
            </a:r>
          </a:p>
        </p:txBody>
      </p:sp>
    </p:spTree>
    <p:extLst>
      <p:ext uri="{BB962C8B-B14F-4D97-AF65-F5344CB8AC3E}">
        <p14:creationId xmlns:p14="http://schemas.microsoft.com/office/powerpoint/2010/main" val="96555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Autofit/>
          </a:bodyPr>
          <a:lstStyle/>
          <a:p>
            <a:pPr marL="697230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Identify the Subject and Verb</a:t>
            </a:r>
          </a:p>
          <a:p>
            <a:pPr marL="697230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Assume it is “Intransitive” to Start and look for evidence that it is not</a:t>
            </a:r>
          </a:p>
          <a:p>
            <a:pPr marL="697230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Look for “Be” verbs first.</a:t>
            </a:r>
          </a:p>
          <a:p>
            <a:pPr marL="971550" lvl="1" indent="-514350">
              <a:spcBef>
                <a:spcPts val="1200"/>
              </a:spcBef>
              <a:spcAft>
                <a:spcPts val="0"/>
              </a:spcAft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Must be Copular “be”</a:t>
            </a:r>
          </a:p>
          <a:p>
            <a:pPr marL="971550" lvl="1" indent="-514350">
              <a:spcBef>
                <a:spcPts val="1200"/>
              </a:spcBef>
              <a:spcAft>
                <a:spcPts val="0"/>
              </a:spcAft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Later we will see “be” verbs serve as Auxiliary Verbs that come before the main verb, but we won’t include any of these on the Unit Two materials.</a:t>
            </a:r>
          </a:p>
          <a:p>
            <a:pPr marL="697230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Is it a Linking Verb?</a:t>
            </a:r>
          </a:p>
          <a:p>
            <a:pPr marL="971550" lvl="1" indent="-514350">
              <a:spcBef>
                <a:spcPts val="1200"/>
              </a:spcBef>
              <a:spcAft>
                <a:spcPts val="0"/>
              </a:spcAft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Try replacing the verb with a “be” verb and see how it changes the meaning. Linking Verbs can usually be replaced by a “be” verb.</a:t>
            </a:r>
          </a:p>
          <a:p>
            <a:pPr marL="697230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Is there an NP </a:t>
            </a:r>
            <a:r>
              <a:rPr lang="en-US" sz="1600" u="sng" dirty="0">
                <a:highlight>
                  <a:srgbClr val="F2F2F2"/>
                </a:highlight>
                <a:latin typeface="Arial" panose="020B0604020202020204" pitchFamily="34" charset="0"/>
              </a:rPr>
              <a:t>after</a:t>
            </a: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 the VP? If so, what is it doing?</a:t>
            </a:r>
          </a:p>
          <a:p>
            <a:pPr marL="971550" lvl="1" indent="-514350">
              <a:spcBef>
                <a:spcPts val="1200"/>
              </a:spcBef>
              <a:spcAft>
                <a:spcPts val="0"/>
              </a:spcAft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Is it inside a Prepositional Phrase? (Look for a preposition before it)</a:t>
            </a:r>
          </a:p>
          <a:p>
            <a:pPr marL="971550" lvl="1" indent="-514350">
              <a:spcBef>
                <a:spcPts val="1200"/>
              </a:spcBef>
              <a:spcAft>
                <a:spcPts val="0"/>
              </a:spcAft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If it is NOT inside a prepositional phrase, you likely have a DO – a “Transitive” Sentence</a:t>
            </a:r>
          </a:p>
          <a:p>
            <a:pPr marL="697230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Is there something near that NP? Could it be an Indirect Object or an Object Complement?</a:t>
            </a:r>
          </a:p>
          <a:p>
            <a:pPr marL="971550" lvl="1" indent="-514350">
              <a:spcBef>
                <a:spcPts val="12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600" dirty="0">
                <a:highlight>
                  <a:srgbClr val="F2F2F2"/>
                </a:highlight>
                <a:latin typeface="Arial" panose="020B0604020202020204" pitchFamily="34" charset="0"/>
              </a:rPr>
              <a:t>If yes, you may have a “Ditransitive” Sentence.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3600" b="0" dirty="0">
                <a:highlight>
                  <a:srgbClr val="F2F2F2"/>
                </a:highlight>
                <a:latin typeface="Arial" panose="020B0604020202020204" pitchFamily="34" charset="0"/>
              </a:rPr>
              <a:t>Good Steps to ID Sentence Patterns</a:t>
            </a:r>
          </a:p>
        </p:txBody>
      </p:sp>
    </p:spTree>
    <p:extLst>
      <p:ext uri="{BB962C8B-B14F-4D97-AF65-F5344CB8AC3E}">
        <p14:creationId xmlns:p14="http://schemas.microsoft.com/office/powerpoint/2010/main" val="22192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0ED9D-3992-A7B3-E5BD-1A79D4B2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4F9034-7164-CDBD-DE7C-2A59E4C6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Intransitive Sentence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BCA498-9BDE-C0B8-CE03-CE09EF83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284" y="1473989"/>
            <a:ext cx="4687093" cy="5136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8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879395" y="1331594"/>
            <a:ext cx="4216605" cy="5421655"/>
          </a:xfrm>
        </p:spPr>
        <p:txBody>
          <a:bodyPr>
            <a:normAutofit/>
          </a:bodyPr>
          <a:lstStyle/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Subject Complement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is an ADJP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45840" y="512287"/>
            <a:ext cx="10461669" cy="718441"/>
          </a:xfrm>
        </p:spPr>
        <p:txBody>
          <a:bodyPr>
            <a:normAutofit/>
          </a:bodyPr>
          <a:lstStyle/>
          <a:p>
            <a:r>
              <a:rPr lang="en-US" dirty="0"/>
              <a:t>“Copular Be”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0F66FE2-AFAC-4275-3CF6-49BFAC1F4E6D}"/>
              </a:ext>
            </a:extLst>
          </p:cNvPr>
          <p:cNvSpPr txBox="1">
            <a:spLocks/>
          </p:cNvSpPr>
          <p:nvPr/>
        </p:nvSpPr>
        <p:spPr>
          <a:xfrm>
            <a:off x="7003485" y="1331595"/>
            <a:ext cx="4216605" cy="5421655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Subject Complement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is an NP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nimals and mammals&#10;&#10;AI-generated content may be incorrect.">
            <a:extLst>
              <a:ext uri="{FF2B5EF4-FFF2-40B4-BE49-F238E27FC236}">
                <a16:creationId xmlns:a16="http://schemas.microsoft.com/office/drawing/2014/main" id="{B7620D11-1FEC-F044-05E6-166CA89249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99" y="2562225"/>
            <a:ext cx="3495046" cy="3553622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3E40EEF1-45E1-7886-7588-5D300CE61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10" y="2562224"/>
            <a:ext cx="3320091" cy="368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118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1113E-CA5C-E84A-DB95-F4A9740BF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CF7A6F-9ED1-F2A0-E1D1-4CD372B5E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840" y="512287"/>
            <a:ext cx="10461669" cy="718441"/>
          </a:xfrm>
        </p:spPr>
        <p:txBody>
          <a:bodyPr>
            <a:normAutofit/>
          </a:bodyPr>
          <a:lstStyle/>
          <a:p>
            <a:r>
              <a:rPr lang="en-US" dirty="0"/>
              <a:t>“Copular Be”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A1DF433-607A-1BBE-22A9-E4CC3D1761CC}"/>
              </a:ext>
            </a:extLst>
          </p:cNvPr>
          <p:cNvSpPr txBox="1">
            <a:spLocks/>
          </p:cNvSpPr>
          <p:nvPr/>
        </p:nvSpPr>
        <p:spPr>
          <a:xfrm>
            <a:off x="7003485" y="1331595"/>
            <a:ext cx="4216605" cy="5421655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Subject Complement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is an ADJP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animals and mammals&#10;&#10;AI-generated content may be incorrect.">
            <a:extLst>
              <a:ext uri="{FF2B5EF4-FFF2-40B4-BE49-F238E27FC236}">
                <a16:creationId xmlns:a16="http://schemas.microsoft.com/office/drawing/2014/main" id="{50F65216-7262-3046-6A93-5993C074C1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6599" y="2562225"/>
            <a:ext cx="3495046" cy="3553622"/>
          </a:xfrm>
          <a:prstGeom prst="rect">
            <a:avLst/>
          </a:prstGeom>
        </p:spPr>
      </p:pic>
      <p:pic>
        <p:nvPicPr>
          <p:cNvPr id="9" name="Picture 8" descr="A diagram of a diagram&#10;&#10;AI-generated content may be incorrect.">
            <a:extLst>
              <a:ext uri="{FF2B5EF4-FFF2-40B4-BE49-F238E27FC236}">
                <a16:creationId xmlns:a16="http://schemas.microsoft.com/office/drawing/2014/main" id="{A6DA6327-1D07-BA63-4486-74B8B8E2CF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210" y="2562224"/>
            <a:ext cx="3320091" cy="3684491"/>
          </a:xfrm>
          <a:prstGeom prst="rect">
            <a:avLst/>
          </a:prstGeom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4AC9B9-F765-6084-B4AC-E286A065F3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400" dirty="0"/>
              <a:t>Start memorizing the forms of “Be”</a:t>
            </a:r>
          </a:p>
          <a:p>
            <a:pPr lvl="1"/>
            <a:r>
              <a:rPr lang="en-US" sz="3400" dirty="0"/>
              <a:t>Am, Is, Are, Was, Were, Be, Being, Been, To Be</a:t>
            </a:r>
          </a:p>
          <a:p>
            <a:pPr lvl="1"/>
            <a:endParaRPr lang="en-US" sz="3400" dirty="0"/>
          </a:p>
          <a:p>
            <a:r>
              <a:rPr lang="en-US" dirty="0"/>
              <a:t>In Unit Two, we will mostly use “Am, Is, Are, Was, Were”</a:t>
            </a:r>
          </a:p>
          <a:p>
            <a:pPr lvl="1"/>
            <a:r>
              <a:rPr lang="en-US" sz="3400" dirty="0"/>
              <a:t>I will try to save “Be, Being, Been” for Unit Three when we study verb phrases and “To Be” for Unit Four</a:t>
            </a:r>
          </a:p>
        </p:txBody>
      </p:sp>
    </p:spTree>
    <p:extLst>
      <p:ext uri="{BB962C8B-B14F-4D97-AF65-F5344CB8AC3E}">
        <p14:creationId xmlns:p14="http://schemas.microsoft.com/office/powerpoint/2010/main" val="2155971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6B9B5-38FB-7A48-B506-9ADA39790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771D147-2FD0-0073-0A23-84A08282D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9395" y="1331594"/>
            <a:ext cx="4216605" cy="5421655"/>
          </a:xfrm>
        </p:spPr>
        <p:txBody>
          <a:bodyPr>
            <a:normAutofit/>
          </a:bodyPr>
          <a:lstStyle/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Subject Complement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is an ADJP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3C13ED4-9231-B6AA-FF38-D87EB4645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840" y="512287"/>
            <a:ext cx="10461669" cy="718441"/>
          </a:xfrm>
        </p:spPr>
        <p:txBody>
          <a:bodyPr>
            <a:normAutofit/>
          </a:bodyPr>
          <a:lstStyle/>
          <a:p>
            <a:r>
              <a:rPr lang="en-US" dirty="0"/>
              <a:t>“Linking Verb”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919C45FE-D66D-7E6F-6AFB-9721F8228C7A}"/>
              </a:ext>
            </a:extLst>
          </p:cNvPr>
          <p:cNvSpPr txBox="1">
            <a:spLocks/>
          </p:cNvSpPr>
          <p:nvPr/>
        </p:nvSpPr>
        <p:spPr>
          <a:xfrm>
            <a:off x="7003485" y="1331595"/>
            <a:ext cx="4216605" cy="5421655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Subject Complement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is a NP</a:t>
            </a:r>
          </a:p>
          <a:p>
            <a:pPr marL="457200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5D27567C-FB93-35C1-16C4-A03E053831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823" y="2750548"/>
            <a:ext cx="3617747" cy="3308693"/>
          </a:xfrm>
          <a:prstGeom prst="rect">
            <a:avLst/>
          </a:prstGeom>
        </p:spPr>
      </p:pic>
      <p:pic>
        <p:nvPicPr>
          <p:cNvPr id="10" name="Picture 9" descr="A diagram of a structure&#10;&#10;AI-generated content may be incorrect.">
            <a:extLst>
              <a:ext uri="{FF2B5EF4-FFF2-40B4-BE49-F238E27FC236}">
                <a16:creationId xmlns:a16="http://schemas.microsoft.com/office/drawing/2014/main" id="{194FA47F-8A46-F415-A2F9-FEBA9A7A61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251" y="2562224"/>
            <a:ext cx="375845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46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D460-7D89-5664-047D-6F193DC1D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9023CD-F950-B9B1-33DA-DBEB8B54C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840" y="512287"/>
            <a:ext cx="10461669" cy="718441"/>
          </a:xfrm>
        </p:spPr>
        <p:txBody>
          <a:bodyPr>
            <a:normAutofit/>
          </a:bodyPr>
          <a:lstStyle/>
          <a:p>
            <a:r>
              <a:rPr lang="en-US" dirty="0"/>
              <a:t>“Linking Verb”</a:t>
            </a:r>
          </a:p>
        </p:txBody>
      </p:sp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97EE476D-30E2-A289-E762-1ECE296C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823" y="2750548"/>
            <a:ext cx="3617747" cy="3308693"/>
          </a:xfrm>
          <a:prstGeom prst="rect">
            <a:avLst/>
          </a:prstGeom>
        </p:spPr>
      </p:pic>
      <p:pic>
        <p:nvPicPr>
          <p:cNvPr id="10" name="Picture 9" descr="A diagram of a structure&#10;&#10;AI-generated content may be incorrect.">
            <a:extLst>
              <a:ext uri="{FF2B5EF4-FFF2-40B4-BE49-F238E27FC236}">
                <a16:creationId xmlns:a16="http://schemas.microsoft.com/office/drawing/2014/main" id="{C6B49415-7836-1EF6-A949-7368E9ACC0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251" y="2562224"/>
            <a:ext cx="3758450" cy="2581275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AC23B48-BADF-FF26-2ABA-7F1086C7B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0" dirty="0"/>
              <a:t>Linking Verbs can usually keep the same meaning if you replace them with a “be” verb.</a:t>
            </a:r>
          </a:p>
          <a:p>
            <a:endParaRPr lang="en-US" b="0" dirty="0"/>
          </a:p>
          <a:p>
            <a:r>
              <a:rPr lang="en-US" b="0" dirty="0"/>
              <a:t>Some verbs can be both linking verbs or transitive verbs depending on context.</a:t>
            </a:r>
          </a:p>
          <a:p>
            <a:pPr lvl="1"/>
            <a:r>
              <a:rPr lang="en-US" i="1" dirty="0"/>
              <a:t>My dog smells </a:t>
            </a:r>
            <a:r>
              <a:rPr lang="en-US" i="1" u="sng" dirty="0"/>
              <a:t>bad</a:t>
            </a:r>
            <a:r>
              <a:rPr lang="en-US" i="1" dirty="0"/>
              <a:t> = Linking Verb</a:t>
            </a:r>
          </a:p>
          <a:p>
            <a:pPr lvl="1"/>
            <a:r>
              <a:rPr lang="en-US" i="1" dirty="0"/>
              <a:t>My dog smells </a:t>
            </a:r>
            <a:r>
              <a:rPr lang="en-US" i="1" u="sng" dirty="0"/>
              <a:t>a cat </a:t>
            </a:r>
            <a:r>
              <a:rPr lang="en-US" i="1" dirty="0"/>
              <a:t>= Transitive w Direct Object</a:t>
            </a:r>
          </a:p>
          <a:p>
            <a:pPr lvl="1"/>
            <a:endParaRPr lang="en-US" dirty="0"/>
          </a:p>
          <a:p>
            <a:r>
              <a:rPr lang="en-US" b="0" dirty="0"/>
              <a:t>Don’t Confuse “Linking Verbs” with “Helping Verbs” which is a layman term for “Auxiliary Verbs” which we will study in Unit Three</a:t>
            </a:r>
          </a:p>
        </p:txBody>
      </p:sp>
    </p:spTree>
    <p:extLst>
      <p:ext uri="{BB962C8B-B14F-4D97-AF65-F5344CB8AC3E}">
        <p14:creationId xmlns:p14="http://schemas.microsoft.com/office/powerpoint/2010/main" val="3621665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Transitive	 Verbs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Transitive Verbs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511DD-C085-098E-76B2-746E5EDEE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40" y="2324437"/>
            <a:ext cx="2744544" cy="3201968"/>
          </a:xfrm>
          <a:prstGeom prst="rect">
            <a:avLst/>
          </a:prstGeom>
        </p:spPr>
      </p:pic>
      <p:pic>
        <p:nvPicPr>
          <p:cNvPr id="3" name="Picture 2" descr="A diagram of a tree&#10;&#10;AI-generated content may be incorrect.">
            <a:extLst>
              <a:ext uri="{FF2B5EF4-FFF2-40B4-BE49-F238E27FC236}">
                <a16:creationId xmlns:a16="http://schemas.microsoft.com/office/drawing/2014/main" id="{18E86188-4E04-92D0-961C-120BCAB05C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331" y="2324437"/>
            <a:ext cx="3166782" cy="3201968"/>
          </a:xfrm>
          <a:prstGeom prst="rect">
            <a:avLst/>
          </a:prstGeom>
        </p:spPr>
      </p:pic>
      <p:pic>
        <p:nvPicPr>
          <p:cNvPr id="9" name="Picture 8" descr="A diagram of a structure&#10;&#10;AI-generated content may be incorrect.">
            <a:extLst>
              <a:ext uri="{FF2B5EF4-FFF2-40B4-BE49-F238E27FC236}">
                <a16:creationId xmlns:a16="http://schemas.microsoft.com/office/drawing/2014/main" id="{38EC2693-0399-39DB-A243-11B4544AD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464" y="2324436"/>
            <a:ext cx="3166782" cy="3256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7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A1E9E-ACCE-0DE1-8542-BAC5275C0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5EBF168-FAE4-8C38-2D5C-109D83F14D36}"/>
              </a:ext>
            </a:extLst>
          </p:cNvPr>
          <p:cNvSpPr txBox="1">
            <a:spLocks/>
          </p:cNvSpPr>
          <p:nvPr/>
        </p:nvSpPr>
        <p:spPr>
          <a:xfrm>
            <a:off x="6266656" y="2163497"/>
            <a:ext cx="4858544" cy="4467471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Intransitiv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e Sentence with Prepositional Phrase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3854BBD-2626-9388-7307-29FB97DC0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652" y="2163497"/>
            <a:ext cx="4087517" cy="4467471"/>
          </a:xfrm>
        </p:spPr>
        <p:txBody>
          <a:bodyPr>
            <a:normAutofit/>
          </a:bodyPr>
          <a:lstStyle/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Transitive Sentence with Direct Object	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B07F9D-31AE-A0DB-5E63-A9E083B71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Transitive Sentences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2ACE34-F110-B61C-E85A-C4C82CCFFB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139" y="3336540"/>
            <a:ext cx="2744544" cy="3201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994579-1EC4-A5D6-DF90-015B56BCFF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50" y="3336540"/>
            <a:ext cx="2921611" cy="3201968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EDD43FD-5D28-6DC4-54E6-649F3F0DC5C2}"/>
              </a:ext>
            </a:extLst>
          </p:cNvPr>
          <p:cNvSpPr txBox="1">
            <a:spLocks/>
          </p:cNvSpPr>
          <p:nvPr/>
        </p:nvSpPr>
        <p:spPr>
          <a:xfrm>
            <a:off x="1560997" y="1265235"/>
            <a:ext cx="10117543" cy="718441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 fontScale="85000"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Don’t Confuse a Direct Object with a Prepositional Phrase	</a:t>
            </a:r>
          </a:p>
        </p:txBody>
      </p:sp>
    </p:spTree>
    <p:extLst>
      <p:ext uri="{BB962C8B-B14F-4D97-AF65-F5344CB8AC3E}">
        <p14:creationId xmlns:p14="http://schemas.microsoft.com/office/powerpoint/2010/main" val="384952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63A4-C2E3-4A53-4CC8-6AC611F6DE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C25A80B0-E242-F4AA-6A07-ECE452B1C3A8}"/>
              </a:ext>
            </a:extLst>
          </p:cNvPr>
          <p:cNvSpPr txBox="1">
            <a:spLocks/>
          </p:cNvSpPr>
          <p:nvPr/>
        </p:nvSpPr>
        <p:spPr>
          <a:xfrm>
            <a:off x="6266656" y="2163497"/>
            <a:ext cx="4858544" cy="4467471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Intransitiv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e Sentence with Prepositional Phrase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F6B9F15-9F95-4263-C6FD-A7EE8570FC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652" y="2163497"/>
            <a:ext cx="4087517" cy="4467471"/>
          </a:xfrm>
        </p:spPr>
        <p:txBody>
          <a:bodyPr>
            <a:normAutofit/>
          </a:bodyPr>
          <a:lstStyle/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Transitive Sentence with Direct Object	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455FD3-CCF6-A611-C3C7-EE975286F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Transitive Sentences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82EFD3-13B3-8855-55A2-94B8280BD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9139" y="3336540"/>
            <a:ext cx="2744544" cy="32019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D484E8-7708-BCC0-2DBC-39C3CC473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50" y="3336540"/>
            <a:ext cx="2921611" cy="3201968"/>
          </a:xfrm>
          <a:prstGeom prst="rect">
            <a:avLst/>
          </a:prstGeom>
        </p:spPr>
      </p:pic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D831C09A-2BFA-D96A-CD7F-265F67199C61}"/>
              </a:ext>
            </a:extLst>
          </p:cNvPr>
          <p:cNvSpPr txBox="1">
            <a:spLocks/>
          </p:cNvSpPr>
          <p:nvPr/>
        </p:nvSpPr>
        <p:spPr>
          <a:xfrm>
            <a:off x="1560997" y="1265235"/>
            <a:ext cx="10117543" cy="718441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 fontScale="85000" lnSpcReduction="10000"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82880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Don’t Confuse a Direct Object with a Prepositional Phrase	</a:t>
            </a:r>
          </a:p>
        </p:txBody>
      </p:sp>
    </p:spTree>
    <p:extLst>
      <p:ext uri="{BB962C8B-B14F-4D97-AF65-F5344CB8AC3E}">
        <p14:creationId xmlns:p14="http://schemas.microsoft.com/office/powerpoint/2010/main" val="2176647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9E1144-F6F7-8F9A-CDBD-6D81B5834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F8B1C8-AB9E-F762-E64F-D6B8B8E5E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/>
          </a:bodyPr>
          <a:lstStyle/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Six Sentence Patterns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Intransitive Sentences – What we already know!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dirty="0">
                <a:solidFill>
                  <a:srgbClr val="FF0000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“Copular Be” Verbs with a Subject Complement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0" i="0" dirty="0">
                <a:solidFill>
                  <a:srgbClr val="FF000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Linking Verbs with a Subject Complement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0" i="0" dirty="0">
                <a:solidFill>
                  <a:srgbClr val="FF000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Transitive Verbs with a Direct Object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1" i="0" u="sng" dirty="0">
                <a:solidFill>
                  <a:srgbClr val="0070C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Ditransitive Verbs with a Direct Object and Indirect Object</a:t>
            </a:r>
          </a:p>
          <a:p>
            <a:pPr marL="914400" lvl="1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2600" b="1" i="0" u="sng" dirty="0">
                <a:solidFill>
                  <a:srgbClr val="0070C0"/>
                </a:solidFill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Ditransitive Verbs with a  Direct Object and Object Complement</a:t>
            </a:r>
          </a:p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u="sng" dirty="0">
                <a:solidFill>
                  <a:srgbClr val="0070C0"/>
                </a:solidFill>
                <a:highlight>
                  <a:srgbClr val="F2F2F2"/>
                </a:highlight>
                <a:latin typeface="Arial" panose="020B0604020202020204" pitchFamily="34" charset="0"/>
              </a:rPr>
              <a:t>“Optional” Adverbials</a:t>
            </a:r>
          </a:p>
          <a:p>
            <a:pPr marL="640080" indent="-45720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sz="3000" b="0" i="0" dirty="0">
                <a:effectLst/>
                <a:highlight>
                  <a:srgbClr val="F2F2F2"/>
                </a:highlight>
                <a:latin typeface="Arial" panose="020B0604020202020204" pitchFamily="34" charset="0"/>
              </a:rPr>
              <a:t>Conjunctions &amp; Clauses (Next Wed)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A894314-21C4-221C-DE98-BDEBE0778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Learning Concepts – Unit Two</a:t>
            </a:r>
          </a:p>
        </p:txBody>
      </p:sp>
    </p:spTree>
    <p:extLst>
      <p:ext uri="{BB962C8B-B14F-4D97-AF65-F5344CB8AC3E}">
        <p14:creationId xmlns:p14="http://schemas.microsoft.com/office/powerpoint/2010/main" val="2495392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6D2E9-1B06-DBA2-434E-2023930F1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725F6C-1EC1-D392-8461-025FA43711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Indirect Objects always come BEFORE Direct Objects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marL="115888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B5C48B0-3A8A-86B4-EBFC-52AF27F5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Direct Object and Indirect Object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701933-E157-7B3C-694E-1131897B7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874" y="2249387"/>
            <a:ext cx="5662252" cy="420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598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1B1DE593-0FB7-70BA-8CED-D0571B76804F}"/>
              </a:ext>
            </a:extLst>
          </p:cNvPr>
          <p:cNvSpPr txBox="1">
            <a:spLocks/>
          </p:cNvSpPr>
          <p:nvPr/>
        </p:nvSpPr>
        <p:spPr>
          <a:xfrm>
            <a:off x="1340703" y="2372446"/>
            <a:ext cx="4602897" cy="4358554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15888" lvl="1" indent="0" algn="ctr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Font typeface="Verdana"/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Transitive with Direct Object and Prepositional Phrase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09E329A6-D7D5-C1FC-5E99-9AC96AF9D20B}"/>
              </a:ext>
            </a:extLst>
          </p:cNvPr>
          <p:cNvSpPr txBox="1">
            <a:spLocks/>
          </p:cNvSpPr>
          <p:nvPr/>
        </p:nvSpPr>
        <p:spPr>
          <a:xfrm>
            <a:off x="6794500" y="2334321"/>
            <a:ext cx="5003911" cy="4396679"/>
          </a:xfrm>
          <a:prstGeom prst="rect">
            <a:avLst/>
          </a:prstGeom>
          <a:solidFill>
            <a:srgbClr val="F3F3F3"/>
          </a:solidFill>
          <a:ln>
            <a:solidFill>
              <a:schemeClr val="tx1"/>
            </a:solidFill>
          </a:ln>
        </p:spPr>
        <p:txBody>
          <a:bodyPr tIns="91440">
            <a:normAutofit/>
          </a:bodyPr>
          <a:lstStyle>
            <a:lvl1pPr marL="365760" indent="-28346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 2"/>
              <a:buChar char=""/>
              <a:defRPr kumimoji="0" sz="3200" b="1" u="none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640080" indent="-237744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Verdana"/>
              <a:buChar char="◦"/>
              <a:defRPr kumimoji="0" sz="2800" i="0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2pPr>
            <a:lvl3pPr marL="886968" indent="-22860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Font typeface="Wingdings 2"/>
              <a:buChar char=""/>
              <a:defRPr kumimoji="0" sz="24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3pPr>
            <a:lvl4pPr marL="1097280" indent="-173736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4pPr>
            <a:lvl5pPr marL="1298448" indent="-182880" algn="l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 typeface="Wingdings 2"/>
              <a:buChar char=""/>
              <a:defRPr kumimoji="0" sz="2200" i="1" kern="1200" spc="0" baseline="0">
                <a:solidFill>
                  <a:schemeClr val="tx1"/>
                </a:solidFill>
                <a:latin typeface="Calibri" panose="020F0502020204030204" pitchFamily="34" charset="0"/>
                <a:ea typeface="+mn-ea"/>
                <a:cs typeface="+mn-cs"/>
              </a:defRPr>
            </a:lvl5pPr>
            <a:lvl6pPr marL="150876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5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71907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0240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30552" indent="-182880" algn="l" rtl="0" eaLnBrk="1" latinLnBrk="0" hangingPunct="1">
              <a:lnSpc>
                <a:spcPct val="100000"/>
              </a:lnSpc>
              <a:spcBef>
                <a:spcPct val="20000"/>
              </a:spcBef>
              <a:buClr>
                <a:schemeClr val="accent6"/>
              </a:buClr>
              <a:buFont typeface="Wingdings 2"/>
              <a:buChar char="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182880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a Direct Object and Indirect Object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31595"/>
            <a:ext cx="10476826" cy="763931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Also can be confused with Prepositional Phrases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Direct Object and Indirect Object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9576E6-76EA-B73B-7556-C21DAE2BD5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432" y="3747987"/>
            <a:ext cx="3686416" cy="26004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B261F0-19E0-3136-D673-E4CB665F5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3784" y="3747987"/>
            <a:ext cx="3686414" cy="2738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95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0" y="1358489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Object Complements always come AFTER Direct Objects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   </a:t>
            </a: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DO + IO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Object Complement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Indirect Objects, Object Complements, and Optional Phrases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7EFFED-2C18-94AB-F485-9C7EA964E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2841" y="3429000"/>
            <a:ext cx="4613383" cy="25063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8C733DB-6C51-D8F6-1CCF-F5E298ED6A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0345" y="3396415"/>
            <a:ext cx="3473632" cy="253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3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514A9-747D-9063-10C5-642B7B78F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F30A694-76D5-E54F-E4D4-C4ED9D5ED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58489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Object Complements always come AFTER Direct Objects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3620CED-1A73-CAA3-F384-C27EFFE17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a Direct Object and Object Complement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4724FE9-F324-4580-3930-43F5A27F1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141" y="2175812"/>
            <a:ext cx="7697859" cy="418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514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55906-F8D1-E441-E8FC-753FBD762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9A7D4C-D143-E12F-B8A6-8EA880769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0" y="1358489"/>
            <a:ext cx="10476826" cy="5421655"/>
          </a:xfrm>
        </p:spPr>
        <p:txBody>
          <a:bodyPr>
            <a:normAutofit/>
          </a:bodyPr>
          <a:lstStyle/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Easy to mistake Indirect Objects and Object Complements (Use meaning and order)</a:t>
            </a:r>
            <a:endParaRPr lang="en-US" b="1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DO + IO</a:t>
            </a: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	 </a:t>
            </a:r>
            <a:r>
              <a:rPr lang="en-US" b="1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Object Complement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B0C23A4-DA12-BFFB-4916-5EF7D99BE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Ditransitive with a Direct Object and Object Complement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4E6AC27-5CD4-E3DF-F5A1-E8A7636ED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498" y="3421616"/>
            <a:ext cx="5540201" cy="3009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4B6BA1-ADEE-AB7B-848F-18B854E068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199" y="3429000"/>
            <a:ext cx="4117940" cy="300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2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CC085-08FD-73D5-247D-5412A348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A2506D-7F28-2FEF-67CA-54801D3D7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925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Have Seen These Already 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All Adverbs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Some </a:t>
            </a: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Prepositional Phrases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New Today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“Sentence” Adverbials = Adverbials modifying the whole sentence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Diagram them off the S because they modify the whole 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>
                <a:ea typeface="Calibri" panose="020F0502020204030204" pitchFamily="34" charset="0"/>
                <a:cs typeface="Times New Roman" panose="02020603050405020304" pitchFamily="18" charset="0"/>
              </a:rPr>
              <a:t>For Exam Two</a:t>
            </a: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Only some PPs and ADVPs (will learn other adverbials later)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62A25F1-37E7-25FF-1B6F-72E8E9A0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Adverbials</a:t>
            </a:r>
          </a:p>
        </p:txBody>
      </p:sp>
    </p:spTree>
    <p:extLst>
      <p:ext uri="{BB962C8B-B14F-4D97-AF65-F5344CB8AC3E}">
        <p14:creationId xmlns:p14="http://schemas.microsoft.com/office/powerpoint/2010/main" val="3756105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 fontScale="77500" lnSpcReduction="20000"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Open your homework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 will open the answer key on my computer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We will walk through the homework together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will start by asking for students to volunteer answers.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Once I know you better, I may call on individuals</a:t>
            </a:r>
          </a:p>
          <a:p>
            <a:pPr marL="1218438" lvl="2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ever feel uncomfortable, just say “Ugh… Pass”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Feel free to correct your own answers as you go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There is no need to resubmit your homework.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You can always stop me and ask for more clarification about a question!</a:t>
            </a:r>
          </a:p>
          <a:p>
            <a:pPr marL="971550" lvl="1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I am happy to diagram a sentence if you feel it would be helpful.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Homework RE-view</a:t>
            </a:r>
          </a:p>
        </p:txBody>
      </p:sp>
    </p:spTree>
    <p:extLst>
      <p:ext uri="{BB962C8B-B14F-4D97-AF65-F5344CB8AC3E}">
        <p14:creationId xmlns:p14="http://schemas.microsoft.com/office/powerpoint/2010/main" val="198739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31889-150E-53EC-DE5B-3AED76A74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2D95F02-FD95-0CAA-2E8E-ACE27DDFA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Take Questions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Add “Roles” to the Homework Tables</a:t>
            </a:r>
          </a:p>
          <a:p>
            <a:pPr marL="182880" indent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Create Sentences to Match Diagrams on White Board</a:t>
            </a: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endParaRPr lang="en-US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697230" indent="-51435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Reminder about Bonus for Friday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6572063-7F68-9209-1FE4-355D4D9D6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Rest of Class</a:t>
            </a:r>
          </a:p>
        </p:txBody>
      </p:sp>
    </p:spTree>
    <p:extLst>
      <p:ext uri="{BB962C8B-B14F-4D97-AF65-F5344CB8AC3E}">
        <p14:creationId xmlns:p14="http://schemas.microsoft.com/office/powerpoint/2010/main" val="934154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E28A5-D550-9EA6-CD47-E56810454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E41652-080B-4683-89C6-CE323E4A7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5841" y="1305716"/>
            <a:ext cx="10476826" cy="5490675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SUB = Subject </a:t>
            </a:r>
            <a:r>
              <a:rPr lang="en-US" b="0" dirty="0"/>
              <a:t>(NPs in Unit 2)</a:t>
            </a:r>
          </a:p>
          <a:p>
            <a:pPr lvl="0"/>
            <a:r>
              <a:rPr lang="en-US" dirty="0"/>
              <a:t>PRED = Predicate </a:t>
            </a:r>
            <a:r>
              <a:rPr lang="en-US" b="0" dirty="0"/>
              <a:t>(Always a VP)</a:t>
            </a:r>
          </a:p>
          <a:p>
            <a:pPr lvl="0"/>
            <a:r>
              <a:rPr lang="en-US"/>
              <a:t>ADVL </a:t>
            </a:r>
            <a:r>
              <a:rPr lang="en-US" dirty="0"/>
              <a:t>= Adverbial </a:t>
            </a:r>
            <a:r>
              <a:rPr lang="en-US" b="0" dirty="0"/>
              <a:t>(ADVPs or PPs in Unit 2)</a:t>
            </a:r>
          </a:p>
          <a:p>
            <a:pPr lvl="0"/>
            <a:r>
              <a:rPr lang="en-US" dirty="0"/>
              <a:t>DO = Direct Object </a:t>
            </a:r>
            <a:r>
              <a:rPr lang="en-US" b="0" dirty="0"/>
              <a:t>(NPs in Unit 2)</a:t>
            </a:r>
          </a:p>
          <a:p>
            <a:pPr lvl="0"/>
            <a:r>
              <a:rPr lang="en-US" dirty="0"/>
              <a:t>IO = Indirect Object </a:t>
            </a:r>
            <a:r>
              <a:rPr lang="en-US" b="0" dirty="0"/>
              <a:t>(NPs in Unit 2)</a:t>
            </a:r>
          </a:p>
          <a:p>
            <a:pPr lvl="0"/>
            <a:r>
              <a:rPr lang="en-US" dirty="0"/>
              <a:t>SC = Subject Complement </a:t>
            </a:r>
            <a:r>
              <a:rPr lang="en-US" b="0" dirty="0"/>
              <a:t>(NPs, ADJPs, or PPs in Unit 2)</a:t>
            </a:r>
          </a:p>
          <a:p>
            <a:pPr lvl="0"/>
            <a:r>
              <a:rPr lang="en-US" dirty="0"/>
              <a:t>OC = Object Complement </a:t>
            </a:r>
            <a:r>
              <a:rPr lang="en-US" b="0" dirty="0"/>
              <a:t>(NPs, ADJPs, or PPs in Unit 2)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0D555C8-28F9-54BB-DAEA-9DB3AA25C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“Roles”</a:t>
            </a:r>
          </a:p>
        </p:txBody>
      </p:sp>
    </p:spTree>
    <p:extLst>
      <p:ext uri="{BB962C8B-B14F-4D97-AF65-F5344CB8AC3E}">
        <p14:creationId xmlns:p14="http://schemas.microsoft.com/office/powerpoint/2010/main" val="318287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F405A-90EC-7747-5FA1-693CDC8D6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5F15BF-1993-978C-23E9-598E1D6D4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97230" indent="-51435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r>
              <a:rPr lang="en-US" b="0" dirty="0">
                <a:ea typeface="Calibri" panose="020F0502020204030204" pitchFamily="34" charset="0"/>
                <a:cs typeface="Times New Roman" panose="02020603050405020304" pitchFamily="18" charset="0"/>
              </a:rPr>
              <a:t>If you have questions or concerns, hang around to talk.</a:t>
            </a:r>
          </a:p>
          <a:p>
            <a:pPr marL="640080" indent="-457200">
              <a:lnSpc>
                <a:spcPct val="107000"/>
              </a:lnSpc>
              <a:spcBef>
                <a:spcPts val="1200"/>
              </a:spcBef>
              <a:spcAft>
                <a:spcPts val="0"/>
              </a:spcAft>
            </a:pPr>
            <a:endParaRPr lang="en-US" b="0" dirty="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B0FB716-7041-47FE-5DD2-314CD7B6F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End of Class</a:t>
            </a:r>
          </a:p>
        </p:txBody>
      </p:sp>
    </p:spTree>
    <p:extLst>
      <p:ext uri="{BB962C8B-B14F-4D97-AF65-F5344CB8AC3E}">
        <p14:creationId xmlns:p14="http://schemas.microsoft.com/office/powerpoint/2010/main" val="3821794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d's tie design template">
  <a:themeElements>
    <a:clrScheme name="Custom 7">
      <a:dk1>
        <a:sysClr val="windowText" lastClr="000000"/>
      </a:dk1>
      <a:lt1>
        <a:sysClr val="window" lastClr="FFFFFF"/>
      </a:lt1>
      <a:dk2>
        <a:srgbClr val="323232"/>
      </a:dk2>
      <a:lt2>
        <a:srgbClr val="FFFFCC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/>
        </a:defPPr>
      </a:lstStyle>
      <a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chemeClr val="bg2"/>
          </a:solidFill>
        </a:ln>
      </a:spPr>
      <a:bodyPr wrap="square" rtlCol="0" anchor="ctr" anchorCtr="1">
        <a:spAutoFit/>
      </a:bodyPr>
      <a:lstStyle>
        <a:defPPr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Dad's tie design template" id="{D38B957D-588F-4953-A2A4-8835E8F79C65}" vid="{09887BB5-A875-44C0-9AF9-8FE92BB7EC5A}"/>
    </a:ext>
  </a:extLst>
</a:theme>
</file>

<file path=ppt/theme/theme2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9TopShadow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2C979567-0D27-4E98-9101-139E4F27BE4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Dad's tie design slides</Template>
  <TotalTime>0</TotalTime>
  <Words>1318</Words>
  <Application>Microsoft Office PowerPoint</Application>
  <PresentationFormat>Widescreen</PresentationFormat>
  <Paragraphs>176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Abadi</vt:lpstr>
      <vt:lpstr>Arial</vt:lpstr>
      <vt:lpstr>Calibri</vt:lpstr>
      <vt:lpstr>Century Gothic</vt:lpstr>
      <vt:lpstr>Palatino Linotype</vt:lpstr>
      <vt:lpstr>Verdana</vt:lpstr>
      <vt:lpstr>Wingdings 2</vt:lpstr>
      <vt:lpstr>Dad's tie design template</vt:lpstr>
      <vt:lpstr>Course Introduction</vt:lpstr>
      <vt:lpstr>Unit Two</vt:lpstr>
      <vt:lpstr>Key Learning Concepts – Unit Two</vt:lpstr>
      <vt:lpstr>Key Learning Concepts – Unit Two</vt:lpstr>
      <vt:lpstr>Refresher</vt:lpstr>
      <vt:lpstr>Refresher</vt:lpstr>
      <vt:lpstr>Refresher</vt:lpstr>
      <vt:lpstr>Refresher</vt:lpstr>
      <vt:lpstr>Good Steps to ID Sentence Patterns</vt:lpstr>
      <vt:lpstr>Intransitive Sentence</vt:lpstr>
      <vt:lpstr>“Copular Be”</vt:lpstr>
      <vt:lpstr>“Copular Be”</vt:lpstr>
      <vt:lpstr>“Linking Verb”</vt:lpstr>
      <vt:lpstr>“Linking Verb”</vt:lpstr>
      <vt:lpstr>Transitive Verbs</vt:lpstr>
      <vt:lpstr>Transitive Sentences</vt:lpstr>
      <vt:lpstr>Transitive Sentences</vt:lpstr>
      <vt:lpstr>Key Learning Concepts – Unit Two</vt:lpstr>
      <vt:lpstr>Ditransitive with Direct Object and Indirect Object</vt:lpstr>
      <vt:lpstr>Ditransitive with Direct Object and Indirect Object</vt:lpstr>
      <vt:lpstr>Indirect Objects, Object Complements, and Optional Phrases</vt:lpstr>
      <vt:lpstr>Ditransitive with a Direct Object and Object Complement</vt:lpstr>
      <vt:lpstr>Ditransitive with a Direct Object and Object Complement</vt:lpstr>
      <vt:lpstr>Adverbials</vt:lpstr>
      <vt:lpstr>Homework RE-view</vt:lpstr>
      <vt:lpstr>Rest of Class</vt:lpstr>
      <vt:lpstr>“Roles”</vt:lpstr>
      <vt:lpstr>End of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2016-07-22T17:40:32Z</dcterms:created>
  <dcterms:modified xsi:type="dcterms:W3CDTF">2025-10-01T21:54:21Z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TC034605139991</vt:lpwstr>
  </property>
</Properties>
</file>